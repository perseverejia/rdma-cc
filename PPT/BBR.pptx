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1" userDrawn="1">
          <p15:clr>
            <a:srgbClr val="A4A3A4"/>
          </p15:clr>
        </p15:guide>
        <p15:guide id="2" pos="380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11"/>
        <p:guide pos="3807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0.png"/><Relationship Id="rId1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790" y="125095"/>
            <a:ext cx="6341110" cy="4644390"/>
          </a:xfrm>
          <a:prstGeom prst="rect">
            <a:avLst/>
          </a:prstGeom>
        </p:spPr>
      </p:pic>
      <p:sp>
        <p:nvSpPr>
          <p:cNvPr id="5" name="圆角矩形 4"/>
          <p:cNvSpPr/>
          <p:nvPr/>
        </p:nvSpPr>
        <p:spPr>
          <a:xfrm>
            <a:off x="7756525" y="857885"/>
            <a:ext cx="2832735" cy="8953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长距离数据传输新变化（路径上交换机缓存增多）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7756525" y="2409825"/>
            <a:ext cx="2833370" cy="8953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通过引入</a:t>
            </a:r>
            <a:r>
              <a:rPr lang="en-US" altLang="zh-CN">
                <a:sym typeface="+mn-ea"/>
              </a:rPr>
              <a:t>RTprop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BtlBw</a:t>
            </a:r>
            <a:r>
              <a:rPr lang="zh-CN" altLang="en-US">
                <a:sym typeface="+mn-ea"/>
              </a:rPr>
              <a:t>来进行拥塞控制</a:t>
            </a:r>
            <a:endParaRPr lang="zh-CN" altLang="en-US"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756525" y="3961765"/>
            <a:ext cx="2833370" cy="8953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减少丢包重传，提高链路吞吐量和稳定性</a:t>
            </a:r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3775" y="5605780"/>
            <a:ext cx="8315325" cy="39052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0994390" y="1121410"/>
            <a:ext cx="105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FF0000"/>
                </a:solidFill>
              </a:rPr>
              <a:t>问题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0994390" y="2611120"/>
            <a:ext cx="105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方案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994390" y="4180205"/>
            <a:ext cx="10598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rgbClr val="00B050"/>
                </a:solidFill>
              </a:rPr>
              <a:t>效果</a:t>
            </a:r>
            <a:endParaRPr lang="zh-CN" altLang="en-US" b="1">
              <a:solidFill>
                <a:srgbClr val="00B050"/>
              </a:solidFill>
            </a:endParaRPr>
          </a:p>
        </p:txBody>
      </p:sp>
      <p:sp>
        <p:nvSpPr>
          <p:cNvPr id="13" name="下箭头 12"/>
          <p:cNvSpPr/>
          <p:nvPr/>
        </p:nvSpPr>
        <p:spPr>
          <a:xfrm>
            <a:off x="8949690" y="1908810"/>
            <a:ext cx="447040" cy="3460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下箭头 13"/>
          <p:cNvSpPr/>
          <p:nvPr/>
        </p:nvSpPr>
        <p:spPr>
          <a:xfrm>
            <a:off x="8949690" y="3506470"/>
            <a:ext cx="447040" cy="346075"/>
          </a:xfrm>
          <a:prstGeom prst="down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8440" y="125730"/>
            <a:ext cx="4051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问题来源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50800" y="645795"/>
            <a:ext cx="564578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379730" y="894080"/>
            <a:ext cx="52438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问题</a:t>
            </a:r>
            <a:endParaRPr lang="zh-CN" altLang="en-US" b="1"/>
          </a:p>
        </p:txBody>
      </p:sp>
      <p:sp>
        <p:nvSpPr>
          <p:cNvPr id="15" name="文本框 14"/>
          <p:cNvSpPr txBox="1"/>
          <p:nvPr/>
        </p:nvSpPr>
        <p:spPr>
          <a:xfrm>
            <a:off x="687070" y="1384300"/>
            <a:ext cx="79724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精心设计的多</a:t>
            </a:r>
            <a:r>
              <a:rPr lang="en-US" altLang="zh-CN"/>
              <a:t>Gbps</a:t>
            </a:r>
            <a:r>
              <a:rPr lang="zh-CN" altLang="en-US"/>
              <a:t>的基础设施在跨洲际距离传输时，速率只有几</a:t>
            </a:r>
            <a:r>
              <a:rPr lang="en-US" altLang="zh-CN"/>
              <a:t>Mbps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79730" y="1874520"/>
            <a:ext cx="14122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原因</a:t>
            </a:r>
            <a:endParaRPr lang="zh-CN" altLang="en-US" b="1"/>
          </a:p>
        </p:txBody>
      </p:sp>
      <p:sp>
        <p:nvSpPr>
          <p:cNvPr id="17" name="文本框 16"/>
          <p:cNvSpPr txBox="1"/>
          <p:nvPr/>
        </p:nvSpPr>
        <p:spPr>
          <a:xfrm>
            <a:off x="741045" y="2306320"/>
            <a:ext cx="9376410" cy="8102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/>
              <a:t>1980</a:t>
            </a:r>
            <a:r>
              <a:rPr lang="zh-CN" altLang="en-US"/>
              <a:t>年提出的</a:t>
            </a:r>
            <a:r>
              <a:rPr lang="en-US" altLang="zh-CN"/>
              <a:t>TCP</a:t>
            </a:r>
            <a:r>
              <a:rPr lang="zh-CN" altLang="en-US"/>
              <a:t>设计中，把</a:t>
            </a:r>
            <a:r>
              <a:rPr lang="en-US" altLang="zh-CN"/>
              <a:t>“</a:t>
            </a:r>
            <a:r>
              <a:rPr lang="zh-CN" altLang="en-US"/>
              <a:t>丢包</a:t>
            </a:r>
            <a:r>
              <a:rPr lang="en-US" altLang="zh-CN"/>
              <a:t>”</a:t>
            </a:r>
            <a:r>
              <a:rPr lang="zh-CN" altLang="en-US"/>
              <a:t>认为成</a:t>
            </a:r>
            <a:r>
              <a:rPr lang="en-US" altLang="zh-CN"/>
              <a:t>“</a:t>
            </a:r>
            <a:r>
              <a:rPr lang="zh-CN" altLang="en-US"/>
              <a:t>拥塞</a:t>
            </a:r>
            <a:r>
              <a:rPr lang="en-US" altLang="zh-CN"/>
              <a:t>”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当时技术有限，内存少，速度慢，现在速率</a:t>
            </a:r>
            <a:r>
              <a:rPr lang="en-US" altLang="zh-CN"/>
              <a:t>Mbps-&gt;Gbps</a:t>
            </a:r>
            <a:r>
              <a:rPr lang="zh-CN" altLang="en-US"/>
              <a:t>，内存从</a:t>
            </a:r>
            <a:r>
              <a:rPr lang="en-US" altLang="zh-CN"/>
              <a:t>KB-&gt;GB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8" name="圆角矩形 17"/>
          <p:cNvSpPr/>
          <p:nvPr/>
        </p:nvSpPr>
        <p:spPr>
          <a:xfrm>
            <a:off x="796290" y="3475990"/>
            <a:ext cx="7950200" cy="2108200"/>
          </a:xfrm>
          <a:prstGeom prst="roundRect">
            <a:avLst/>
          </a:prstGeom>
          <a:ln w="38100" cap="flat" cmpd="sng" algn="ctr">
            <a:solidFill>
              <a:schemeClr val="accent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1016000" y="3585845"/>
            <a:ext cx="4980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TCP</a:t>
            </a:r>
            <a:r>
              <a:rPr lang="zh-CN" altLang="en-US" b="1">
                <a:solidFill>
                  <a:schemeClr val="accent1"/>
                </a:solidFill>
              </a:rPr>
              <a:t>基于丢包的拥塞控制是问题的根源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132840" y="4004945"/>
            <a:ext cx="7101840" cy="13093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/>
              <a:t>当瓶颈缓存大，基于丢包的拥塞控制会填满缓冲区，导致缓冲区膨胀（</a:t>
            </a:r>
            <a:r>
              <a:rPr lang="en-US" altLang="zh-CN"/>
              <a:t>bufferbloat</a:t>
            </a:r>
            <a:r>
              <a:rPr lang="zh-CN" altLang="en-US"/>
              <a:t>）。</a:t>
            </a:r>
            <a:endParaRPr lang="zh-CN" altLang="en-US"/>
          </a:p>
          <a:p>
            <a:pPr marL="285750" indent="-285750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/>
              <a:t>当瓶颈缓存小，基于丢包的拥塞控制会把丢包误解为拥塞信号，导致低的吞吐量。</a:t>
            </a:r>
            <a:endParaRPr lang="zh-CN" altLang="en-US"/>
          </a:p>
        </p:txBody>
      </p:sp>
      <p:sp>
        <p:nvSpPr>
          <p:cNvPr id="22" name="圆角矩形 21"/>
          <p:cNvSpPr/>
          <p:nvPr/>
        </p:nvSpPr>
        <p:spPr>
          <a:xfrm>
            <a:off x="8930640" y="2028190"/>
            <a:ext cx="3019425" cy="9652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不能把丢包定义为拥塞</a:t>
            </a:r>
            <a:endParaRPr lang="zh-CN" altLang="en-US" b="1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2" grpId="1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8440" y="125730"/>
            <a:ext cx="4051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拥塞</a:t>
            </a:r>
            <a:r>
              <a:rPr lang="en-US" altLang="zh-CN" sz="2400"/>
              <a:t>&amp;</a:t>
            </a:r>
            <a:r>
              <a:rPr lang="zh-CN" altLang="en-US" sz="2400"/>
              <a:t>瓶颈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50800" y="645795"/>
            <a:ext cx="564578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745" y="1082040"/>
            <a:ext cx="5913755" cy="50304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98615" y="545465"/>
            <a:ext cx="1250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背景</a:t>
            </a:r>
            <a:endParaRPr lang="zh-CN" altLang="en-US" b="1"/>
          </a:p>
        </p:txBody>
      </p:sp>
      <p:sp>
        <p:nvSpPr>
          <p:cNvPr id="6" name="文本框 5"/>
          <p:cNvSpPr txBox="1"/>
          <p:nvPr/>
        </p:nvSpPr>
        <p:spPr>
          <a:xfrm>
            <a:off x="6698615" y="913765"/>
            <a:ext cx="482727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TCP</a:t>
            </a:r>
            <a:r>
              <a:rPr lang="zh-CN" altLang="en-US"/>
              <a:t>将任何复杂路径看做一条有相同</a:t>
            </a:r>
            <a:r>
              <a:rPr lang="en-US" altLang="zh-CN"/>
              <a:t>RTT</a:t>
            </a:r>
            <a:r>
              <a:rPr lang="zh-CN" altLang="en-US"/>
              <a:t>和瓶颈速率的普通链路。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en-US" altLang="zh-CN"/>
              <a:t>RTprop</a:t>
            </a:r>
            <a:r>
              <a:rPr lang="zh-CN" altLang="en-US"/>
              <a:t>（来回时延），</a:t>
            </a:r>
            <a:r>
              <a:rPr lang="en-US" altLang="zh-CN"/>
              <a:t>BtlBw</a:t>
            </a:r>
            <a:r>
              <a:rPr lang="zh-CN" altLang="en-US"/>
              <a:t>（瓶颈带宽）与传输行为有关。</a:t>
            </a:r>
            <a:endParaRPr lang="zh-CN" altLang="en-US"/>
          </a:p>
          <a:p>
            <a:pPr indent="0">
              <a:buFont typeface="Wingdings" panose="05000000000000000000" charset="0"/>
              <a:buNone/>
            </a:pPr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6595745" y="2240280"/>
            <a:ext cx="5111750" cy="10033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TCP</a:t>
            </a:r>
            <a:r>
              <a:rPr lang="zh-CN" altLang="en-US"/>
              <a:t>是全双工（</a:t>
            </a:r>
            <a:r>
              <a:rPr lang="en-US" altLang="zh-CN"/>
              <a:t>full-duplex</a:t>
            </a:r>
            <a:r>
              <a:rPr lang="zh-CN" altLang="en-US"/>
              <a:t>），所以如果网络路径是水管，那</a:t>
            </a:r>
            <a:r>
              <a:rPr lang="en-US" altLang="zh-CN"/>
              <a:t>RTprop</a:t>
            </a:r>
            <a:r>
              <a:rPr lang="zh-CN" altLang="en-US"/>
              <a:t>是长度，</a:t>
            </a:r>
            <a:r>
              <a:rPr lang="en-US" altLang="zh-CN"/>
              <a:t>BtlBw</a:t>
            </a:r>
            <a:r>
              <a:rPr lang="zh-CN" altLang="en-US"/>
              <a:t>是最小直径。</a:t>
            </a:r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698615" y="3604895"/>
            <a:ext cx="12503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标注</a:t>
            </a:r>
            <a:endParaRPr lang="zh-CN" altLang="en-US" b="1"/>
          </a:p>
        </p:txBody>
      </p:sp>
      <p:sp>
        <p:nvSpPr>
          <p:cNvPr id="10" name="文本框 9"/>
          <p:cNvSpPr txBox="1"/>
          <p:nvPr/>
        </p:nvSpPr>
        <p:spPr>
          <a:xfrm>
            <a:off x="6698615" y="4076065"/>
            <a:ext cx="4768850" cy="12566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蓝线表示</a:t>
            </a:r>
            <a:r>
              <a:rPr lang="en-US" altLang="zh-CN"/>
              <a:t>RTprop</a:t>
            </a:r>
            <a:r>
              <a:rPr lang="zh-CN" altLang="en-US"/>
              <a:t>限制。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绿线表示</a:t>
            </a:r>
            <a:r>
              <a:rPr lang="en-US" altLang="zh-CN"/>
              <a:t>BtlBw</a:t>
            </a:r>
            <a:r>
              <a:rPr lang="zh-CN" altLang="en-US"/>
              <a:t>限制。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红线表示瓶颈缓存。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r>
              <a:rPr lang="zh-CN" altLang="en-US"/>
              <a:t>灰色区域是违反限制条件的无效操作。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</p:txBody>
      </p:sp>
      <p:sp>
        <p:nvSpPr>
          <p:cNvPr id="11" name="圆角矩形 10"/>
          <p:cNvSpPr/>
          <p:nvPr/>
        </p:nvSpPr>
        <p:spPr>
          <a:xfrm>
            <a:off x="6457315" y="5482590"/>
            <a:ext cx="5505450" cy="100330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没有足够飞行包来填满链路时，</a:t>
            </a:r>
            <a:r>
              <a:rPr lang="en-US" altLang="zh-CN"/>
              <a:t>RTprop</a:t>
            </a:r>
            <a:r>
              <a:rPr lang="zh-CN" altLang="en-US"/>
              <a:t>决定行为。</a:t>
            </a:r>
            <a:endParaRPr lang="zh-CN" altLang="en-US"/>
          </a:p>
          <a:p>
            <a:pPr marL="285750" indent="-285750" algn="l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有足够的飞行包来填满链路时，</a:t>
            </a:r>
            <a:r>
              <a:rPr lang="en-US" altLang="zh-CN"/>
              <a:t>BtlBw</a:t>
            </a:r>
            <a:r>
              <a:rPr lang="zh-CN" altLang="en-US"/>
              <a:t>主导行为。</a:t>
            </a:r>
            <a:r>
              <a:rPr lang="en-US" altLang="zh-CN"/>
              <a:t> </a:t>
            </a:r>
            <a:endParaRPr lang="en-US" altLang="zh-CN"/>
          </a:p>
        </p:txBody>
      </p:sp>
      <p:sp>
        <p:nvSpPr>
          <p:cNvPr id="12" name="文本框 11"/>
          <p:cNvSpPr txBox="1"/>
          <p:nvPr/>
        </p:nvSpPr>
        <p:spPr>
          <a:xfrm>
            <a:off x="423545" y="6181725"/>
            <a:ext cx="5784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RTT</a:t>
            </a:r>
            <a:r>
              <a:rPr lang="zh-CN" altLang="en-US"/>
              <a:t>和传输速率随飞行包数目的变化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11" grpId="0" animBg="1"/>
      <p:bldP spid="11" grpId="1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8440" y="125730"/>
            <a:ext cx="4051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拥塞</a:t>
            </a:r>
            <a:r>
              <a:rPr lang="en-US" altLang="zh-CN" sz="2400"/>
              <a:t>&amp;</a:t>
            </a:r>
            <a:r>
              <a:rPr lang="zh-CN" altLang="en-US" sz="2400"/>
              <a:t>瓶颈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50800" y="645795"/>
            <a:ext cx="564578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745" y="1082040"/>
            <a:ext cx="5913755" cy="503047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640195" y="935990"/>
            <a:ext cx="211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拐点</a:t>
            </a:r>
            <a:r>
              <a:rPr lang="en-US" altLang="zh-CN" b="1"/>
              <a:t>&amp;</a:t>
            </a:r>
            <a:r>
              <a:rPr lang="zh-CN" altLang="en-US" b="1"/>
              <a:t>边界</a:t>
            </a:r>
            <a:endParaRPr lang="zh-CN" altLang="en-US" b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6727825" y="1376045"/>
                <a:ext cx="4827270" cy="17519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lang="zh-CN" altLang="en-US"/>
                  <a:t>线的拐点为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𝑖𝑛𝑓𝑙𝑖𝑔ℎ𝑡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𝐵𝑡𝑙𝐵𝑤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×</m:t>
                    </m:r>
                    <m:r>
                      <a:rPr lang="en-US" altLang="zh-CN" i="1">
                        <a:latin typeface="Cambria Math" panose="02040503050406030204" charset="0"/>
                        <a:cs typeface="Cambria Math" panose="02040503050406030204" charset="0"/>
                      </a:rPr>
                      <m:t>𝑅𝑇𝑝𝑟𝑜𝑝</m:t>
                    </m:r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，即管道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BDP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。如果飞行包数目超过这个点，会在瓶颈处队列堆积。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超过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BDP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就算拥塞，拥塞控制是为了缩短飞行包数目离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BDP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线的距离。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7825" y="1376045"/>
                <a:ext cx="4827270" cy="175196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本框 11"/>
          <p:cNvSpPr txBox="1"/>
          <p:nvPr/>
        </p:nvSpPr>
        <p:spPr>
          <a:xfrm>
            <a:off x="423545" y="6181725"/>
            <a:ext cx="5784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RTT</a:t>
            </a:r>
            <a:r>
              <a:rPr lang="zh-CN" altLang="en-US"/>
              <a:t>和传输速率随飞行包数目的变化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727825" y="3199765"/>
            <a:ext cx="1374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问题起因</a:t>
            </a:r>
            <a:endParaRPr lang="zh-CN" altLang="en-US" b="1"/>
          </a:p>
        </p:txBody>
      </p:sp>
      <p:sp>
        <p:nvSpPr>
          <p:cNvPr id="14" name="文本框 13"/>
          <p:cNvSpPr txBox="1"/>
          <p:nvPr/>
        </p:nvSpPr>
        <p:spPr>
          <a:xfrm>
            <a:off x="6976745" y="3639820"/>
            <a:ext cx="43294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基于损失的拥塞控制在</a:t>
            </a:r>
            <a:r>
              <a:rPr lang="en-US" altLang="zh-CN"/>
              <a:t>bandwidth limited</a:t>
            </a:r>
            <a:r>
              <a:rPr lang="zh-CN" altLang="en-US"/>
              <a:t>的右边界，以高延迟和频繁丢包以实现完整的带宽利用率。</a:t>
            </a:r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6830695" y="4685665"/>
            <a:ext cx="4542155" cy="12617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 sz="1600"/>
              <a:t>原来内存贵，内存比</a:t>
            </a:r>
            <a:r>
              <a:rPr lang="en-US" altLang="zh-CN" sz="1600"/>
              <a:t>BDDP</a:t>
            </a:r>
            <a:r>
              <a:rPr lang="zh-CN" altLang="en-US" sz="1600"/>
              <a:t>大一点点，只要超过</a:t>
            </a:r>
            <a:r>
              <a:rPr lang="en-US" altLang="zh-CN" sz="1600"/>
              <a:t>BDP</a:t>
            </a:r>
            <a:r>
              <a:rPr lang="zh-CN" altLang="en-US" sz="1600"/>
              <a:t>基本就丢包了；</a:t>
            </a:r>
            <a:endParaRPr lang="zh-CN" altLang="en-US" sz="1600"/>
          </a:p>
          <a:p>
            <a:pPr marL="285750" indent="-285750" algn="l">
              <a:buFont typeface="Wingdings" panose="05000000000000000000" charset="0"/>
              <a:buChar char="Ø"/>
            </a:pPr>
            <a:r>
              <a:rPr lang="zh-CN" altLang="en-US" sz="1600"/>
              <a:t>现在缓存比</a:t>
            </a:r>
            <a:r>
              <a:rPr lang="en-US" altLang="zh-CN" sz="1600"/>
              <a:t>ISP</a:t>
            </a:r>
            <a:r>
              <a:rPr lang="zh-CN" altLang="en-US" sz="1600"/>
              <a:t>链路带宽高出几个数量级，</a:t>
            </a:r>
            <a:r>
              <a:rPr lang="en-US" altLang="zh-CN" sz="1600"/>
              <a:t>bufferbloat</a:t>
            </a:r>
            <a:r>
              <a:rPr lang="zh-CN" altLang="en-US" sz="1600"/>
              <a:t>使响应时间从</a:t>
            </a:r>
            <a:r>
              <a:rPr lang="en-US" altLang="zh-CN" sz="1600"/>
              <a:t>ms</a:t>
            </a:r>
            <a:r>
              <a:rPr lang="zh-CN" altLang="en-US" sz="1600"/>
              <a:t>级到</a:t>
            </a:r>
            <a:r>
              <a:rPr lang="en-US" altLang="zh-CN" sz="1600"/>
              <a:t>s</a:t>
            </a:r>
            <a:r>
              <a:rPr lang="zh-CN" altLang="en-US" sz="1600"/>
              <a:t>级。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8440" y="125730"/>
            <a:ext cx="4051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拥塞</a:t>
            </a:r>
            <a:r>
              <a:rPr lang="en-US" altLang="zh-CN" sz="2400"/>
              <a:t>&amp;</a:t>
            </a:r>
            <a:r>
              <a:rPr lang="zh-CN" altLang="en-US" sz="2400"/>
              <a:t>瓶颈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50800" y="645795"/>
            <a:ext cx="564578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2745" y="1082040"/>
            <a:ext cx="5913755" cy="503047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23545" y="6181725"/>
            <a:ext cx="5784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RTT</a:t>
            </a:r>
            <a:r>
              <a:rPr lang="zh-CN" altLang="en-US"/>
              <a:t>和传输速率随飞行包数目的变化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640195" y="713740"/>
            <a:ext cx="1374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解决方向</a:t>
            </a:r>
            <a:endParaRPr lang="zh-CN" altLang="en-US" b="1"/>
          </a:p>
        </p:txBody>
      </p:sp>
      <p:sp>
        <p:nvSpPr>
          <p:cNvPr id="16" name="文本框 15"/>
          <p:cNvSpPr txBox="1"/>
          <p:nvPr/>
        </p:nvSpPr>
        <p:spPr>
          <a:xfrm>
            <a:off x="6654800" y="1150620"/>
            <a:ext cx="5222240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/>
              <a:t>1979</a:t>
            </a:r>
            <a:r>
              <a:rPr lang="zh-CN" altLang="en-US"/>
              <a:t>年，</a:t>
            </a:r>
            <a:r>
              <a:rPr lang="en-US" altLang="zh-CN"/>
              <a:t>Leonard Kleinrock</a:t>
            </a:r>
            <a:r>
              <a:rPr lang="zh-CN" altLang="en-US"/>
              <a:t>证明了</a:t>
            </a:r>
            <a:r>
              <a:rPr lang="en-US" altLang="zh-CN"/>
              <a:t>BDP</a:t>
            </a:r>
            <a:r>
              <a:rPr lang="zh-CN" altLang="en-US"/>
              <a:t>是最优的操作点</a:t>
            </a:r>
            <a:r>
              <a:rPr lang="zh-CN" altLang="en-US">
                <a:solidFill>
                  <a:srgbClr val="FF0000"/>
                </a:solidFill>
              </a:rPr>
              <a:t>（最大传输带宽，最小延迟，单个连接和整个互联网都适用）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同一时间，</a:t>
            </a:r>
            <a:r>
              <a:rPr lang="en-US" altLang="zh-CN"/>
              <a:t>Jeffrey M. Jaffe</a:t>
            </a:r>
            <a:r>
              <a:rPr lang="zh-CN" altLang="en-US"/>
              <a:t>证明创建一个分布式算法收敛到这个操作点是不可能的。</a:t>
            </a:r>
            <a:endParaRPr lang="zh-CN" altLang="en-US"/>
          </a:p>
        </p:txBody>
      </p:sp>
      <p:sp>
        <p:nvSpPr>
          <p:cNvPr id="9" name="圆角矩形 8"/>
          <p:cNvSpPr/>
          <p:nvPr/>
        </p:nvSpPr>
        <p:spPr>
          <a:xfrm>
            <a:off x="6596380" y="3027045"/>
            <a:ext cx="5389880" cy="114046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谷歌每天花费几小时分析</a:t>
            </a:r>
            <a:r>
              <a:rPr lang="en-US" altLang="zh-CN"/>
              <a:t>TCP</a:t>
            </a:r>
            <a:r>
              <a:rPr lang="zh-CN" altLang="en-US"/>
              <a:t>数据，持续三年的探索，基于路径上的两类参数</a:t>
            </a:r>
            <a:r>
              <a:rPr lang="en-US" altLang="zh-CN" b="1">
                <a:solidFill>
                  <a:schemeClr val="accent2"/>
                </a:solidFill>
              </a:rPr>
              <a:t>B</a:t>
            </a:r>
            <a:r>
              <a:rPr lang="en-US" altLang="zh-CN"/>
              <a:t>ottleneck </a:t>
            </a:r>
            <a:r>
              <a:rPr lang="en-US" altLang="zh-CN" b="1">
                <a:solidFill>
                  <a:schemeClr val="accent2"/>
                </a:solidFill>
              </a:rPr>
              <a:t>B</a:t>
            </a:r>
            <a:r>
              <a:rPr lang="en-US" altLang="zh-CN"/>
              <a:t>andwidth</a:t>
            </a:r>
            <a:r>
              <a:rPr lang="zh-CN" altLang="en-US"/>
              <a:t>和</a:t>
            </a:r>
            <a:r>
              <a:rPr lang="en-US" altLang="zh-CN" b="1">
                <a:solidFill>
                  <a:schemeClr val="accent2"/>
                </a:solidFill>
              </a:rPr>
              <a:t>R</a:t>
            </a:r>
            <a:r>
              <a:rPr lang="en-US" altLang="zh-CN"/>
              <a:t>ound-trip propagation(BBR)</a:t>
            </a:r>
            <a:r>
              <a:rPr lang="zh-CN" altLang="en-US"/>
              <a:t>实现拥塞控制。</a:t>
            </a:r>
            <a:endParaRPr lang="zh-CN" altLang="en-US"/>
          </a:p>
        </p:txBody>
      </p:sp>
      <p:sp>
        <p:nvSpPr>
          <p:cNvPr id="11" name="下箭头标注 10"/>
          <p:cNvSpPr/>
          <p:nvPr/>
        </p:nvSpPr>
        <p:spPr>
          <a:xfrm>
            <a:off x="8103235" y="287655"/>
            <a:ext cx="3649345" cy="957580"/>
          </a:xfrm>
          <a:prstGeom prst="downArrowCallout">
            <a:avLst>
              <a:gd name="adj1" fmla="val 25000"/>
              <a:gd name="adj2" fmla="val 25000"/>
              <a:gd name="adj3" fmla="val 25000"/>
              <a:gd name="adj4" fmla="val 75000"/>
            </a:avLst>
          </a:prstGeom>
        </p:spPr>
        <p:style>
          <a:lnRef idx="0">
            <a:srgbClr val="FFFFFF"/>
          </a:lnRef>
          <a:fillRef idx="1">
            <a:schemeClr val="accent4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虽然不能对任何变量消歧，但随时间变化的行为可以讲述更清晰故事。</a:t>
            </a:r>
            <a:endParaRPr lang="zh-CN" altLang="en-US" sz="1600"/>
          </a:p>
        </p:txBody>
      </p:sp>
      <p:sp>
        <p:nvSpPr>
          <p:cNvPr id="17" name="文本框 16"/>
          <p:cNvSpPr txBox="1"/>
          <p:nvPr/>
        </p:nvSpPr>
        <p:spPr>
          <a:xfrm>
            <a:off x="6900545" y="4346575"/>
            <a:ext cx="4944110" cy="17519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将两个测量数据与</a:t>
            </a:r>
            <a:r>
              <a:rPr lang="en-US" altLang="zh-CN"/>
              <a:t>robust servo loop</a:t>
            </a:r>
            <a:r>
              <a:rPr lang="zh-CN" altLang="en-US"/>
              <a:t>（稳健的反馈回路）结合，可以实现：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对现实拥塞的分布式控制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没有丢包</a:t>
            </a:r>
            <a:r>
              <a:rPr lang="en-US" altLang="zh-CN"/>
              <a:t>\</a:t>
            </a:r>
            <a:r>
              <a:rPr lang="zh-CN" altLang="en-US"/>
              <a:t>传输延迟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以高概率收敛到</a:t>
            </a:r>
            <a:r>
              <a:rPr lang="en-US" altLang="zh-CN">
                <a:sym typeface="+mn-ea"/>
              </a:rPr>
              <a:t>Kleinrock</a:t>
            </a:r>
            <a:r>
              <a:rPr lang="zh-CN" altLang="en-US">
                <a:sym typeface="+mn-ea"/>
              </a:rPr>
              <a:t>的最佳操作点。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1" grpId="1" animBg="1"/>
      <p:bldP spid="9" grpId="0" animBg="1"/>
      <p:bldP spid="9" grpId="1" animBg="1"/>
      <p:bldP spid="17" grpId="0"/>
      <p:bldP spid="17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8440" y="125730"/>
            <a:ext cx="4051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参数计算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50800" y="645795"/>
            <a:ext cx="564578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69875" y="894080"/>
            <a:ext cx="2326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目标状态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52755" y="1251585"/>
            <a:ext cx="10861040" cy="8655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40000"/>
              </a:lnSpc>
            </a:pPr>
            <a:r>
              <a:rPr lang="zh-CN" altLang="en-US"/>
              <a:t>一个连接以最高吞吐量和最低时延运行，需要满足（</a:t>
            </a:r>
            <a:r>
              <a:rPr lang="en-US" altLang="zh-CN"/>
              <a:t>1</a:t>
            </a:r>
            <a:r>
              <a:rPr lang="zh-CN" altLang="en-US"/>
              <a:t>）</a:t>
            </a:r>
            <a:r>
              <a:rPr lang="en-US" altLang="zh-CN" b="1">
                <a:solidFill>
                  <a:schemeClr val="accent6"/>
                </a:solidFill>
              </a:rPr>
              <a:t>rate balance</a:t>
            </a:r>
            <a:r>
              <a:rPr lang="zh-CN" altLang="en-US"/>
              <a:t>：瓶颈包到达的速度</a:t>
            </a:r>
            <a:r>
              <a:rPr lang="en-US" altLang="zh-CN"/>
              <a:t>=BtlBw</a:t>
            </a:r>
            <a:r>
              <a:rPr lang="zh-CN" altLang="en-US"/>
              <a:t>（</a:t>
            </a:r>
            <a:r>
              <a:rPr lang="en-US" altLang="zh-CN"/>
              <a:t>2</a:t>
            </a:r>
            <a:r>
              <a:rPr lang="zh-CN" altLang="en-US"/>
              <a:t>）</a:t>
            </a:r>
            <a:r>
              <a:rPr lang="en-US" altLang="zh-CN" b="1">
                <a:solidFill>
                  <a:schemeClr val="accent6"/>
                </a:solidFill>
              </a:rPr>
              <a:t>full pipe</a:t>
            </a:r>
            <a:r>
              <a:rPr lang="zh-CN" altLang="en-US">
                <a:solidFill>
                  <a:schemeClr val="tx1"/>
                </a:solidFill>
              </a:rPr>
              <a:t>：飞行包的总数</a:t>
            </a:r>
            <a:r>
              <a:rPr lang="en-US" altLang="zh-CN">
                <a:solidFill>
                  <a:schemeClr val="tx1"/>
                </a:solidFill>
              </a:rPr>
              <a:t>=BDP( BtlBw*RTprop )</a:t>
            </a:r>
            <a:r>
              <a:rPr lang="zh-CN" altLang="en-US">
                <a:solidFill>
                  <a:schemeClr val="tx1"/>
                </a:solidFill>
              </a:rPr>
              <a:t>。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96875" y="2841625"/>
            <a:ext cx="2326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RTprop</a:t>
            </a:r>
            <a:r>
              <a:rPr lang="zh-CN" altLang="en-US" b="1">
                <a:solidFill>
                  <a:schemeClr val="accent1"/>
                </a:solidFill>
              </a:rPr>
              <a:t>计算</a:t>
            </a:r>
            <a:endParaRPr lang="zh-CN" altLang="en-US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文本框 7"/>
              <p:cNvSpPr txBox="1"/>
              <p:nvPr/>
            </p:nvSpPr>
            <p:spPr>
              <a:xfrm>
                <a:off x="452755" y="3378200"/>
                <a:ext cx="10861040" cy="146558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:pPr marL="285750" indent="-285750">
                  <a:lnSpc>
                    <a:spcPct val="140000"/>
                  </a:lnSpc>
                  <a:buFont typeface="Wingdings" panose="05000000000000000000" charset="0"/>
                  <a:buChar char="Ø"/>
                </a:pPr>
                <a:r>
                  <a:rPr lang="en-US" altLang="zh-CN">
                    <a:solidFill>
                      <a:schemeClr val="tx1"/>
                    </a:solidFill>
                  </a:rPr>
                  <a:t>TCP</a:t>
                </a:r>
                <a:r>
                  <a:rPr lang="zh-CN" altLang="en-US">
                    <a:solidFill>
                      <a:schemeClr val="tx1"/>
                    </a:solidFill>
                  </a:rPr>
                  <a:t>为了实现丢包检测会追踪</a:t>
                </a:r>
                <a:r>
                  <a:rPr lang="en-US" altLang="zh-CN">
                    <a:solidFill>
                      <a:schemeClr val="tx1"/>
                    </a:solidFill>
                  </a:rPr>
                  <a:t>RTT</a:t>
                </a:r>
                <a:r>
                  <a:rPr lang="zh-CN" altLang="en-US">
                    <a:solidFill>
                      <a:schemeClr val="tx1"/>
                    </a:solidFill>
                  </a:rPr>
                  <a:t>，对于任何时间</a:t>
                </a:r>
                <a:r>
                  <a:rPr lang="en-US" altLang="zh-CN">
                    <a:solidFill>
                      <a:schemeClr val="tx1"/>
                    </a:solidFill>
                  </a:rPr>
                  <a:t>t</a:t>
                </a:r>
                <a:r>
                  <a:rPr lang="zh-CN" altLang="en-US">
                    <a:solidFill>
                      <a:schemeClr val="tx1"/>
                    </a:solidFill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𝑅𝑇𝑇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𝑅𝑇𝑝𝑟𝑜𝑝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+</m:t>
                    </m:r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𝜂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𝜂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是由于</a:t>
                </a:r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路径队列，接收方</a:t>
                </a:r>
                <a:r>
                  <a:rPr lang="en-US" altLang="zh-CN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ACK</a:t>
                </a:r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延迟，</a:t>
                </a:r>
                <a:r>
                  <a:rPr lang="en-US" altLang="zh-CN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ACK</a:t>
                </a:r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传播等引入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的噪音；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𝑅𝑇𝑝𝑟𝑜𝑝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是路径的物理属性，只有路径改变，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𝑅𝑇𝑝𝑟𝑜𝑝</m:t>
                        </m:r>
                      </m:e>
                      <m:sub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才会改变。</a:t>
                </a:r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4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由于路径变化在时间尺度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&gt;&gt;RTprop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，因此时间</a:t>
                </a:r>
                <a:r>
                  <a:rPr lang="en-US" altLang="zh-CN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T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处有一个</a:t>
                </a:r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无偏且高效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的估算器。</a:t>
                </a:r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indent="0">
                  <a:lnSpc>
                    <a:spcPct val="140000"/>
                  </a:lnSpc>
                  <a:buFont typeface="Wingdings" panose="05000000000000000000" charset="0"/>
                  <a:buNone/>
                </a:pPr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55" y="3378200"/>
                <a:ext cx="10861040" cy="1465580"/>
              </a:xfrm>
              <a:prstGeom prst="rect">
                <a:avLst/>
              </a:prstGeom>
              <a:blipFill rotWithShape="1">
                <a:blip r:embed="rId1"/>
                <a:stretch>
                  <a:fillRect b="-779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圆角矩形 9"/>
          <p:cNvSpPr/>
          <p:nvPr/>
        </p:nvSpPr>
        <p:spPr>
          <a:xfrm>
            <a:off x="3775075" y="2196465"/>
            <a:ext cx="7114540" cy="5632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BtlBw</a:t>
            </a:r>
            <a:r>
              <a:rPr lang="zh-CN" altLang="en-US"/>
              <a:t>和</a:t>
            </a:r>
            <a:r>
              <a:rPr lang="en-US" altLang="zh-CN"/>
              <a:t>RTprop</a:t>
            </a:r>
            <a:r>
              <a:rPr lang="zh-CN" altLang="en-US"/>
              <a:t>在连接的生命周期中不断变化，因此需要持续测量</a:t>
            </a:r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1062355" y="4843780"/>
                <a:ext cx="9354185" cy="3784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𝑅𝑇𝑝𝑟𝑜𝑝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𝑅𝑇𝑝𝑟𝑜𝑝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+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𝑚𝑖𝑛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𝜂</m:t>
                          </m:r>
                        </m:e>
                        <m:sub>
                          <m:r>
                            <a:rPr lang="en-US" altLang="zh-CN" i="1">
                              <a:solidFill>
                                <a:schemeClr val="tx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𝑚𝑖𝑛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𝑅𝑇𝑇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    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∈[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𝑇−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𝑅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 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2355" y="4843780"/>
                <a:ext cx="9354185" cy="37846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1440180" y="5549265"/>
                <a:ext cx="8907780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/>
                  <a:t>RTprop</a:t>
                </a:r>
                <a:r>
                  <a:rPr lang="zh-CN" altLang="en-US"/>
                  <a:t>为在时间窗口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中运行的最小值，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𝑅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通常为几十秒或几分钟。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40180" y="5549265"/>
                <a:ext cx="8907780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8440" y="125730"/>
            <a:ext cx="4051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/>
              <a:t>参数计算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50800" y="645795"/>
            <a:ext cx="564578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" name="文本框 4"/>
          <p:cNvSpPr txBox="1"/>
          <p:nvPr/>
        </p:nvSpPr>
        <p:spPr>
          <a:xfrm>
            <a:off x="269875" y="894080"/>
            <a:ext cx="23260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1"/>
                </a:solidFill>
              </a:rPr>
              <a:t>BtlBw</a:t>
            </a:r>
            <a:r>
              <a:rPr lang="zh-CN" altLang="en-US" b="1">
                <a:solidFill>
                  <a:schemeClr val="accent1"/>
                </a:solidFill>
              </a:rPr>
              <a:t>计算</a:t>
            </a:r>
            <a:endParaRPr lang="zh-CN" altLang="en-US" b="1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文本框 5"/>
              <p:cNvSpPr txBox="1"/>
              <p:nvPr/>
            </p:nvSpPr>
            <p:spPr>
              <a:xfrm>
                <a:off x="452755" y="1251585"/>
                <a:ext cx="8354060" cy="21983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40000"/>
                  </a:lnSpc>
                  <a:buFont typeface="Wingdings" panose="05000000000000000000" charset="0"/>
                  <a:buChar char="Ø"/>
                </a:pPr>
                <a:r>
                  <a:rPr lang="en-US" altLang="zh-CN">
                    <a:solidFill>
                      <a:schemeClr val="tx1"/>
                    </a:solidFill>
                  </a:rPr>
                  <a:t>TCP</a:t>
                </a:r>
                <a:r>
                  <a:rPr lang="zh-CN" altLang="en-US">
                    <a:solidFill>
                      <a:schemeClr val="tx1"/>
                    </a:solidFill>
                  </a:rPr>
                  <a:t>无追踪瓶颈带宽的参数，但是通过追踪</a:t>
                </a:r>
                <a:r>
                  <a:rPr lang="zh-CN" altLang="en-US">
                    <a:solidFill>
                      <a:srgbClr val="FF0000"/>
                    </a:solidFill>
                  </a:rPr>
                  <a:t>传输速率</a:t>
                </a:r>
                <a:r>
                  <a:rPr lang="zh-CN" altLang="en-US">
                    <a:solidFill>
                      <a:schemeClr val="tx1"/>
                    </a:solidFill>
                  </a:rPr>
                  <a:t>可以得到良好的估算结果。</a:t>
                </a:r>
                <a:endParaRPr lang="zh-CN" altLang="en-US">
                  <a:solidFill>
                    <a:schemeClr val="tx1"/>
                  </a:solidFill>
                </a:endParaRPr>
              </a:p>
              <a:p>
                <a:pPr marL="285750" indent="-285750">
                  <a:lnSpc>
                    <a:spcPct val="14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solidFill>
                      <a:schemeClr val="tx1"/>
                    </a:solidFill>
                  </a:rPr>
                  <a:t>传输速率</a:t>
                </a:r>
                <a14:m>
                  <m:oMath xmlns:m="http://schemas.openxmlformats.org/officeDocument/2006/math"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𝑑𝑒𝑙𝑖𝑣𝑒𝑟𝑦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 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𝑟𝑎𝑡𝑒</m:t>
                    </m:r>
                    <m:r>
                      <a:rPr lang="en-US" altLang="zh-CN" i="1">
                        <a:solidFill>
                          <a:schemeClr val="tx1"/>
                        </a:solidFill>
                        <a:latin typeface="Cambria Math" panose="02040503050406030204" charset="0"/>
                        <a:cs typeface="Cambria Math" panose="02040503050406030204" charset="0"/>
                      </a:rPr>
                      <m:t>=</m:t>
                    </m:r>
                    <m:f>
                      <m:fPr>
                        <m:ctrlP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fPr>
                      <m:num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∆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𝑑𝑒𝑙𝑖𝑣𝑒𝑟𝑒𝑑</m:t>
                        </m:r>
                      </m:num>
                      <m:den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∆</m:t>
                        </m:r>
                        <m:r>
                          <a:rPr lang="en-US" altLang="zh-CN" i="1">
                            <a:solidFill>
                              <a:schemeClr val="tx1"/>
                            </a:solidFill>
                            <a:latin typeface="Cambria Math" panose="02040503050406030204" charset="0"/>
                            <a:cs typeface="Cambria Math" panose="02040503050406030204" charset="0"/>
                          </a:rPr>
                          <m:t>𝑡</m:t>
                        </m:r>
                      </m:den>
                    </m:f>
                  </m:oMath>
                </a14:m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，计算每个包</a:t>
                </a:r>
                <a:r>
                  <a:rPr lang="en-US" altLang="zh-CN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send</a:t>
                </a:r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和</a:t>
                </a:r>
                <a:r>
                  <a:rPr lang="en-US" altLang="zh-CN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ACK</a:t>
                </a:r>
                <a:r>
                  <a:rPr lang="zh-CN" altLang="en-US">
                    <a:solidFill>
                      <a:srgbClr val="FF0000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之间</a:t>
                </a: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的传输速率。</a:t>
                </a:r>
                <a:endParaRPr lang="zh-CN" altLang="en-US">
                  <a:solidFill>
                    <a:schemeClr val="tx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  <a:p>
                <a:pPr marL="285750" indent="-285750">
                  <a:lnSpc>
                    <a:spcPct val="14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solidFill>
                      <a:schemeClr val="tx1"/>
                    </a:solidFill>
                    <a:latin typeface="Cambria Math" panose="02040503050406030204" charset="0"/>
                    <a:cs typeface="Cambria Math" panose="02040503050406030204" charset="0"/>
                  </a:rPr>
                  <a:t>传输速率</a:t>
                </a:r>
                <a:r>
                  <a:rPr lang="zh-CN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≤瓶颈链路速率（不同位置速率不同，但最后</a:t>
                </a:r>
                <a:r>
                  <a:rPr lang="zh-CN" altLang="en-US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平衡时</a:t>
                </a:r>
                <a:r>
                  <a:rPr lang="zh-CN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等于瓶颈带宽）。</a:t>
                </a:r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40000"/>
                  </a:lnSpc>
                  <a:buFont typeface="Wingdings" panose="05000000000000000000" charset="0"/>
                  <a:buChar char="Ø"/>
                </a:pPr>
                <a:r>
                  <a:rPr lang="en-US" altLang="zh-CN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delivery rate</a:t>
                </a:r>
                <a:r>
                  <a:rPr lang="zh-CN" altLang="en-US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是最大窗口的高效、无偏估计量。</a:t>
                </a:r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marL="285750" indent="-285750">
                  <a:lnSpc>
                    <a:spcPct val="140000"/>
                  </a:lnSpc>
                  <a:buFont typeface="Wingdings" panose="05000000000000000000" charset="0"/>
                  <a:buChar char="Ø"/>
                </a:pPr>
                <a:endParaRPr lang="zh-CN" altLang="en-US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6" name="文本框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2755" y="1251585"/>
                <a:ext cx="8354060" cy="219837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文本框 13"/>
              <p:cNvSpPr txBox="1"/>
              <p:nvPr/>
            </p:nvSpPr>
            <p:spPr>
              <a:xfrm>
                <a:off x="854710" y="3317875"/>
                <a:ext cx="9354185" cy="3860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acc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𝐵𝑡𝑙𝐵𝑤</m:t>
                          </m:r>
                        </m:e>
                      </m:acc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𝑚𝑎𝑥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(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𝑑𝑒𝑙𝑖𝑣𝑒𝑟𝑦𝑅𝑎𝑡𝑒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𝑡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)    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∀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𝑡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∈[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𝑊</m:t>
                          </m:r>
                        </m:e>
                        <m:sub>
                          <m:r>
                            <a:rPr lang="en-US" altLang="zh-CN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𝐵</m:t>
                          </m:r>
                        </m:sub>
                      </m:sSub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, 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𝑇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]</m:t>
                      </m:r>
                      <m:r>
                        <a:rPr lang="en-US" altLang="zh-CN" i="1">
                          <a:latin typeface="Cambria Math" panose="02040503050406030204" charset="0"/>
                          <a:cs typeface="Cambria Math" panose="02040503050406030204" charset="0"/>
                        </a:rPr>
                        <m:t>  </m:t>
                      </m:r>
                    </m:oMath>
                  </m:oMathPara>
                </a14:m>
                <a:endParaRPr lang="zh-CN" altLang="en-US"/>
              </a:p>
            </p:txBody>
          </p:sp>
        </mc:Choice>
        <mc:Fallback>
          <p:sp>
            <p:nvSpPr>
              <p:cNvPr id="14" name="文本框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710" y="3317875"/>
                <a:ext cx="9354185" cy="38608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文本框 14"/>
              <p:cNvSpPr txBox="1"/>
              <p:nvPr/>
            </p:nvSpPr>
            <p:spPr>
              <a:xfrm>
                <a:off x="3284220" y="3927475"/>
                <a:ext cx="3634105" cy="3683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时间窗口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𝑊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</a:rPr>
                          <m:t>𝐵</m:t>
                        </m:r>
                      </m:sub>
                    </m:sSub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一般是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6~10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个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</a:rPr>
                  <a:t>RTT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15" name="文本框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84220" y="3927475"/>
                <a:ext cx="3634105" cy="36830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圆角矩形 3"/>
          <p:cNvSpPr/>
          <p:nvPr/>
        </p:nvSpPr>
        <p:spPr>
          <a:xfrm>
            <a:off x="8806815" y="1414145"/>
            <a:ext cx="3199765" cy="185737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marL="285750" indent="-285750" algn="l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/>
              <a:t>每一个</a:t>
            </a:r>
            <a:r>
              <a:rPr lang="en-US" altLang="zh-CN"/>
              <a:t>ACK</a:t>
            </a:r>
            <a:r>
              <a:rPr lang="zh-CN" altLang="en-US"/>
              <a:t>到来都会产生</a:t>
            </a:r>
            <a:r>
              <a:rPr lang="en-US" altLang="zh-CN"/>
              <a:t>RTT</a:t>
            </a:r>
            <a:r>
              <a:rPr lang="zh-CN" altLang="en-US"/>
              <a:t>和</a:t>
            </a:r>
            <a:r>
              <a:rPr lang="en-US" altLang="zh-CN"/>
              <a:t>delivery rate</a:t>
            </a:r>
            <a:r>
              <a:rPr lang="zh-CN" altLang="en-US"/>
              <a:t>测量值</a:t>
            </a:r>
            <a:endParaRPr lang="zh-CN" altLang="en-US"/>
          </a:p>
          <a:p>
            <a:pPr marL="285750" indent="-285750" algn="l">
              <a:lnSpc>
                <a:spcPct val="110000"/>
              </a:lnSpc>
              <a:buFont typeface="Wingdings" panose="05000000000000000000" charset="0"/>
              <a:buChar char="Ø"/>
            </a:pPr>
            <a:r>
              <a:rPr lang="zh-CN" altLang="en-US"/>
              <a:t>这些测量值需要通过</a:t>
            </a:r>
            <a:r>
              <a:rPr lang="en-US" altLang="zh-CN"/>
              <a:t>fliter(</a:t>
            </a:r>
            <a:r>
              <a:rPr lang="zh-CN" altLang="en-US"/>
              <a:t>过滤器</a:t>
            </a:r>
            <a:r>
              <a:rPr lang="en-US" altLang="zh-CN"/>
              <a:t>)</a:t>
            </a:r>
            <a:r>
              <a:rPr lang="zh-CN" altLang="en-US"/>
              <a:t>转化为</a:t>
            </a:r>
            <a:r>
              <a:rPr lang="en-US" altLang="zh-CN"/>
              <a:t>RTprop</a:t>
            </a:r>
            <a:r>
              <a:rPr lang="zh-CN" altLang="en-US"/>
              <a:t>和</a:t>
            </a:r>
            <a:r>
              <a:rPr lang="en-US" altLang="zh-CN"/>
              <a:t>BtlBw</a:t>
            </a:r>
            <a:r>
              <a:rPr lang="zh-CN" altLang="en-US"/>
              <a:t>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69875" y="4486910"/>
            <a:ext cx="11633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4">
                    <a:lumMod val="75000"/>
                  </a:schemeClr>
                </a:solidFill>
              </a:rPr>
              <a:t>注意：</a:t>
            </a:r>
            <a:endParaRPr lang="zh-CN" altLang="en-US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48005" y="4951730"/>
            <a:ext cx="105479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/>
              <a:t>RTprop</a:t>
            </a:r>
            <a:r>
              <a:rPr lang="zh-CN" altLang="en-US"/>
              <a:t>和</a:t>
            </a:r>
            <a:r>
              <a:rPr lang="en-US" altLang="zh-CN"/>
              <a:t>BtlBw</a:t>
            </a:r>
            <a:r>
              <a:rPr lang="zh-CN" altLang="en-US"/>
              <a:t>是</a:t>
            </a:r>
            <a:r>
              <a:rPr lang="zh-CN" altLang="en-US" b="1"/>
              <a:t>完全独立</a:t>
            </a:r>
            <a:r>
              <a:rPr lang="zh-CN" altLang="en-US"/>
              <a:t>的。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>
                <a:sym typeface="+mn-ea"/>
              </a:rPr>
              <a:t>RTprop</a:t>
            </a:r>
            <a:r>
              <a:rPr lang="zh-CN" altLang="en-US">
                <a:sym typeface="+mn-ea"/>
              </a:rPr>
              <a:t>和</a:t>
            </a:r>
            <a:r>
              <a:rPr lang="en-US" altLang="zh-CN">
                <a:sym typeface="+mn-ea"/>
              </a:rPr>
              <a:t>BtlBw</a:t>
            </a:r>
            <a:r>
              <a:rPr lang="zh-CN" altLang="en-US">
                <a:sym typeface="+mn-ea"/>
              </a:rPr>
              <a:t>分别在</a:t>
            </a:r>
            <a:r>
              <a:rPr lang="en-US" altLang="zh-CN">
                <a:sym typeface="+mn-ea"/>
              </a:rPr>
              <a:t>bandwidth limited</a:t>
            </a:r>
            <a:r>
              <a:rPr lang="zh-CN" altLang="en-US">
                <a:sym typeface="+mn-ea"/>
              </a:rPr>
              <a:t>的左界和右界被测量，因此</a:t>
            </a:r>
            <a:r>
              <a:rPr lang="zh-CN" altLang="en-US" b="1">
                <a:sym typeface="+mn-ea"/>
              </a:rPr>
              <a:t>不能同时测量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</p:txBody>
      </p:sp>
      <p:sp>
        <p:nvSpPr>
          <p:cNvPr id="17" name="圆角矩形 16"/>
          <p:cNvSpPr/>
          <p:nvPr/>
        </p:nvSpPr>
        <p:spPr>
          <a:xfrm>
            <a:off x="1747520" y="5890895"/>
            <a:ext cx="7874000" cy="68135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（</a:t>
            </a:r>
            <a:r>
              <a:rPr lang="en-US" altLang="zh-CN"/>
              <a:t>1</a:t>
            </a:r>
            <a:r>
              <a:rPr lang="zh-CN" altLang="en-US"/>
              <a:t>）需要进行状态追踪。（</a:t>
            </a:r>
            <a:r>
              <a:rPr lang="en-US" altLang="zh-CN"/>
              <a:t>2</a:t>
            </a:r>
            <a:r>
              <a:rPr lang="zh-CN" altLang="en-US"/>
              <a:t>）从操作点上学习信息以及更新信息。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4" grpId="1" animBg="1"/>
      <p:bldP spid="12" grpId="0"/>
      <p:bldP spid="16" grpId="0"/>
      <p:bldP spid="12" grpId="1"/>
      <p:bldP spid="16" grpId="1"/>
      <p:bldP spid="17" grpId="0" animBg="1"/>
      <p:bldP spid="17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8440" y="125730"/>
            <a:ext cx="4051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BBR</a:t>
            </a:r>
            <a:r>
              <a:rPr lang="zh-CN" altLang="en-US" sz="2400"/>
              <a:t>实现</a:t>
            </a:r>
            <a:r>
              <a:rPr lang="en-US" altLang="zh-CN" sz="2400"/>
              <a:t>——</a:t>
            </a:r>
            <a:r>
              <a:rPr lang="zh-CN" altLang="en-US" sz="2400"/>
              <a:t>收到</a:t>
            </a:r>
            <a:r>
              <a:rPr lang="en-US" altLang="zh-CN" sz="2400"/>
              <a:t>ACK</a:t>
            </a:r>
            <a:endParaRPr lang="en-US" altLang="zh-CN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50800" y="645795"/>
            <a:ext cx="564578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315" y="869950"/>
            <a:ext cx="8543925" cy="3829050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43865" y="3180715"/>
            <a:ext cx="6429375" cy="1170305"/>
          </a:xfrm>
          <a:prstGeom prst="rect">
            <a:avLst/>
          </a:prstGeom>
          <a:ln w="38100"/>
        </p:spPr>
        <p:style>
          <a:lnRef idx="2">
            <a:schemeClr val="accent2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>
            <a:off x="6873240" y="3614420"/>
            <a:ext cx="495935" cy="303530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554595" y="3429000"/>
            <a:ext cx="4170045" cy="7556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20000"/>
              </a:lnSpc>
            </a:pPr>
            <a:r>
              <a:rPr lang="zh-CN" altLang="en-US"/>
              <a:t>代码决定用哪些采样来更新带宽，让其反应网络限制，而非应用程序限制。</a:t>
            </a:r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1125220" y="5209540"/>
            <a:ext cx="10103485" cy="11703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受应用的限制，发送方不能填满网络。即有带宽但没数据时，</a:t>
            </a:r>
            <a:r>
              <a:rPr lang="en-US" altLang="zh-CN"/>
              <a:t>BBR</a:t>
            </a:r>
            <a:r>
              <a:rPr lang="zh-CN" altLang="en-US"/>
              <a:t>将相应的带宽采样标记为</a:t>
            </a:r>
            <a:r>
              <a:rPr lang="en-US" altLang="zh-CN"/>
              <a:t>application limited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通过</a:t>
            </a:r>
            <a:r>
              <a:rPr lang="en-US" altLang="zh-CN"/>
              <a:t>if</a:t>
            </a:r>
            <a:r>
              <a:rPr lang="zh-CN" altLang="en-US"/>
              <a:t>判断防止低估值填充</a:t>
            </a:r>
            <a:r>
              <a:rPr lang="en-US" altLang="zh-CN"/>
              <a:t>BtlBw</a:t>
            </a:r>
            <a:r>
              <a:rPr lang="zh-CN" altLang="en-US"/>
              <a:t>过滤器，避免数据发送过慢。</a:t>
            </a:r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3474085" y="2668905"/>
            <a:ext cx="1939925" cy="251460"/>
          </a:xfrm>
          <a:prstGeom prst="rect">
            <a:avLst/>
          </a:prstGeom>
          <a:ln w="28575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8" name="直接箭头连接符 17"/>
          <p:cNvCxnSpPr/>
          <p:nvPr/>
        </p:nvCxnSpPr>
        <p:spPr>
          <a:xfrm flipV="1">
            <a:off x="5229225" y="2432050"/>
            <a:ext cx="236855" cy="23685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5229225" y="1677670"/>
            <a:ext cx="314769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发送数据包</a:t>
            </a:r>
            <a:r>
              <a:rPr lang="en-US" altLang="zh-CN"/>
              <a:t>send()</a:t>
            </a:r>
            <a:r>
              <a:rPr lang="zh-CN" altLang="en-US"/>
              <a:t>时，之前总共发送的数据包数目。</a:t>
            </a:r>
            <a:endParaRPr lang="zh-CN" alt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8440" y="125730"/>
            <a:ext cx="4051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BBR</a:t>
            </a:r>
            <a:r>
              <a:rPr lang="zh-CN" altLang="en-US" sz="2400"/>
              <a:t>实现</a:t>
            </a:r>
            <a:r>
              <a:rPr lang="en-US" altLang="zh-CN" sz="2400"/>
              <a:t>——</a:t>
            </a:r>
            <a:r>
              <a:rPr lang="zh-CN" altLang="en-US" sz="2400"/>
              <a:t>数据发送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50800" y="645795"/>
            <a:ext cx="564578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45" y="845820"/>
            <a:ext cx="8239125" cy="558165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6198870" y="1619250"/>
            <a:ext cx="11703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/>
              <a:t>参数</a:t>
            </a:r>
            <a:endParaRPr lang="zh-CN" altLang="en-US" b="1"/>
          </a:p>
        </p:txBody>
      </p:sp>
      <p:sp>
        <p:nvSpPr>
          <p:cNvPr id="9" name="文本框 8"/>
          <p:cNvSpPr txBox="1"/>
          <p:nvPr/>
        </p:nvSpPr>
        <p:spPr>
          <a:xfrm>
            <a:off x="6198870" y="1987550"/>
            <a:ext cx="5422265" cy="13093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10000"/>
              </a:lnSpc>
              <a:buFont typeface="+mj-ea"/>
              <a:buAutoNum type="circleNumDbPlain"/>
            </a:pPr>
            <a:r>
              <a:rPr lang="zh-CN" altLang="en-US"/>
              <a:t>为了使数据包到达速率与瓶颈处链路速率相匹配，</a:t>
            </a:r>
            <a:r>
              <a:rPr lang="en-US" altLang="zh-CN"/>
              <a:t>BBR</a:t>
            </a:r>
            <a:r>
              <a:rPr lang="zh-CN" altLang="en-US"/>
              <a:t>会为每个数据包调速</a:t>
            </a:r>
            <a:r>
              <a:rPr lang="en-US" altLang="zh-CN"/>
              <a:t>pacing_rate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>
              <a:lnSpc>
                <a:spcPct val="110000"/>
              </a:lnSpc>
              <a:buFont typeface="+mj-ea"/>
              <a:buAutoNum type="circleNumDbPlain"/>
            </a:pPr>
            <a:r>
              <a:rPr lang="en-US" altLang="zh-CN"/>
              <a:t>cwnd_gain</a:t>
            </a:r>
            <a:r>
              <a:rPr lang="zh-CN" altLang="en-US"/>
              <a:t>是为了应对常见的网络和接收器故障问题，限制飞行包在</a:t>
            </a:r>
            <a:r>
              <a:rPr lang="en-US" altLang="zh-CN"/>
              <a:t>BDP</a:t>
            </a:r>
            <a:r>
              <a:rPr lang="zh-CN" altLang="en-US"/>
              <a:t>的小倍数范围内。</a:t>
            </a:r>
            <a:endParaRPr lang="zh-CN" altLang="en-US"/>
          </a:p>
        </p:txBody>
      </p:sp>
      <p:sp>
        <p:nvSpPr>
          <p:cNvPr id="10" name="圆角矩形 9"/>
          <p:cNvSpPr/>
          <p:nvPr/>
        </p:nvSpPr>
        <p:spPr>
          <a:xfrm>
            <a:off x="6450965" y="291465"/>
            <a:ext cx="5385435" cy="113284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在</a:t>
            </a:r>
            <a:r>
              <a:rPr lang="en-US" altLang="zh-CN"/>
              <a:t>Linux</a:t>
            </a:r>
            <a:r>
              <a:rPr lang="zh-CN" altLang="en-US"/>
              <a:t>中，发送方使用高效的</a:t>
            </a:r>
            <a:r>
              <a:rPr lang="en-US" altLang="zh-CN"/>
              <a:t>FQ/pacing queuing</a:t>
            </a:r>
            <a:r>
              <a:rPr lang="zh-CN" altLang="en-US"/>
              <a:t>规则，使</a:t>
            </a:r>
            <a:r>
              <a:rPr lang="en-US" altLang="zh-CN"/>
              <a:t>BBR</a:t>
            </a:r>
            <a:r>
              <a:rPr lang="zh-CN" altLang="en-US"/>
              <a:t>在多千兆链路上有单连接行为；处理若干低速连接几乎不需要</a:t>
            </a:r>
            <a:r>
              <a:rPr lang="en-US" altLang="zh-CN"/>
              <a:t>CPU</a:t>
            </a:r>
            <a:r>
              <a:rPr lang="zh-CN" altLang="en-US"/>
              <a:t>开销。</a:t>
            </a: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1058545" y="3268980"/>
            <a:ext cx="4659630" cy="644525"/>
          </a:xfrm>
          <a:prstGeom prst="rect">
            <a:avLst/>
          </a:prstGeom>
          <a:ln w="19050"/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>
            <a:stCxn id="11" idx="3"/>
          </p:cNvCxnSpPr>
          <p:nvPr/>
        </p:nvCxnSpPr>
        <p:spPr>
          <a:xfrm>
            <a:off x="5718175" y="3591560"/>
            <a:ext cx="347980" cy="317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6206490" y="3535680"/>
            <a:ext cx="53701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飞行包没填满带宽，处于</a:t>
            </a:r>
            <a:r>
              <a:rPr lang="en-US" altLang="zh-CN" b="1">
                <a:solidFill>
                  <a:schemeClr val="accent1"/>
                </a:solidFill>
              </a:rPr>
              <a:t>app limited</a:t>
            </a:r>
            <a:r>
              <a:rPr lang="zh-CN" altLang="en-US" b="1">
                <a:solidFill>
                  <a:schemeClr val="accent1"/>
                </a:solidFill>
              </a:rPr>
              <a:t>阶段。</a:t>
            </a:r>
            <a:endParaRPr lang="zh-CN" altLang="en-US" b="1">
              <a:solidFill>
                <a:schemeClr val="accent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0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8440" y="125730"/>
            <a:ext cx="4051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BBR</a:t>
            </a:r>
            <a:r>
              <a:rPr lang="zh-CN" altLang="en-US" sz="2400"/>
              <a:t>应用</a:t>
            </a:r>
            <a:r>
              <a:rPr lang="en-US" altLang="zh-CN" sz="2400"/>
              <a:t>——</a:t>
            </a:r>
            <a:r>
              <a:rPr lang="zh-CN" altLang="en-US" sz="2400"/>
              <a:t>稳态行为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50800" y="645795"/>
            <a:ext cx="564578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3670" y="798830"/>
            <a:ext cx="6045200" cy="574611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6569710" y="645795"/>
            <a:ext cx="1207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思想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525260" y="1024890"/>
            <a:ext cx="5436870" cy="14198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/>
              <a:t>BBR</a:t>
            </a:r>
            <a:r>
              <a:rPr lang="zh-CN" altLang="en-US"/>
              <a:t>通过</a:t>
            </a:r>
            <a:r>
              <a:rPr lang="en-US" altLang="zh-CN"/>
              <a:t>BtlBw</a:t>
            </a:r>
            <a:r>
              <a:rPr lang="zh-CN" altLang="en-US"/>
              <a:t>的估计量进行调速，让大多数时间里链路上只有一个</a:t>
            </a:r>
            <a:r>
              <a:rPr lang="en-US" altLang="zh-CN"/>
              <a:t>BDP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en-US" altLang="zh-CN"/>
              <a:t>BBR</a:t>
            </a:r>
            <a:r>
              <a:rPr lang="zh-CN" altLang="en-US"/>
              <a:t>周期性的（每个</a:t>
            </a:r>
            <a:r>
              <a:rPr lang="en-US" altLang="zh-CN"/>
              <a:t>RTprop</a:t>
            </a:r>
            <a:r>
              <a:rPr lang="zh-CN" altLang="en-US"/>
              <a:t>）设置</a:t>
            </a:r>
            <a:r>
              <a:rPr lang="en-US" altLang="zh-CN"/>
              <a:t>pacing_gain&gt;1</a:t>
            </a:r>
            <a:r>
              <a:rPr lang="zh-CN" altLang="en-US"/>
              <a:t>，增加发送速率和飞行包数目。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6525260" y="2612390"/>
            <a:ext cx="12071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1"/>
                </a:solidFill>
              </a:rPr>
              <a:t>过程</a:t>
            </a:r>
            <a:endParaRPr lang="zh-CN" altLang="en-US" b="1">
              <a:solidFill>
                <a:schemeClr val="accent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25260" y="2938780"/>
            <a:ext cx="5436870" cy="2084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设置</a:t>
            </a:r>
            <a:r>
              <a:rPr lang="en-US" altLang="zh-CN">
                <a:sym typeface="+mn-ea"/>
              </a:rPr>
              <a:t>pacing_gain&gt;1</a:t>
            </a:r>
            <a:r>
              <a:rPr lang="zh-CN" altLang="en-US">
                <a:sym typeface="+mn-ea"/>
              </a:rPr>
              <a:t>，</a:t>
            </a:r>
            <a:r>
              <a:rPr lang="zh-CN" altLang="en-US"/>
              <a:t>如果</a:t>
            </a:r>
            <a:r>
              <a:rPr lang="en-US" altLang="zh-CN"/>
              <a:t>BtlBw</a:t>
            </a:r>
            <a:r>
              <a:rPr lang="zh-CN" altLang="en-US"/>
              <a:t>没增加，说明瓶颈处有队列排队，</a:t>
            </a:r>
            <a:r>
              <a:rPr lang="en-US" altLang="zh-CN"/>
              <a:t>RTT</a:t>
            </a:r>
            <a:r>
              <a:rPr lang="zh-CN" altLang="en-US"/>
              <a:t>增加，但</a:t>
            </a:r>
            <a:r>
              <a:rPr lang="en-US" altLang="zh-CN"/>
              <a:t>delivery_rate</a:t>
            </a:r>
            <a:r>
              <a:rPr lang="zh-CN" altLang="en-US"/>
              <a:t>恒定。（瓶颈处的队列需要下一周期</a:t>
            </a:r>
            <a:r>
              <a:rPr lang="en-US" altLang="zh-CN">
                <a:sym typeface="+mn-ea"/>
              </a:rPr>
              <a:t>pacing_gain&lt;1</a:t>
            </a:r>
            <a:r>
              <a:rPr lang="zh-CN" altLang="en-US"/>
              <a:t>）来消除。</a:t>
            </a:r>
            <a:endParaRPr lang="zh-CN" altLang="en-US"/>
          </a:p>
          <a:p>
            <a:pPr marL="285750" indent="-285750">
              <a:lnSpc>
                <a:spcPct val="120000"/>
              </a:lnSpc>
              <a:buFont typeface="Wingdings" panose="05000000000000000000" charset="0"/>
              <a:buChar char="Ø"/>
            </a:pPr>
            <a:r>
              <a:rPr lang="zh-CN" altLang="en-US"/>
              <a:t>如果</a:t>
            </a:r>
            <a:r>
              <a:rPr lang="en-US" altLang="zh-CN"/>
              <a:t>BtlBw</a:t>
            </a:r>
            <a:r>
              <a:rPr lang="zh-CN" altLang="en-US"/>
              <a:t>增加了，</a:t>
            </a:r>
            <a:r>
              <a:rPr lang="en-US" altLang="zh-CN"/>
              <a:t>delivery_rate</a:t>
            </a:r>
            <a:r>
              <a:rPr lang="zh-CN" altLang="en-US"/>
              <a:t>增加了，那么最大值立刻填充</a:t>
            </a:r>
            <a:r>
              <a:rPr lang="en-US" altLang="zh-CN"/>
              <a:t>BtlBw</a:t>
            </a:r>
            <a:r>
              <a:rPr lang="zh-CN" altLang="en-US"/>
              <a:t>过滤器，从而增大基调节速率。</a:t>
            </a:r>
            <a:endParaRPr lang="zh-CN" altLang="en-US"/>
          </a:p>
        </p:txBody>
      </p:sp>
      <p:sp>
        <p:nvSpPr>
          <p:cNvPr id="15" name="圆角矩形 14"/>
          <p:cNvSpPr/>
          <p:nvPr/>
        </p:nvSpPr>
        <p:spPr>
          <a:xfrm>
            <a:off x="6799580" y="5305425"/>
            <a:ext cx="4895850" cy="91884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BBR</a:t>
            </a:r>
            <a:r>
              <a:rPr lang="zh-CN" altLang="en-US"/>
              <a:t>以指数级速率快速收敛到新的瓶颈速率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5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8440" y="125730"/>
            <a:ext cx="4051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BBR</a:t>
            </a:r>
            <a:r>
              <a:rPr lang="zh-CN" altLang="en-US" sz="2400"/>
              <a:t>应用</a:t>
            </a:r>
            <a:r>
              <a:rPr lang="en-US" altLang="zh-CN" sz="2400"/>
              <a:t>——</a:t>
            </a:r>
            <a:r>
              <a:rPr lang="zh-CN" altLang="en-US" sz="2400"/>
              <a:t>稳态行为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50800" y="645795"/>
            <a:ext cx="564578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7970" y="652780"/>
            <a:ext cx="6087745" cy="32124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0560" y="3865245"/>
            <a:ext cx="6440805" cy="2967990"/>
          </a:xfrm>
          <a:prstGeom prst="rect">
            <a:avLst/>
          </a:prstGeom>
        </p:spPr>
      </p:pic>
      <p:sp>
        <p:nvSpPr>
          <p:cNvPr id="11" name="左箭头标注 10"/>
          <p:cNvSpPr/>
          <p:nvPr/>
        </p:nvSpPr>
        <p:spPr>
          <a:xfrm>
            <a:off x="6443980" y="1090295"/>
            <a:ext cx="4814570" cy="79311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988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一个</a:t>
            </a:r>
            <a:r>
              <a:rPr lang="en-US" altLang="zh-CN">
                <a:sym typeface="+mn-ea"/>
              </a:rPr>
              <a:t>10Mbps</a:t>
            </a:r>
            <a:r>
              <a:rPr lang="zh-CN" altLang="en-US">
                <a:sym typeface="+mn-ea"/>
              </a:rPr>
              <a:t>、</a:t>
            </a:r>
            <a:r>
              <a:rPr lang="en-US" altLang="zh-CN">
                <a:sym typeface="+mn-ea"/>
              </a:rPr>
              <a:t>40ms</a:t>
            </a:r>
            <a:r>
              <a:rPr lang="zh-CN" altLang="en-US">
                <a:sym typeface="+mn-ea"/>
              </a:rPr>
              <a:t>的流，</a:t>
            </a:r>
            <a:r>
              <a:rPr lang="en-US" altLang="zh-CN">
                <a:sym typeface="+mn-ea"/>
              </a:rPr>
              <a:t>BtlBw</a:t>
            </a:r>
            <a:r>
              <a:rPr lang="zh-CN" altLang="en-US">
                <a:sym typeface="+mn-ea"/>
              </a:rPr>
              <a:t>在稳定运行</a:t>
            </a:r>
            <a:r>
              <a:rPr lang="en-US" altLang="zh-CN">
                <a:sym typeface="+mn-ea"/>
              </a:rPr>
              <a:t>20</a:t>
            </a:r>
            <a:r>
              <a:rPr lang="zh-CN" altLang="en-US">
                <a:sym typeface="+mn-ea"/>
              </a:rPr>
              <a:t>秒后突然加倍到</a:t>
            </a:r>
            <a:r>
              <a:rPr lang="en-US" altLang="zh-CN">
                <a:sym typeface="+mn-ea"/>
              </a:rPr>
              <a:t>20Mbps</a:t>
            </a:r>
            <a:endParaRPr lang="zh-CN" altLang="en-US"/>
          </a:p>
        </p:txBody>
      </p:sp>
      <p:sp>
        <p:nvSpPr>
          <p:cNvPr id="13" name="左箭头标注 12"/>
          <p:cNvSpPr/>
          <p:nvPr/>
        </p:nvSpPr>
        <p:spPr>
          <a:xfrm flipH="1">
            <a:off x="626110" y="4108450"/>
            <a:ext cx="4814570" cy="793115"/>
          </a:xfrm>
          <a:prstGeom prst="leftArrowCallout">
            <a:avLst>
              <a:gd name="adj1" fmla="val 25000"/>
              <a:gd name="adj2" fmla="val 25000"/>
              <a:gd name="adj3" fmla="val 25000"/>
              <a:gd name="adj4" fmla="val 89885"/>
            </a:avLst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随后在保持</a:t>
            </a:r>
            <a:r>
              <a:rPr lang="en-US" altLang="zh-CN"/>
              <a:t>20Mbps</a:t>
            </a:r>
            <a:r>
              <a:rPr lang="zh-CN" altLang="en-US"/>
              <a:t>稳定运行</a:t>
            </a:r>
            <a:r>
              <a:rPr lang="en-US" altLang="zh-CN"/>
              <a:t>20</a:t>
            </a:r>
            <a:r>
              <a:rPr lang="zh-CN" altLang="en-US"/>
              <a:t>秒后又回落至</a:t>
            </a:r>
            <a:r>
              <a:rPr lang="en-US" altLang="zh-CN"/>
              <a:t>10Mbps</a:t>
            </a:r>
            <a:endParaRPr lang="en-US" altLang="zh-CN"/>
          </a:p>
        </p:txBody>
      </p:sp>
      <p:sp>
        <p:nvSpPr>
          <p:cNvPr id="17" name="文本框 16"/>
          <p:cNvSpPr txBox="1"/>
          <p:nvPr/>
        </p:nvSpPr>
        <p:spPr>
          <a:xfrm>
            <a:off x="6703060" y="2209800"/>
            <a:ext cx="5222240" cy="1087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/>
              <a:t>BW</a:t>
            </a:r>
            <a:r>
              <a:rPr lang="zh-CN" altLang="en-US"/>
              <a:t>指数级增长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飞行包估值翻倍，链路充满。</a:t>
            </a:r>
            <a:endParaRPr lang="zh-CN" altLang="en-US"/>
          </a:p>
          <a:p>
            <a:pPr marL="285750" indent="-285750">
              <a:buFont typeface="Wingdings" panose="05000000000000000000" charset="0"/>
              <a:buChar char="Ø"/>
            </a:pP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18440" y="5047615"/>
            <a:ext cx="5629910" cy="15601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/>
              <a:t>BtlBw</a:t>
            </a:r>
            <a:r>
              <a:rPr lang="zh-CN" altLang="en-US"/>
              <a:t>减半；飞行包数目超过管道，导致</a:t>
            </a:r>
            <a:r>
              <a:rPr lang="en-US" altLang="zh-CN"/>
              <a:t>RTT</a:t>
            </a:r>
            <a:r>
              <a:rPr lang="zh-CN" altLang="en-US"/>
              <a:t>增加。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/>
              <a:t>inflight</a:t>
            </a:r>
            <a:r>
              <a:rPr lang="zh-CN" altLang="en-US"/>
              <a:t>增加，推高</a:t>
            </a:r>
            <a:r>
              <a:rPr lang="en-US" altLang="zh-CN"/>
              <a:t>RTT</a:t>
            </a:r>
            <a:r>
              <a:rPr lang="zh-CN" altLang="en-US"/>
              <a:t>，直至被</a:t>
            </a:r>
            <a:r>
              <a:rPr lang="en-US" altLang="zh-CN"/>
              <a:t>cwnd_gain</a:t>
            </a:r>
            <a:r>
              <a:rPr lang="zh-CN" altLang="en-US"/>
              <a:t>锁定。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en-US" altLang="zh-CN"/>
              <a:t>20Mbps BtlBw</a:t>
            </a:r>
            <a:r>
              <a:rPr lang="zh-CN" altLang="en-US"/>
              <a:t>超时，无法通过筛选器。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r>
              <a:rPr lang="zh-CN" altLang="en-US"/>
              <a:t>飞行包减少，</a:t>
            </a:r>
            <a:r>
              <a:rPr lang="en-US" altLang="zh-CN"/>
              <a:t>RTT</a:t>
            </a:r>
            <a:r>
              <a:rPr lang="zh-CN" altLang="en-US"/>
              <a:t>降低，直到最佳状态。。。</a:t>
            </a: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endParaRPr lang="zh-CN" altLang="en-US"/>
          </a:p>
          <a:p>
            <a:pPr marL="285750" indent="-285750">
              <a:lnSpc>
                <a:spcPct val="130000"/>
              </a:lnSpc>
              <a:buFont typeface="Wingdings" panose="05000000000000000000" charset="0"/>
              <a:buChar char="Ø"/>
            </a:pP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7" grpId="1"/>
      <p:bldP spid="18" grpId="0"/>
      <p:bldP spid="18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8440" y="125730"/>
            <a:ext cx="40519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BBR</a:t>
            </a:r>
            <a:r>
              <a:rPr lang="zh-CN" altLang="en-US" sz="2400"/>
              <a:t>应用</a:t>
            </a:r>
            <a:r>
              <a:rPr lang="en-US" altLang="zh-CN" sz="2400"/>
              <a:t>——</a:t>
            </a:r>
            <a:r>
              <a:rPr lang="zh-CN" altLang="en-US" sz="2400"/>
              <a:t>单个</a:t>
            </a:r>
            <a:r>
              <a:rPr lang="en-US" altLang="zh-CN" sz="2400"/>
              <a:t>BBR</a:t>
            </a:r>
            <a:r>
              <a:rPr lang="zh-CN" altLang="en-US" sz="2400"/>
              <a:t>流启动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50800" y="645795"/>
            <a:ext cx="564578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49595" y="669290"/>
            <a:ext cx="6426200" cy="483425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885" y="3737610"/>
            <a:ext cx="5511165" cy="303149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043930" y="5654040"/>
            <a:ext cx="563689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没有参数告诉</a:t>
            </a:r>
            <a:r>
              <a:rPr lang="en-US" altLang="zh-CN"/>
              <a:t>Cubic</a:t>
            </a:r>
            <a:r>
              <a:rPr lang="zh-CN" altLang="en-US"/>
              <a:t>多少飞行包是多余的，</a:t>
            </a:r>
            <a:r>
              <a:rPr lang="en-US" altLang="zh-CN"/>
              <a:t>Cubic</a:t>
            </a:r>
            <a:r>
              <a:rPr lang="zh-CN" altLang="en-US"/>
              <a:t>会降低飞行包的增长速度，</a:t>
            </a:r>
            <a:r>
              <a:rPr lang="zh-CN" altLang="en-US">
                <a:solidFill>
                  <a:schemeClr val="accent1"/>
                </a:solidFill>
              </a:rPr>
              <a:t>直到瓶颈缓冲区满并丢包，或达到了接收方的飞行包限制（</a:t>
            </a:r>
            <a:r>
              <a:rPr lang="en-US" altLang="zh-CN">
                <a:solidFill>
                  <a:schemeClr val="accent1"/>
                </a:solidFill>
              </a:rPr>
              <a:t>TCP</a:t>
            </a:r>
            <a:r>
              <a:rPr lang="zh-CN" altLang="en-US">
                <a:solidFill>
                  <a:schemeClr val="accent1"/>
                </a:solidFill>
              </a:rPr>
              <a:t>接收窗口）。</a:t>
            </a:r>
            <a:endParaRPr lang="zh-CN" altLang="en-US">
              <a:solidFill>
                <a:schemeClr val="accent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文本框 6"/>
              <p:cNvSpPr txBox="1"/>
              <p:nvPr/>
            </p:nvSpPr>
            <p:spPr>
              <a:xfrm>
                <a:off x="229235" y="779780"/>
                <a:ext cx="5377815" cy="27482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lang="en-US" altLang="zh-CN"/>
                  <a:t>BBR</a:t>
                </a:r>
                <a:r>
                  <a:rPr lang="zh-CN" altLang="en-US"/>
                  <a:t>在连接开始时会有</a:t>
                </a:r>
                <a:r>
                  <a:rPr lang="en-US" altLang="zh-CN">
                    <a:solidFill>
                      <a:schemeClr val="accent6"/>
                    </a:solidFill>
                  </a:rPr>
                  <a:t>Startup</a:t>
                </a:r>
                <a:r>
                  <a:rPr lang="zh-CN" altLang="en-US">
                    <a:solidFill>
                      <a:schemeClr val="accent6"/>
                    </a:solidFill>
                  </a:rPr>
                  <a:t>和</a:t>
                </a:r>
                <a:r>
                  <a:rPr lang="en-US" altLang="zh-CN">
                    <a:solidFill>
                      <a:schemeClr val="accent6"/>
                    </a:solidFill>
                  </a:rPr>
                  <a:t>Drain</a:t>
                </a:r>
                <a:r>
                  <a:rPr lang="zh-CN" altLang="en-US">
                    <a:solidFill>
                      <a:schemeClr val="accent6"/>
                    </a:solidFill>
                  </a:rPr>
                  <a:t>两个状态</a:t>
                </a:r>
                <a:r>
                  <a:rPr lang="zh-CN" altLang="en-US"/>
                  <a:t>。</a:t>
                </a:r>
                <a:endParaRPr lang="zh-CN" altLang="en-US"/>
              </a:p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lang="en-US" altLang="zh-CN">
                    <a:sym typeface="+mn-ea"/>
                  </a:rPr>
                  <a:t>Startup</a:t>
                </a:r>
                <a:r>
                  <a:rPr lang="zh-CN" altLang="en-US">
                    <a:sym typeface="+mn-ea"/>
                  </a:rPr>
                  <a:t>使用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fPr>
                      <m:num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num>
                      <m:den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𝑙𝑛</m:t>
                        </m:r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2</m:t>
                        </m:r>
                      </m:den>
                    </m:f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的增益让发送方速率加倍，用这种方法来</a:t>
                </a:r>
                <a:r>
                  <a:rPr lang="zh-CN" altLang="en-US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二分查找</a:t>
                </a:r>
                <a:r>
                  <a:rPr lang="en-US" altLang="zh-CN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BtlBw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这可以在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</m:ctrlPr>
                      </m:funcPr>
                      <m:fName>
                        <m:sSub>
                          <m:sSubPr>
                            <m:ctrlPr>
                              <a:rPr lang="en-US" altLang="zh-CN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zh-CN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log</m:t>
                            </m:r>
                          </m:e>
                          <m:sub>
                            <m:r>
                              <a:rPr lang="en-US" altLang="zh-CN" i="1">
                                <a:latin typeface="Cambria Math" panose="02040503050406030204" charset="0"/>
                                <a:cs typeface="Cambria Math" panose="02040503050406030204" charset="0"/>
                                <a:sym typeface="+mn-ea"/>
                              </a:rPr>
                              <m:t>2</m:t>
                            </m:r>
                          </m:sub>
                        </m:sSub>
                      </m:fName>
                      <m:e>
                        <m:r>
                          <a:rPr lang="en-US" altLang="zh-CN" i="1">
                            <a:latin typeface="Cambria Math" panose="02040503050406030204" charset="0"/>
                            <a:cs typeface="Cambria Math" panose="02040503050406030204" charset="0"/>
                            <a:sym typeface="+mn-ea"/>
                          </a:rPr>
                          <m:t>𝐵𝐷𝑃</m:t>
                        </m:r>
                      </m:e>
                    </m:func>
                  </m:oMath>
                </a14:m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个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RTT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内找到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BtlBw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，但会在查找过程中让</a:t>
                </a:r>
                <a:r>
                  <a:rPr lang="zh-CN" altLang="en-US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队列增加</a:t>
                </a:r>
                <a:r>
                  <a:rPr lang="en-US" altLang="zh-CN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2BDP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的额外长度。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  <a:p>
                <a:pPr marL="285750" indent="-285750">
                  <a:lnSpc>
                    <a:spcPct val="120000"/>
                  </a:lnSpc>
                  <a:buFont typeface="Wingdings" panose="05000000000000000000" charset="0"/>
                  <a:buChar char="Ø"/>
                </a:pP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一旦找到了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BtlBw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，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BBR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转化为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Drain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模式，使用与</a:t>
                </a:r>
                <a:r>
                  <a:rPr lang="en-US" altLang="zh-CN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Startup</a:t>
                </a:r>
                <a:r>
                  <a:rPr lang="zh-CN" altLang="en-US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相反的增益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来避免队列增长，然后当飞行包减为</a:t>
                </a:r>
                <a:r>
                  <a:rPr lang="en-US" altLang="zh-CN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1BDP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时转化为</a:t>
                </a:r>
                <a:r>
                  <a:rPr lang="en-US" altLang="zh-CN">
                    <a:solidFill>
                      <a:schemeClr val="accent6"/>
                    </a:solidFill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ProbeBw</a:t>
                </a:r>
                <a:r>
                  <a:rPr lang="zh-CN" altLang="en-US">
                    <a:latin typeface="Cambria Math" panose="02040503050406030204" charset="0"/>
                    <a:cs typeface="Cambria Math" panose="02040503050406030204" charset="0"/>
                    <a:sym typeface="+mn-ea"/>
                  </a:rPr>
                  <a:t>。</a:t>
                </a:r>
                <a:endParaRPr lang="zh-CN" altLang="en-US">
                  <a:latin typeface="Cambria Math" panose="02040503050406030204" charset="0"/>
                  <a:cs typeface="Cambria Math" panose="02040503050406030204" charset="0"/>
                  <a:sym typeface="+mn-ea"/>
                </a:endParaRPr>
              </a:p>
            </p:txBody>
          </p:sp>
        </mc:Choice>
        <mc:Fallback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9235" y="779780"/>
                <a:ext cx="5377815" cy="274828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218440" y="125730"/>
            <a:ext cx="631888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400"/>
              <a:t>BBR</a:t>
            </a:r>
            <a:r>
              <a:rPr lang="zh-CN" altLang="en-US" sz="2400"/>
              <a:t>应用</a:t>
            </a:r>
            <a:r>
              <a:rPr lang="en-US" altLang="zh-CN" sz="2400"/>
              <a:t>——</a:t>
            </a:r>
            <a:r>
              <a:rPr lang="zh-CN" altLang="en-US" sz="2400"/>
              <a:t>共享瓶颈的多个</a:t>
            </a:r>
            <a:r>
              <a:rPr lang="en-US" altLang="zh-CN" sz="2400"/>
              <a:t>BBR</a:t>
            </a:r>
            <a:r>
              <a:rPr lang="zh-CN" altLang="en-US" sz="2400"/>
              <a:t>流行为</a:t>
            </a:r>
            <a:endParaRPr lang="zh-CN" altLang="en-US" sz="2400"/>
          </a:p>
        </p:txBody>
      </p:sp>
      <p:cxnSp>
        <p:nvCxnSpPr>
          <p:cNvPr id="3" name="直接连接符 2"/>
          <p:cNvCxnSpPr/>
          <p:nvPr/>
        </p:nvCxnSpPr>
        <p:spPr>
          <a:xfrm>
            <a:off x="50800" y="645795"/>
            <a:ext cx="5645785" cy="6985"/>
          </a:xfrm>
          <a:prstGeom prst="line">
            <a:avLst/>
          </a:prstGeom>
          <a:ln w="31750">
            <a:gradFill>
              <a:gsLst>
                <a:gs pos="0">
                  <a:schemeClr val="accent1">
                    <a:hueOff val="-4200000"/>
                  </a:schemeClr>
                </a:gs>
                <a:gs pos="100000">
                  <a:schemeClr val="accent1"/>
                </a:gs>
              </a:gsLst>
            </a:gradFill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9270" y="2637790"/>
            <a:ext cx="5946775" cy="312674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59105" y="808990"/>
            <a:ext cx="5998210" cy="20288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en-US" altLang="zh-CN"/>
              <a:t>ProbeBw</a:t>
            </a:r>
            <a:r>
              <a:rPr lang="zh-CN" altLang="en-US"/>
              <a:t>的循环增益会将大流带宽分配给小流，每个流都获得公平份额（这个过程仅需几个</a:t>
            </a:r>
            <a:r>
              <a:rPr lang="en-US" altLang="zh-CN"/>
              <a:t>ProbeBw</a:t>
            </a:r>
            <a:r>
              <a:rPr lang="zh-CN" altLang="en-US"/>
              <a:t>周期），然后返回之前状态。</a:t>
            </a:r>
            <a:endParaRPr lang="zh-CN" altLang="en-US"/>
          </a:p>
          <a:p>
            <a:pPr marL="342900" indent="-342900">
              <a:lnSpc>
                <a:spcPct val="120000"/>
              </a:lnSpc>
              <a:buFont typeface="+mj-ea"/>
              <a:buAutoNum type="circleNumDbPlain"/>
            </a:pPr>
            <a:r>
              <a:rPr lang="zh-CN" altLang="en-US"/>
              <a:t>进入</a:t>
            </a:r>
            <a:r>
              <a:rPr lang="en-US" altLang="zh-CN"/>
              <a:t>ProbeRTT</a:t>
            </a:r>
            <a:r>
              <a:rPr lang="zh-CN" altLang="en-US"/>
              <a:t>的大量数据流会从队列中移除许多数据包，大多数流分布式协同获得新的</a:t>
            </a:r>
            <a:r>
              <a:rPr lang="en-US" altLang="zh-CN"/>
              <a:t>RTprop</a:t>
            </a:r>
            <a:r>
              <a:rPr lang="zh-CN" altLang="en-US"/>
              <a:t>。</a:t>
            </a:r>
            <a:endParaRPr lang="zh-CN" altLang="en-US"/>
          </a:p>
          <a:p>
            <a:pPr marL="342900" indent="-342900">
              <a:buFont typeface="+mj-ea"/>
              <a:buAutoNum type="circleNumDbPlain"/>
            </a:pPr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800100" y="5898515"/>
            <a:ext cx="5155565" cy="61468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下三角结构表示进入</a:t>
            </a:r>
            <a:r>
              <a:rPr lang="en-US" altLang="zh-CN"/>
              <a:t>ProbeRTT</a:t>
            </a:r>
            <a:r>
              <a:rPr lang="zh-CN" altLang="en-US"/>
              <a:t>状态</a:t>
            </a:r>
            <a:endParaRPr lang="zh-CN" altLang="en-US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7715" y="63500"/>
            <a:ext cx="2912110" cy="6731635"/>
          </a:xfrm>
          <a:prstGeom prst="rect">
            <a:avLst/>
          </a:prstGeom>
        </p:spPr>
      </p:pic>
      <p:sp>
        <p:nvSpPr>
          <p:cNvPr id="19" name="圆角矩形 18"/>
          <p:cNvSpPr/>
          <p:nvPr/>
        </p:nvSpPr>
        <p:spPr>
          <a:xfrm>
            <a:off x="10029825" y="1483995"/>
            <a:ext cx="1800225" cy="3510915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ym typeface="+mn-ea"/>
              </a:rPr>
              <a:t>这种设计将带宽探测（高频、主动）和时延探测（低频、被动</a:t>
            </a:r>
            <a:r>
              <a:rPr lang="en-US" altLang="zh-CN">
                <a:sym typeface="+mn-ea"/>
              </a:rPr>
              <a:t>/</a:t>
            </a:r>
            <a:r>
              <a:rPr lang="zh-CN" altLang="en-US">
                <a:sym typeface="+mn-ea"/>
              </a:rPr>
              <a:t>按需）分离开，使得</a:t>
            </a:r>
            <a:r>
              <a:rPr lang="en-US" altLang="zh-CN">
                <a:sym typeface="+mn-ea"/>
              </a:rPr>
              <a:t> BBR </a:t>
            </a:r>
            <a:r>
              <a:rPr lang="zh-CN" altLang="en-US">
                <a:sym typeface="+mn-ea"/>
              </a:rPr>
              <a:t>能够同时高效地估计带宽和</a:t>
            </a:r>
            <a:r>
              <a:rPr lang="en-US" altLang="zh-CN">
                <a:sym typeface="+mn-ea"/>
              </a:rPr>
              <a:t> RTT</a:t>
            </a:r>
            <a:r>
              <a:rPr lang="zh-CN" altLang="en-US">
                <a:sym typeface="+mn-ea"/>
              </a:rPr>
              <a:t>，而不会因为频繁的</a:t>
            </a:r>
            <a:r>
              <a:rPr lang="en-US" altLang="zh-CN">
                <a:sym typeface="+mn-ea"/>
              </a:rPr>
              <a:t> ProbeRTT </a:t>
            </a:r>
            <a:r>
              <a:rPr lang="zh-CN" altLang="en-US">
                <a:sym typeface="+mn-ea"/>
              </a:rPr>
              <a:t>而牺牲吞吐量。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4" grpId="1" animBg="1"/>
      <p:bldP spid="19" grpId="0" animBg="1"/>
      <p:bldP spid="19" grpId="1" animBg="1"/>
    </p:bldLst>
  </p:timing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3433</Words>
  <Application>WPS 演示</Application>
  <PresentationFormat>宽屏</PresentationFormat>
  <Paragraphs>199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宋体</vt:lpstr>
      <vt:lpstr>Wingdings</vt:lpstr>
      <vt:lpstr>Arial Unicode MS</vt:lpstr>
      <vt:lpstr>Calibri</vt:lpstr>
      <vt:lpstr>微软雅黑</vt:lpstr>
      <vt:lpstr>Wingdings</vt:lpstr>
      <vt:lpstr>Cambria Math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 Gao</dc:creator>
  <cp:lastModifiedBy>WPS_1688450449</cp:lastModifiedBy>
  <cp:revision>9</cp:revision>
  <dcterms:created xsi:type="dcterms:W3CDTF">2023-08-09T12:44:00Z</dcterms:created>
  <dcterms:modified xsi:type="dcterms:W3CDTF">2025-10-01T03:01:27Z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0FFB374EF87741258E9EC42A4DEF22FC_13</vt:lpwstr>
  </property>
</Properties>
</file>