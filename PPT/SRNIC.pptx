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3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.pn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3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085" y="45085"/>
            <a:ext cx="10069195" cy="32531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21990" y="3695065"/>
            <a:ext cx="5948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在</a:t>
            </a:r>
            <a:r>
              <a:rPr lang="en-US" altLang="zh-CN" sz="2000" b="1"/>
              <a:t>IRN</a:t>
            </a:r>
            <a:r>
              <a:rPr lang="zh-CN" altLang="en-US" sz="2000" b="1"/>
              <a:t>基础上对</a:t>
            </a:r>
            <a:r>
              <a:rPr lang="en-US" altLang="zh-CN" sz="2000" b="1"/>
              <a:t>RDMA</a:t>
            </a:r>
            <a:r>
              <a:rPr lang="zh-CN" altLang="en-US" sz="2000" b="1"/>
              <a:t>硬件结构进行优化</a:t>
            </a:r>
            <a:endParaRPr lang="zh-CN" altLang="en-US" sz="2000" b="1"/>
          </a:p>
        </p:txBody>
      </p:sp>
      <p:sp>
        <p:nvSpPr>
          <p:cNvPr id="9" name="圆角矩形 8"/>
          <p:cNvSpPr/>
          <p:nvPr/>
        </p:nvSpPr>
        <p:spPr>
          <a:xfrm>
            <a:off x="871855" y="4848225"/>
            <a:ext cx="3092450" cy="1096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当前</a:t>
            </a:r>
            <a:r>
              <a:rPr lang="en-US" altLang="zh-CN"/>
              <a:t>RDMA</a:t>
            </a:r>
            <a:r>
              <a:rPr lang="zh-CN" altLang="en-US"/>
              <a:t>如何实现网络可扩展性和连接可扩展性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4620895" y="4891405"/>
            <a:ext cx="3056890" cy="10026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通过</a:t>
            </a:r>
            <a:r>
              <a:rPr lang="en-US" altLang="zh-CN"/>
              <a:t>IRN</a:t>
            </a:r>
            <a:r>
              <a:rPr lang="zh-CN" altLang="en-US"/>
              <a:t>实现网络可扩展，但</a:t>
            </a:r>
            <a:r>
              <a:rPr lang="en-US" altLang="zh-CN"/>
              <a:t>IRN</a:t>
            </a:r>
            <a:r>
              <a:rPr lang="zh-CN" altLang="en-US"/>
              <a:t>需占用网卡更多内存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8334375" y="4848225"/>
            <a:ext cx="2566670" cy="10382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通过</a:t>
            </a:r>
            <a:r>
              <a:rPr lang="en-US" altLang="zh-CN"/>
              <a:t>CPU</a:t>
            </a:r>
            <a:r>
              <a:rPr lang="zh-CN" altLang="en-US"/>
              <a:t>协助，主机缓存方式优化</a:t>
            </a:r>
            <a:r>
              <a:rPr lang="en-US" altLang="zh-CN"/>
              <a:t>RNIC</a:t>
            </a:r>
            <a:r>
              <a:rPr lang="zh-CN" altLang="en-US"/>
              <a:t>内存</a:t>
            </a:r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4144645" y="5165725"/>
            <a:ext cx="295910" cy="3244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7887335" y="5259705"/>
            <a:ext cx="295275" cy="2806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网络可扩展性</a:t>
            </a:r>
            <a:r>
              <a:rPr lang="en-US" altLang="zh-CN" sz="2000"/>
              <a:t>&amp;</a:t>
            </a:r>
            <a:r>
              <a:rPr lang="zh-CN" altLang="en-US" sz="2000"/>
              <a:t>连接可扩展性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31165" y="905510"/>
            <a:ext cx="263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网络可扩展性</a:t>
            </a:r>
            <a:endParaRPr lang="zh-CN" altLang="en-US" b="1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31165" y="3475355"/>
            <a:ext cx="263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连接可扩展性</a:t>
            </a:r>
            <a:endParaRPr lang="zh-CN" altLang="en-US" b="1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176655" y="1490345"/>
            <a:ext cx="10406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PFC</a:t>
            </a:r>
            <a:r>
              <a:rPr lang="zh-CN" altLang="en-US"/>
              <a:t>是保证</a:t>
            </a:r>
            <a:r>
              <a:rPr lang="en-US" altLang="zh-CN"/>
              <a:t>RDMA</a:t>
            </a:r>
            <a:r>
              <a:rPr lang="zh-CN" altLang="en-US"/>
              <a:t>无损网络的基石，但是</a:t>
            </a:r>
            <a:r>
              <a:rPr lang="en-US" altLang="zh-CN"/>
              <a:t>PFC</a:t>
            </a:r>
            <a:r>
              <a:rPr lang="zh-CN" altLang="en-US"/>
              <a:t>在大规模集群中会有队头堵塞，拥塞传播，死锁等问题。</a:t>
            </a:r>
            <a:endParaRPr lang="zh-CN" altLang="en-US"/>
          </a:p>
        </p:txBody>
      </p:sp>
      <p:sp>
        <p:nvSpPr>
          <p:cNvPr id="9" name="下箭头 8"/>
          <p:cNvSpPr/>
          <p:nvPr>
            <p:custDataLst>
              <p:tags r:id="rId4"/>
            </p:custDataLst>
          </p:nvPr>
        </p:nvSpPr>
        <p:spPr>
          <a:xfrm>
            <a:off x="4935855" y="1960245"/>
            <a:ext cx="468630" cy="2781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279525" y="2289810"/>
            <a:ext cx="9404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IRN</a:t>
            </a:r>
            <a:r>
              <a:rPr lang="zh-CN" altLang="en-US"/>
              <a:t>将</a:t>
            </a:r>
            <a:r>
              <a:rPr lang="en-US" altLang="zh-CN"/>
              <a:t>go-back-n</a:t>
            </a:r>
            <a:r>
              <a:rPr lang="zh-CN" altLang="en-US"/>
              <a:t>变为了</a:t>
            </a:r>
            <a:r>
              <a:rPr lang="en-US" altLang="zh-CN"/>
              <a:t>SR</a:t>
            </a:r>
            <a:r>
              <a:rPr lang="zh-CN" altLang="en-US"/>
              <a:t>，消除了</a:t>
            </a:r>
            <a:r>
              <a:rPr lang="en-US" altLang="zh-CN"/>
              <a:t>PFC</a:t>
            </a:r>
            <a:r>
              <a:rPr lang="zh-CN" altLang="en-US"/>
              <a:t>使用，但要增加一些</a:t>
            </a:r>
            <a:r>
              <a:rPr lang="en-US" altLang="zh-CN"/>
              <a:t>SR</a:t>
            </a:r>
            <a:r>
              <a:rPr lang="zh-CN" altLang="en-US"/>
              <a:t>特殊的数据结构，对</a:t>
            </a:r>
            <a:r>
              <a:rPr lang="en-US" altLang="zh-CN"/>
              <a:t>RoCEv2</a:t>
            </a:r>
            <a:r>
              <a:rPr lang="zh-CN" altLang="en-US"/>
              <a:t>做了头扩展，</a:t>
            </a:r>
            <a:r>
              <a:rPr lang="en-US" altLang="zh-CN"/>
              <a:t>RNIC</a:t>
            </a:r>
            <a:r>
              <a:rPr lang="zh-CN" altLang="en-US"/>
              <a:t>的内存占用增加</a:t>
            </a:r>
            <a:r>
              <a:rPr lang="en-US" altLang="zh-CN"/>
              <a:t>3%~10%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447165" y="3999230"/>
            <a:ext cx="7708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当连接的数量（队列对</a:t>
            </a:r>
            <a:r>
              <a:rPr lang="en-US" altLang="zh-CN"/>
              <a:t>QP</a:t>
            </a:r>
            <a:r>
              <a:rPr lang="zh-CN" altLang="en-US"/>
              <a:t>数目）超过一个小的阈值时，</a:t>
            </a:r>
            <a:r>
              <a:rPr lang="en-US" altLang="zh-CN"/>
              <a:t>RDMA</a:t>
            </a:r>
            <a:r>
              <a:rPr lang="zh-CN" altLang="en-US"/>
              <a:t>性能急剧下降。</a:t>
            </a:r>
            <a:r>
              <a:rPr lang="zh-CN" altLang="en-US">
                <a:solidFill>
                  <a:srgbClr val="FF0000"/>
                </a:solidFill>
              </a:rPr>
              <a:t>根本原因是用于网卡内存小，</a:t>
            </a:r>
            <a:r>
              <a:rPr lang="en-US" altLang="zh-CN">
                <a:solidFill>
                  <a:srgbClr val="FF0000"/>
                </a:solidFill>
              </a:rPr>
              <a:t>QP</a:t>
            </a:r>
            <a:r>
              <a:rPr lang="zh-CN" altLang="en-US">
                <a:solidFill>
                  <a:srgbClr val="FF0000"/>
                </a:solidFill>
              </a:rPr>
              <a:t>的上下文缓存未命中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5953760" y="2934970"/>
            <a:ext cx="4730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IRN</a:t>
            </a:r>
            <a:r>
              <a:rPr lang="zh-CN" altLang="en-US">
                <a:solidFill>
                  <a:schemeClr val="accent1"/>
                </a:solidFill>
              </a:rPr>
              <a:t>实现了高网络扩展，但不能实现连接扩展。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" name="下箭头 12"/>
          <p:cNvSpPr/>
          <p:nvPr>
            <p:custDataLst>
              <p:tags r:id="rId8"/>
            </p:custDataLst>
          </p:nvPr>
        </p:nvSpPr>
        <p:spPr>
          <a:xfrm>
            <a:off x="4935855" y="4799965"/>
            <a:ext cx="468630" cy="2781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447165" y="5154295"/>
            <a:ext cx="9397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RDMA</a:t>
            </a:r>
            <a:r>
              <a:rPr lang="zh-CN" altLang="en-US"/>
              <a:t>网卡没有</a:t>
            </a:r>
            <a:r>
              <a:rPr lang="en-US" altLang="zh-CN"/>
              <a:t>DRAM</a:t>
            </a:r>
            <a:r>
              <a:rPr lang="zh-CN" altLang="en-US"/>
              <a:t>，只有</a:t>
            </a:r>
            <a:r>
              <a:rPr lang="en-US" altLang="zh-CN"/>
              <a:t>SRAM</a:t>
            </a:r>
            <a:r>
              <a:rPr lang="zh-CN" altLang="en-US"/>
              <a:t>，因此网卡上只存很少的</a:t>
            </a:r>
            <a:r>
              <a:rPr lang="en-US" altLang="zh-CN"/>
              <a:t>QPC</a:t>
            </a:r>
            <a:r>
              <a:rPr lang="zh-CN" altLang="en-US"/>
              <a:t>（</a:t>
            </a:r>
            <a:r>
              <a:rPr lang="en-US" altLang="zh-CN"/>
              <a:t>QP</a:t>
            </a:r>
            <a:r>
              <a:rPr lang="zh-CN" altLang="en-US"/>
              <a:t>上下文），其他的</a:t>
            </a:r>
            <a:r>
              <a:rPr lang="en-US" altLang="zh-CN"/>
              <a:t>QPC</a:t>
            </a:r>
            <a:r>
              <a:rPr lang="zh-CN" altLang="en-US"/>
              <a:t>存入内存。当活跃的</a:t>
            </a:r>
            <a:r>
              <a:rPr lang="en-US" altLang="zh-CN"/>
              <a:t>QP</a:t>
            </a:r>
            <a:r>
              <a:rPr lang="zh-CN" altLang="en-US"/>
              <a:t>数目超过片上缓存的数目，主机内存会与</a:t>
            </a:r>
            <a:r>
              <a:rPr lang="en-US" altLang="zh-CN"/>
              <a:t>RNIC</a:t>
            </a:r>
            <a:r>
              <a:rPr lang="zh-CN" altLang="en-US"/>
              <a:t>进行上下文切换。</a:t>
            </a:r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5060315" y="6024880"/>
            <a:ext cx="684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优化芯片数据结构，减少</a:t>
            </a:r>
            <a:r>
              <a:rPr lang="en-US" altLang="zh-CN">
                <a:solidFill>
                  <a:schemeClr val="accent1"/>
                </a:solidFill>
              </a:rPr>
              <a:t>RNIC</a:t>
            </a:r>
            <a:r>
              <a:rPr lang="zh-CN" altLang="en-US">
                <a:solidFill>
                  <a:schemeClr val="accent1"/>
                </a:solidFill>
              </a:rPr>
              <a:t>内存需求，让</a:t>
            </a:r>
            <a:r>
              <a:rPr lang="en-US" altLang="zh-CN">
                <a:solidFill>
                  <a:schemeClr val="accent1"/>
                </a:solidFill>
              </a:rPr>
              <a:t>RNIC</a:t>
            </a:r>
            <a:r>
              <a:rPr lang="zh-CN" altLang="en-US">
                <a:solidFill>
                  <a:schemeClr val="accent1"/>
                </a:solidFill>
              </a:rPr>
              <a:t>实现</a:t>
            </a:r>
            <a:r>
              <a:rPr lang="en-US" altLang="zh-CN">
                <a:solidFill>
                  <a:schemeClr val="accent1"/>
                </a:solidFill>
              </a:rPr>
              <a:t>10K</a:t>
            </a:r>
            <a:r>
              <a:rPr lang="zh-CN" altLang="en-US">
                <a:solidFill>
                  <a:schemeClr val="accent1"/>
                </a:solidFill>
              </a:rPr>
              <a:t>的连接。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6" grpId="0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598170"/>
            <a:ext cx="6772275" cy="5791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/>
              <a:t>有损</a:t>
            </a:r>
            <a:r>
              <a:rPr lang="en-US" altLang="zh-CN" sz="2000"/>
              <a:t>RDMA</a:t>
            </a:r>
            <a:r>
              <a:rPr lang="zh-CN" altLang="en-US" sz="2000"/>
              <a:t>概念模型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809105" y="525145"/>
            <a:ext cx="538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实现场景</a:t>
            </a:r>
            <a:r>
              <a:rPr lang="zh-CN" altLang="en-US"/>
              <a:t>：请求者将本机数据存入应答方指定位置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86600" y="1036955"/>
            <a:ext cx="454152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请求方</a:t>
            </a:r>
            <a:r>
              <a:rPr lang="zh-CN" altLang="en-US"/>
              <a:t>：请求方将</a:t>
            </a:r>
            <a:r>
              <a:rPr lang="en-US" altLang="zh-CN"/>
              <a:t>WQE</a:t>
            </a:r>
            <a:r>
              <a:rPr lang="zh-CN" altLang="en-US"/>
              <a:t>发送到</a:t>
            </a:r>
            <a:r>
              <a:rPr lang="en-US" altLang="zh-CN"/>
              <a:t>SQ</a:t>
            </a:r>
            <a:r>
              <a:rPr lang="zh-CN" altLang="en-US"/>
              <a:t>指明一个</a:t>
            </a:r>
            <a:r>
              <a:rPr lang="en-US" altLang="zh-CN"/>
              <a:t>SEND</a:t>
            </a:r>
            <a:r>
              <a:rPr lang="zh-CN" altLang="en-US"/>
              <a:t>请求，</a:t>
            </a:r>
            <a:r>
              <a:rPr lang="en-US" altLang="zh-CN"/>
              <a:t>RNIC</a:t>
            </a:r>
            <a:r>
              <a:rPr lang="zh-CN" altLang="en-US"/>
              <a:t>抓取</a:t>
            </a:r>
            <a:r>
              <a:rPr lang="en-US" altLang="zh-CN"/>
              <a:t>SQ</a:t>
            </a:r>
            <a:r>
              <a:rPr lang="zh-CN" altLang="en-US"/>
              <a:t>到</a:t>
            </a:r>
            <a:r>
              <a:rPr lang="en-US" altLang="zh-CN"/>
              <a:t>WQE Cache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请求方</a:t>
            </a:r>
            <a:r>
              <a:rPr lang="zh-CN" altLang="en-US"/>
              <a:t>：</a:t>
            </a:r>
            <a:r>
              <a:rPr lang="en-US" altLang="zh-CN"/>
              <a:t>RNIC</a:t>
            </a:r>
            <a:r>
              <a:rPr lang="zh-CN" altLang="en-US"/>
              <a:t>从</a:t>
            </a:r>
            <a:r>
              <a:rPr lang="en-US" altLang="zh-CN"/>
              <a:t>WQE</a:t>
            </a:r>
            <a:r>
              <a:rPr lang="zh-CN" altLang="en-US"/>
              <a:t>获取数据</a:t>
            </a:r>
            <a:r>
              <a:rPr lang="en-US" altLang="zh-CN"/>
              <a:t>VA</a:t>
            </a:r>
            <a:r>
              <a:rPr lang="zh-CN" altLang="en-US"/>
              <a:t>，通过</a:t>
            </a:r>
            <a:r>
              <a:rPr lang="en-US" altLang="zh-CN"/>
              <a:t>MTT</a:t>
            </a:r>
            <a:r>
              <a:rPr lang="zh-CN" altLang="en-US"/>
              <a:t>转换为</a:t>
            </a:r>
            <a:r>
              <a:rPr lang="en-US" altLang="zh-CN"/>
              <a:t>PA</a:t>
            </a:r>
            <a:r>
              <a:rPr lang="zh-CN" altLang="en-US"/>
              <a:t>，从主机缓冲区拿数据。</a:t>
            </a:r>
            <a:r>
              <a:rPr lang="en-US" altLang="zh-CN"/>
              <a:t>RNIC</a:t>
            </a:r>
            <a:r>
              <a:rPr lang="zh-CN" altLang="en-US"/>
              <a:t>给数据包装上</a:t>
            </a:r>
            <a:r>
              <a:rPr lang="en-US" altLang="zh-CN"/>
              <a:t>RoCEv2</a:t>
            </a:r>
            <a:r>
              <a:rPr lang="zh-CN" altLang="en-US"/>
              <a:t>头部，发送给应答方。未完成请求的原数据存在</a:t>
            </a:r>
            <a:r>
              <a:rPr lang="en-US" altLang="zh-CN"/>
              <a:t>ORT</a:t>
            </a:r>
            <a:r>
              <a:rPr lang="zh-CN" altLang="en-US"/>
              <a:t>中。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应答方</a:t>
            </a:r>
            <a:r>
              <a:rPr lang="zh-CN" altLang="en-US"/>
              <a:t>：到来的数据先在</a:t>
            </a:r>
            <a:r>
              <a:rPr lang="en-US" altLang="zh-CN"/>
              <a:t>Recieving buffer</a:t>
            </a:r>
            <a:r>
              <a:rPr lang="zh-CN" altLang="en-US"/>
              <a:t>排队，然后验证。乱序的包在</a:t>
            </a:r>
            <a:r>
              <a:rPr lang="en-US" altLang="zh-CN"/>
              <a:t>Bitmap</a:t>
            </a:r>
            <a:r>
              <a:rPr lang="zh-CN" altLang="en-US"/>
              <a:t>中记录，在</a:t>
            </a:r>
            <a:r>
              <a:rPr lang="en-US" altLang="zh-CN"/>
              <a:t>Reording buffer</a:t>
            </a:r>
            <a:r>
              <a:rPr lang="zh-CN" altLang="en-US"/>
              <a:t>里面重排。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应答方</a:t>
            </a:r>
            <a:r>
              <a:rPr lang="zh-CN" altLang="en-US"/>
              <a:t>：收到正确的包后，</a:t>
            </a:r>
            <a:r>
              <a:rPr lang="en-US" altLang="zh-CN"/>
              <a:t>RNIC</a:t>
            </a:r>
            <a:r>
              <a:rPr lang="zh-CN" altLang="en-US"/>
              <a:t>从</a:t>
            </a:r>
            <a:r>
              <a:rPr lang="en-US" altLang="zh-CN"/>
              <a:t>RQ</a:t>
            </a:r>
            <a:r>
              <a:rPr lang="zh-CN" altLang="en-US"/>
              <a:t>中抓取一个接受</a:t>
            </a:r>
            <a:r>
              <a:rPr lang="en-US" altLang="zh-CN"/>
              <a:t>WQE</a:t>
            </a:r>
            <a:r>
              <a:rPr lang="zh-CN" altLang="en-US"/>
              <a:t>，通过</a:t>
            </a:r>
            <a:r>
              <a:rPr lang="en-US" altLang="zh-CN"/>
              <a:t>MTT</a:t>
            </a:r>
            <a:r>
              <a:rPr lang="zh-CN" altLang="en-US"/>
              <a:t>获取</a:t>
            </a:r>
            <a:r>
              <a:rPr lang="en-US" altLang="zh-CN"/>
              <a:t>PA</a:t>
            </a:r>
            <a:r>
              <a:rPr lang="zh-CN" altLang="en-US"/>
              <a:t>，将数据传送到主机缓冲区。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应答方</a:t>
            </a:r>
            <a:r>
              <a:rPr lang="zh-CN" altLang="en-US"/>
              <a:t>：</a:t>
            </a:r>
            <a:r>
              <a:rPr lang="en-US" altLang="zh-CN"/>
              <a:t>RNIC</a:t>
            </a:r>
            <a:r>
              <a:rPr lang="zh-CN" altLang="en-US"/>
              <a:t>给请求者回复一个</a:t>
            </a:r>
            <a:r>
              <a:rPr lang="en-US" altLang="zh-CN"/>
              <a:t>ACK</a:t>
            </a:r>
            <a:r>
              <a:rPr lang="zh-CN" altLang="en-US"/>
              <a:t>，给主机发送一个</a:t>
            </a:r>
            <a:r>
              <a:rPr lang="en-US" altLang="zh-CN"/>
              <a:t>CQE</a:t>
            </a:r>
            <a:r>
              <a:rPr lang="zh-CN" altLang="en-US"/>
              <a:t>，消耗一个</a:t>
            </a:r>
            <a:r>
              <a:rPr lang="en-US" altLang="zh-CN"/>
              <a:t>WQE</a:t>
            </a:r>
            <a:r>
              <a:rPr lang="zh-CN" altLang="en-US"/>
              <a:t>。</a:t>
            </a:r>
            <a:endParaRPr lang="en-US" altLang="zh-CN"/>
          </a:p>
          <a:p>
            <a:pPr marL="342900" indent="-342900">
              <a:buFont typeface="+mj-ea"/>
              <a:buAutoNum type="circleNumDbPlain"/>
            </a:pPr>
            <a:r>
              <a:rPr lang="zh-CN" altLang="en-US" b="1"/>
              <a:t>接收方</a:t>
            </a:r>
            <a:r>
              <a:rPr lang="zh-CN" altLang="en-US"/>
              <a:t>：</a:t>
            </a:r>
            <a:r>
              <a:rPr lang="en-US" altLang="zh-CN"/>
              <a:t>RNIC</a:t>
            </a:r>
            <a:r>
              <a:rPr lang="zh-CN" altLang="en-US"/>
              <a:t>接收</a:t>
            </a:r>
            <a:r>
              <a:rPr lang="en-US" altLang="zh-CN"/>
              <a:t>ACK</a:t>
            </a:r>
            <a:r>
              <a:rPr lang="zh-CN" altLang="en-US"/>
              <a:t>，产生一个</a:t>
            </a:r>
            <a:r>
              <a:rPr lang="en-US" altLang="zh-CN"/>
              <a:t>CQE</a:t>
            </a:r>
            <a:r>
              <a:rPr lang="zh-CN" altLang="en-US"/>
              <a:t>，消耗一个</a:t>
            </a:r>
            <a:r>
              <a:rPr lang="en-US" altLang="zh-CN"/>
              <a:t>SEND WQE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063105" y="5871210"/>
            <a:ext cx="4527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RNIC</a:t>
            </a:r>
            <a:r>
              <a:rPr lang="zh-CN" altLang="en-US">
                <a:solidFill>
                  <a:schemeClr val="accent1"/>
                </a:solidFill>
              </a:rPr>
              <a:t>为每个</a:t>
            </a:r>
            <a:r>
              <a:rPr lang="en-US" altLang="zh-CN">
                <a:solidFill>
                  <a:schemeClr val="accent1"/>
                </a:solidFill>
              </a:rPr>
              <a:t>QP</a:t>
            </a:r>
            <a:r>
              <a:rPr lang="zh-CN" altLang="en-US">
                <a:solidFill>
                  <a:schemeClr val="accent1"/>
                </a:solidFill>
              </a:rPr>
              <a:t>生成一个</a:t>
            </a:r>
            <a:r>
              <a:rPr lang="en-US" altLang="zh-CN">
                <a:solidFill>
                  <a:schemeClr val="accent1"/>
                </a:solidFill>
              </a:rPr>
              <a:t>QPC</a:t>
            </a:r>
            <a:r>
              <a:rPr lang="zh-CN" altLang="en-US">
                <a:solidFill>
                  <a:schemeClr val="accent1"/>
                </a:solidFill>
              </a:rPr>
              <a:t>来追踪</a:t>
            </a:r>
            <a:r>
              <a:rPr lang="en-US" altLang="zh-CN">
                <a:solidFill>
                  <a:schemeClr val="accent1"/>
                </a:solidFill>
              </a:rPr>
              <a:t>QP</a:t>
            </a:r>
            <a:r>
              <a:rPr lang="zh-CN" altLang="en-US">
                <a:solidFill>
                  <a:schemeClr val="accent1"/>
                </a:solidFill>
              </a:rPr>
              <a:t>相关上下文。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RDMA</a:t>
            </a:r>
            <a:r>
              <a:rPr lang="zh-CN" altLang="en-US" sz="2000"/>
              <a:t>数据结构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6070" y="781050"/>
            <a:ext cx="4446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RDMA</a:t>
            </a:r>
            <a:r>
              <a:rPr lang="zh-CN" altLang="en-US" b="1"/>
              <a:t>普遍需要的普通数据结构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49885" y="1263650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latin typeface="Calibri" panose="020F0502020204030204" charset="0"/>
              </a:rPr>
              <a:t>①</a:t>
            </a:r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  Receiving buffer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64285" y="1739265"/>
                <a:ext cx="9880600" cy="1069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用来吸收上游以太网端口和下游</a:t>
                </a:r>
                <a:r>
                  <a:rPr lang="en-US" altLang="zh-CN"/>
                  <a:t>RNIC</a:t>
                </a:r>
                <a:r>
                  <a:rPr lang="zh-CN" altLang="en-US"/>
                  <a:t>处理逻辑之间的</a:t>
                </a:r>
                <a:r>
                  <a:rPr lang="zh-CN" altLang="en-US" b="1"/>
                  <a:t>时差</a:t>
                </a:r>
                <a:r>
                  <a:rPr lang="zh-CN" altLang="en-US"/>
                  <a:t>造成的突发数据，大小略大于一个</a:t>
                </a:r>
                <a:r>
                  <a:rPr lang="en-US" altLang="zh-CN"/>
                  <a:t>BDP</a:t>
                </a:r>
                <a:r>
                  <a:rPr lang="zh-CN" altLang="en-US"/>
                  <a:t>。假设带宽为</a:t>
                </a:r>
                <a:r>
                  <a:rPr lang="en-US" altLang="zh-CN"/>
                  <a:t>100Gbps</a:t>
                </a:r>
                <a:r>
                  <a:rPr lang="zh-CN" altLang="en-US"/>
                  <a:t>，</a:t>
                </a:r>
                <a:r>
                  <a:rPr lang="en-US" altLang="zh-CN"/>
                  <a:t>RTT</a:t>
                </a:r>
                <a:r>
                  <a:rPr lang="zh-CN" altLang="en-US"/>
                  <a:t>为</a:t>
                </a:r>
                <a:r>
                  <a:rPr lang="en-US" altLang="zh-CN"/>
                  <a:t>40μs</a:t>
                </a:r>
                <a:r>
                  <a:rPr lang="zh-CN" altLang="en-US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𝐵𝐷𝑃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9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40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，本文设置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0.6MB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264285" y="1739265"/>
                <a:ext cx="9880600" cy="106934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349885" y="2584450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②  QP Context ( QPC )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263650" y="3084830"/>
            <a:ext cx="9954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</a:t>
            </a:r>
            <a:r>
              <a:rPr lang="en-US" altLang="zh-CN"/>
              <a:t>QPC</a:t>
            </a:r>
            <a:r>
              <a:rPr lang="zh-CN" altLang="en-US"/>
              <a:t>维护一个</a:t>
            </a:r>
            <a:r>
              <a:rPr lang="en-US" altLang="zh-CN"/>
              <a:t>QP</a:t>
            </a:r>
            <a:r>
              <a:rPr lang="zh-CN" altLang="en-US"/>
              <a:t>所有上下文，包括</a:t>
            </a:r>
            <a:r>
              <a:rPr lang="en-US" altLang="zh-CN"/>
              <a:t>DMA</a:t>
            </a:r>
            <a:r>
              <a:rPr lang="zh-CN" altLang="en-US"/>
              <a:t>状态，连接状态，假设每个</a:t>
            </a:r>
            <a:r>
              <a:rPr lang="en-US" altLang="zh-CN"/>
              <a:t>QPC</a:t>
            </a:r>
            <a:r>
              <a:rPr lang="zh-CN" altLang="en-US"/>
              <a:t>大小为</a:t>
            </a:r>
            <a:r>
              <a:rPr lang="en-US" altLang="zh-CN"/>
              <a:t>210B</a:t>
            </a:r>
            <a:r>
              <a:rPr lang="zh-CN" altLang="en-US"/>
              <a:t>，那么</a:t>
            </a:r>
            <a:r>
              <a:rPr lang="en-US" altLang="zh-CN"/>
              <a:t>10k</a:t>
            </a:r>
            <a:r>
              <a:rPr lang="zh-CN" altLang="en-US"/>
              <a:t>个</a:t>
            </a:r>
            <a:r>
              <a:rPr lang="en-US" altLang="zh-CN"/>
              <a:t>QPC</a:t>
            </a:r>
            <a:r>
              <a:rPr lang="zh-CN" altLang="en-US"/>
              <a:t>大小为</a:t>
            </a:r>
            <a:r>
              <a:rPr lang="en-US" altLang="zh-CN"/>
              <a:t>2MB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410845" y="3862070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③  MTT ( Memory Translation Table )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403350" y="4240530"/>
                <a:ext cx="9740900" cy="76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实现虚拟地址</a:t>
                </a:r>
                <a:r>
                  <a:rPr lang="en-US" altLang="zh-CN"/>
                  <a:t>VA</a:t>
                </a:r>
                <a:r>
                  <a:rPr lang="zh-CN" altLang="en-US"/>
                  <a:t>变为物理地址</a:t>
                </a:r>
                <a:r>
                  <a:rPr lang="en-US" altLang="zh-CN"/>
                  <a:t>PA</a:t>
                </a:r>
                <a:r>
                  <a:rPr lang="zh-CN" altLang="en-US"/>
                  <a:t>，与连接数</a:t>
                </a:r>
                <a:r>
                  <a:rPr lang="en-US" altLang="zh-CN"/>
                  <a:t>/QP</a:t>
                </a:r>
                <a:r>
                  <a:rPr lang="zh-CN" altLang="en-US"/>
                  <a:t>数无关，与</a:t>
                </a:r>
                <a:r>
                  <a:rPr lang="en-US" altLang="zh-CN"/>
                  <a:t>RNIC</a:t>
                </a:r>
                <a:r>
                  <a:rPr lang="zh-CN" altLang="en-US"/>
                  <a:t>内存大小和页大小有关。设内存</a:t>
                </a:r>
                <a:r>
                  <a:rPr lang="en-US" altLang="zh-CN"/>
                  <a:t>4GB</a:t>
                </a:r>
                <a:r>
                  <a:rPr lang="zh-CN" altLang="en-US"/>
                  <a:t>，页大小</a:t>
                </a:r>
                <a:r>
                  <a:rPr lang="en-US" altLang="zh-CN"/>
                  <a:t>4KB</a:t>
                </a:r>
                <a:r>
                  <a:rPr lang="zh-CN" altLang="en-US"/>
                  <a:t>，一个</a:t>
                </a:r>
                <a:r>
                  <a:rPr lang="en-US" altLang="zh-CN"/>
                  <a:t>MTT</a:t>
                </a:r>
                <a:r>
                  <a:rPr lang="zh-CN" altLang="en-US"/>
                  <a:t>条目</a:t>
                </a:r>
                <a:r>
                  <a:rPr lang="en-US" altLang="zh-CN"/>
                  <a:t>8B</a:t>
                </a:r>
                <a:r>
                  <a:rPr lang="zh-CN" altLang="en-US"/>
                  <a:t>，那</a:t>
                </a:r>
                <a:r>
                  <a:rPr lang="en-US" altLang="zh-CN"/>
                  <a:t>MTT</a:t>
                </a:r>
                <a:r>
                  <a:rPr lang="zh-CN" altLang="en-US"/>
                  <a:t>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𝐺𝐵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𝐾𝐵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403350" y="4240530"/>
                <a:ext cx="9740900" cy="76136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410845" y="5080635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  WQE Cache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432560" y="5600700"/>
                <a:ext cx="9953625" cy="706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RNIC</a:t>
                </a:r>
                <a:r>
                  <a:rPr lang="zh-CN" altLang="en-US"/>
                  <a:t>从主机内存</a:t>
                </a:r>
                <a:r>
                  <a:rPr lang="en-US" altLang="zh-CN"/>
                  <a:t>SQ/RQ</a:t>
                </a:r>
                <a:r>
                  <a:rPr lang="zh-CN" altLang="en-US"/>
                  <a:t>中获取</a:t>
                </a:r>
                <a:r>
                  <a:rPr lang="en-US" altLang="zh-CN"/>
                  <a:t>WQE</a:t>
                </a:r>
                <a:r>
                  <a:rPr lang="zh-CN" altLang="en-US"/>
                  <a:t>。每个</a:t>
                </a:r>
                <a:r>
                  <a:rPr lang="en-US" altLang="zh-CN"/>
                  <a:t>QP</a:t>
                </a:r>
                <a:r>
                  <a:rPr lang="zh-CN" altLang="en-US"/>
                  <a:t>在自己的专用缓存中存储</a:t>
                </a:r>
                <a:r>
                  <a:rPr lang="en-US" altLang="zh-CN"/>
                  <a:t>8</a:t>
                </a:r>
                <a:r>
                  <a:rPr lang="zh-CN" altLang="en-US"/>
                  <a:t>个</a:t>
                </a:r>
                <a:r>
                  <a:rPr lang="en-US" altLang="zh-CN"/>
                  <a:t>WQE</a:t>
                </a:r>
                <a:r>
                  <a:rPr lang="zh-CN" altLang="en-US"/>
                  <a:t>（</a:t>
                </a:r>
                <a:r>
                  <a:rPr lang="en-US" altLang="zh-CN"/>
                  <a:t>64B*8</a:t>
                </a:r>
                <a:r>
                  <a:rPr lang="zh-CN" altLang="en-US"/>
                  <a:t>）。假设有</a:t>
                </a:r>
                <a:r>
                  <a:rPr lang="en-US" altLang="zh-CN"/>
                  <a:t>10k</a:t>
                </a:r>
                <a:r>
                  <a:rPr lang="zh-CN" altLang="en-US"/>
                  <a:t>个</a:t>
                </a:r>
                <a:r>
                  <a:rPr lang="en-US" altLang="zh-CN"/>
                  <a:t>QP</a:t>
                </a:r>
                <a:r>
                  <a:rPr lang="zh-CN" altLang="en-US"/>
                  <a:t>，那就有</a:t>
                </a:r>
                <a:r>
                  <a:rPr lang="en-US" altLang="zh-CN"/>
                  <a:t>10k</a:t>
                </a:r>
                <a:r>
                  <a:rPr lang="zh-CN" altLang="en-US"/>
                  <a:t>个</a:t>
                </a:r>
                <a:r>
                  <a:rPr lang="en-US" altLang="zh-CN"/>
                  <a:t>SQ</a:t>
                </a:r>
                <a:r>
                  <a:rPr lang="zh-CN" altLang="en-US"/>
                  <a:t>，</a:t>
                </a:r>
                <a:r>
                  <a:rPr lang="en-US" altLang="zh-CN"/>
                  <a:t>10k</a:t>
                </a:r>
                <a:r>
                  <a:rPr lang="zh-CN" altLang="en-US"/>
                  <a:t>个</a:t>
                </a:r>
                <a:r>
                  <a:rPr lang="en-US" altLang="zh-CN"/>
                  <a:t>RQ</a:t>
                </a:r>
                <a:r>
                  <a:rPr lang="zh-CN" altLang="en-US"/>
                  <a:t>，一共占用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2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0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𝑘∗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64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𝐵∗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8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9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.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8</m:t>
                    </m:r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𝑀𝐵</m:t>
                    </m:r>
                  </m:oMath>
                </a14:m>
                <a:r>
                  <a:rPr lang="zh-CN" altLang="en-US"/>
                  <a:t>内存。</a:t>
                </a:r>
                <a:endParaRPr lang="zh-CN" altLang="en-US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1432560" y="5600700"/>
                <a:ext cx="9953625" cy="70675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RDMA</a:t>
            </a:r>
            <a:r>
              <a:rPr lang="zh-CN" altLang="en-US" sz="2000"/>
              <a:t>数据结构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6070" y="781050"/>
            <a:ext cx="4446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选择重传的特殊数据结构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49885" y="1263650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latin typeface="Calibri" panose="020F0502020204030204" charset="0"/>
              </a:rPr>
              <a:t>①</a:t>
            </a:r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  Bitmap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48360" y="1852930"/>
            <a:ext cx="10296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位图是为了追踪接收到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/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丢失的包，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IRN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中提到，每个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QP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需要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5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个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BDP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大小的位图（每个位图有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500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个时隙，以满足带宽为</a:t>
            </a:r>
            <a:r>
              <a:rPr lang="zh-CN" altLang="en-US">
                <a:sym typeface="+mn-ea"/>
              </a:rPr>
              <a:t>带宽为</a:t>
            </a:r>
            <a:r>
              <a:rPr lang="en-US" altLang="zh-CN">
                <a:sym typeface="+mn-ea"/>
              </a:rPr>
              <a:t>100Gbps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40μs</a:t>
            </a:r>
            <a:r>
              <a:rPr lang="zh-CN" altLang="en-US">
                <a:sym typeface="+mn-ea"/>
              </a:rPr>
              <a:t>的网络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），因此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10k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个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QP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要花费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3M</a:t>
            </a:r>
            <a:r>
              <a:rPr lang="zh-CN" altLang="en-US">
                <a:latin typeface="Cambria Math" panose="02040503050406030204" charset="0"/>
                <a:cs typeface="Cambria Math" panose="02040503050406030204" charset="0"/>
              </a:rPr>
              <a:t>内存。</a:t>
            </a:r>
            <a:endParaRPr lang="zh-CN" altLang="en-US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03275" y="2706370"/>
                <a:ext cx="10231120" cy="177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10000"/>
                  </a:lnSpc>
                </a:pPr>
                <a:r>
                  <a:rPr lang="zh-CN" altLang="en-US" b="1">
                    <a:solidFill>
                      <a:schemeClr val="accent4"/>
                    </a:solidFill>
                  </a:rPr>
                  <a:t>具体计算：</a:t>
                </a:r>
                <a:endParaRPr lang="zh-CN" altLang="en-US" b="1">
                  <a:solidFill>
                    <a:schemeClr val="accent4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/>
                  <a:t>1</a:t>
                </a:r>
                <a:r>
                  <a:rPr lang="zh-CN" altLang="en-US"/>
                  <a:t>）</a:t>
                </a:r>
                <a:r>
                  <a:rPr lang="en-US" altLang="zh-CN"/>
                  <a:t> </a:t>
                </a:r>
                <a:r>
                  <a:rPr lang="zh-CN" altLang="en-US"/>
                  <a:t>每个数据包对应</a:t>
                </a:r>
                <a:r>
                  <a:rPr lang="en-US" altLang="zh-CN"/>
                  <a:t>Bitmap</a:t>
                </a:r>
                <a:r>
                  <a:rPr lang="zh-CN" altLang="en-US"/>
                  <a:t>上</a:t>
                </a:r>
                <a:r>
                  <a:rPr lang="en-US" altLang="zh-CN"/>
                  <a:t>1</a:t>
                </a:r>
                <a:r>
                  <a:rPr lang="zh-CN" altLang="en-US"/>
                  <a:t>个</a:t>
                </a:r>
                <a:r>
                  <a:rPr lang="en-US" altLang="zh-CN"/>
                  <a:t>bit</a:t>
                </a:r>
                <a:r>
                  <a:rPr lang="zh-CN" altLang="en-US"/>
                  <a:t>，由</a:t>
                </a:r>
                <a:r>
                  <a:rPr lang="en-US" altLang="zh-CN"/>
                  <a:t>500</a:t>
                </a:r>
                <a:r>
                  <a:rPr lang="zh-CN" altLang="en-US"/>
                  <a:t>个时隙可以计算出，每一个</a:t>
                </a:r>
                <a:r>
                  <a:rPr lang="en-US" altLang="zh-CN"/>
                  <a:t>bit</a:t>
                </a:r>
                <a:r>
                  <a:rPr lang="zh-CN" altLang="en-US"/>
                  <a:t>可以监测个数据包大小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9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40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÷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500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1000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字节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/>
                  <a:t>2</a:t>
                </a:r>
                <a:r>
                  <a:rPr lang="zh-CN" altLang="en-US"/>
                  <a:t>）</a:t>
                </a:r>
                <a:r>
                  <a:rPr lang="en-US" altLang="zh-CN"/>
                  <a:t> </a:t>
                </a:r>
                <a:r>
                  <a:rPr lang="zh-CN" altLang="en-US"/>
                  <a:t>在</a:t>
                </a:r>
                <a:r>
                  <a:rPr lang="en-US" altLang="zh-CN"/>
                  <a:t>1</a:t>
                </a:r>
                <a:r>
                  <a:rPr lang="zh-CN" altLang="en-US"/>
                  <a:t>个</a:t>
                </a:r>
                <a:r>
                  <a:rPr lang="en-US" altLang="zh-CN"/>
                  <a:t>BDP</a:t>
                </a:r>
                <a:r>
                  <a:rPr lang="zh-CN" altLang="en-US"/>
                  <a:t>里位图有</a:t>
                </a:r>
                <a:r>
                  <a:rPr lang="en-US" altLang="zh-CN"/>
                  <a:t>500</a:t>
                </a:r>
                <a:r>
                  <a:rPr lang="zh-CN" altLang="en-US"/>
                  <a:t>个时隙，占用内存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500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𝑏𝑖𝑡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62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6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/>
                  <a:t>，一个</a:t>
                </a:r>
                <a:r>
                  <a:rPr lang="en-US" altLang="zh-CN"/>
                  <a:t>QP</a:t>
                </a:r>
                <a:r>
                  <a:rPr lang="zh-CN" altLang="en-US"/>
                  <a:t>需要</a:t>
                </a:r>
                <a:r>
                  <a:rPr lang="en-US" altLang="zh-CN"/>
                  <a:t>5</a:t>
                </a:r>
                <a:r>
                  <a:rPr lang="zh-CN" altLang="en-US"/>
                  <a:t>个</a:t>
                </a:r>
                <a:r>
                  <a:rPr lang="en-US" altLang="zh-CN"/>
                  <a:t>BDP</a:t>
                </a:r>
                <a:r>
                  <a:rPr lang="zh-CN" altLang="en-US"/>
                  <a:t>，那一个</a:t>
                </a:r>
                <a:r>
                  <a:rPr lang="en-US" altLang="zh-CN"/>
                  <a:t>QP</a:t>
                </a:r>
                <a:r>
                  <a:rPr lang="zh-CN" altLang="en-US"/>
                  <a:t>就需要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62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312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10k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QP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总需要内存约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3M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75" y="2706370"/>
                <a:ext cx="10231120" cy="17767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/>
          <p:cNvSpPr/>
          <p:nvPr/>
        </p:nvSpPr>
        <p:spPr>
          <a:xfrm>
            <a:off x="6171565" y="772795"/>
            <a:ext cx="5564505" cy="6991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BDP</a:t>
            </a:r>
            <a:r>
              <a:rPr lang="zh-CN" altLang="en-US"/>
              <a:t>无法处理</a:t>
            </a:r>
            <a:r>
              <a:rPr lang="en-US" altLang="zh-CN"/>
              <a:t>ACK</a:t>
            </a:r>
            <a:r>
              <a:rPr lang="zh-CN" altLang="en-US"/>
              <a:t>延迟、乱序或突发丢包</a:t>
            </a:r>
            <a:endParaRPr lang="zh-CN" altLang="en-US"/>
          </a:p>
          <a:p>
            <a:pPr algn="ctr"/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BDP</a:t>
            </a:r>
            <a:r>
              <a:rPr lang="zh-CN" altLang="en-US"/>
              <a:t>在</a:t>
            </a:r>
            <a:r>
              <a:rPr lang="en-US" altLang="zh-CN"/>
              <a:t>RTT</a:t>
            </a:r>
            <a:r>
              <a:rPr lang="zh-CN" altLang="en-US"/>
              <a:t>抖动大的网络（如广域网中）覆盖不足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93700" y="4633595"/>
            <a:ext cx="4403090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/>
                </a:solidFill>
                <a:latin typeface="Calibri" panose="020F0502020204030204" charset="0"/>
              </a:rPr>
              <a:t>②</a:t>
            </a:r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 Reordering Buffer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3140" y="5114925"/>
            <a:ext cx="1015174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重排序缓冲区用来重排乱序的数据包，因为无损</a:t>
            </a:r>
            <a:r>
              <a:rPr lang="en-US" altLang="zh-CN"/>
              <a:t>RoCE V2</a:t>
            </a:r>
            <a:r>
              <a:rPr lang="zh-CN" altLang="en-US"/>
              <a:t>网络设计中头部缺乏必要信息支持重排，所以每个</a:t>
            </a:r>
            <a:r>
              <a:rPr lang="en-US" altLang="zh-CN"/>
              <a:t>QP</a:t>
            </a:r>
            <a:r>
              <a:rPr lang="zh-CN" altLang="en-US"/>
              <a:t>需要分配</a:t>
            </a:r>
            <a:r>
              <a:rPr lang="en-US" altLang="zh-CN"/>
              <a:t>1BDP</a:t>
            </a:r>
            <a:r>
              <a:rPr lang="zh-CN" altLang="en-US"/>
              <a:t>重排缓冲区。</a:t>
            </a:r>
            <a:r>
              <a:rPr lang="en-US" altLang="zh-CN"/>
              <a:t>1BDP</a:t>
            </a:r>
            <a:r>
              <a:rPr lang="zh-CN" altLang="en-US"/>
              <a:t>大小为</a:t>
            </a:r>
            <a:r>
              <a:rPr lang="en-US" altLang="zh-CN"/>
              <a:t>0.5MB</a:t>
            </a:r>
            <a:r>
              <a:rPr lang="zh-CN" altLang="en-US"/>
              <a:t>，那</a:t>
            </a:r>
            <a:r>
              <a:rPr lang="en-US" altLang="zh-CN"/>
              <a:t>10k</a:t>
            </a:r>
            <a:r>
              <a:rPr lang="zh-CN" altLang="en-US"/>
              <a:t>个</a:t>
            </a:r>
            <a:r>
              <a:rPr lang="en-US" altLang="zh-CN"/>
              <a:t>QP</a:t>
            </a:r>
            <a:r>
              <a:rPr lang="zh-CN" altLang="en-US"/>
              <a:t>需要的内存大小为</a:t>
            </a:r>
            <a:r>
              <a:rPr lang="en-US" altLang="zh-CN"/>
              <a:t>4.9GB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RDMA</a:t>
            </a:r>
            <a:r>
              <a:rPr lang="zh-CN" altLang="en-US" sz="2000"/>
              <a:t>数据结构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6070" y="781050"/>
            <a:ext cx="4446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选择重传的特殊数据结构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49885" y="1263650"/>
            <a:ext cx="440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latin typeface="Calibri" panose="020F0502020204030204" charset="0"/>
              </a:rPr>
              <a:t>③</a:t>
            </a:r>
            <a:r>
              <a:rPr lang="en-US" altLang="zh-CN" b="1">
                <a:solidFill>
                  <a:schemeClr val="accent1"/>
                </a:solidFill>
                <a:latin typeface="Calibri" panose="020F0502020204030204" charset="0"/>
              </a:rPr>
              <a:t> Outstanding Request Table</a:t>
            </a:r>
            <a:endParaRPr lang="en-US" altLang="zh-CN" b="1">
              <a:solidFill>
                <a:schemeClr val="accent1"/>
              </a:solidFill>
              <a:latin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4055" y="1631950"/>
            <a:ext cx="1111631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未完成请求表用来维护未完成的请求和他们原数据之间的关系，用来快速定位和重传丢包。这些原数据包括：（</a:t>
            </a:r>
            <a:r>
              <a:rPr lang="en-US" altLang="zh-CN"/>
              <a:t>1</a:t>
            </a:r>
            <a:r>
              <a:rPr lang="zh-CN" altLang="en-US"/>
              <a:t>）包序列数（</a:t>
            </a:r>
            <a:r>
              <a:rPr lang="en-US" altLang="zh-CN"/>
              <a:t>package sequence number, PSN</a:t>
            </a:r>
            <a:r>
              <a:rPr lang="zh-CN" altLang="en-US"/>
              <a:t>）：用来追踪包序列。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）消息序列数（</a:t>
            </a:r>
            <a:r>
              <a:rPr lang="en-US" altLang="zh-CN"/>
              <a:t>massage sequence number, MSN</a:t>
            </a:r>
            <a:r>
              <a:rPr lang="zh-CN" altLang="en-US"/>
              <a:t>）：用来追踪消息序列，快速定位到对应的</a:t>
            </a:r>
            <a:r>
              <a:rPr lang="en-US" altLang="zh-CN"/>
              <a:t>WQE</a:t>
            </a:r>
            <a:r>
              <a:rPr lang="zh-CN" altLang="en-US"/>
              <a:t>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）包位移（</a:t>
            </a:r>
            <a:r>
              <a:rPr lang="en-US" altLang="zh-CN"/>
              <a:t>PSN_offset</a:t>
            </a:r>
            <a:r>
              <a:rPr lang="zh-CN" altLang="en-US"/>
              <a:t>）：定位数据缓存中的数据偏移。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755015" y="3315335"/>
            <a:ext cx="84404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这些字段中，每个</a:t>
            </a:r>
            <a:r>
              <a:rPr lang="en-US" altLang="zh-CN"/>
              <a:t>QP</a:t>
            </a:r>
            <a:r>
              <a:rPr lang="zh-CN" altLang="en-US"/>
              <a:t>的请求表大小为</a:t>
            </a:r>
            <a:r>
              <a:rPr lang="en-US" altLang="zh-CN"/>
              <a:t>11.7KB</a:t>
            </a:r>
            <a:r>
              <a:rPr lang="zh-CN" altLang="en-US"/>
              <a:t>（假如每个条目的大小是</a:t>
            </a:r>
            <a:r>
              <a:rPr lang="en-US" altLang="zh-CN"/>
              <a:t>24B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BDP</a:t>
            </a:r>
            <a:r>
              <a:rPr lang="zh-CN" altLang="en-US"/>
              <a:t>需要</a:t>
            </a:r>
            <a:r>
              <a:rPr lang="en-US" altLang="zh-CN"/>
              <a:t>500</a:t>
            </a:r>
            <a:r>
              <a:rPr lang="zh-CN" altLang="en-US"/>
              <a:t>个条目），那进行</a:t>
            </a:r>
            <a:r>
              <a:rPr lang="en-US" altLang="zh-CN"/>
              <a:t>10k</a:t>
            </a:r>
            <a:r>
              <a:rPr lang="zh-CN" altLang="en-US"/>
              <a:t>个连接需要</a:t>
            </a:r>
            <a:r>
              <a:rPr lang="en-US" altLang="zh-CN"/>
              <a:t>114.4MB</a:t>
            </a:r>
            <a:r>
              <a:rPr lang="zh-CN" altLang="en-US"/>
              <a:t>内存。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35" y="4118610"/>
            <a:ext cx="10775950" cy="2214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SRNIC</a:t>
            </a:r>
            <a:r>
              <a:rPr lang="zh-CN" altLang="en-US" sz="2000"/>
              <a:t>整体架构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854710"/>
            <a:ext cx="4415790" cy="55632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80635" y="647065"/>
            <a:ext cx="20739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1"/>
                </a:solidFill>
              </a:rPr>
              <a:t>CPU</a:t>
            </a:r>
            <a:endParaRPr lang="en-US" altLang="zh-CN" sz="2000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47335" y="1024890"/>
            <a:ext cx="58293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用户空间</a:t>
            </a:r>
            <a:r>
              <a:rPr lang="zh-CN" altLang="en-US"/>
              <a:t>：应用程序，数据缓存，软件重传机制。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/>
              <a:t>RNIC</a:t>
            </a:r>
            <a:r>
              <a:rPr lang="zh-CN" altLang="en-US" b="1"/>
              <a:t>驱动</a:t>
            </a:r>
            <a:r>
              <a:rPr lang="zh-CN" altLang="en-US"/>
              <a:t>：维护</a:t>
            </a:r>
            <a:r>
              <a:rPr lang="en-US" altLang="zh-CN"/>
              <a:t>QPs</a:t>
            </a:r>
            <a:r>
              <a:rPr lang="zh-CN" altLang="en-US"/>
              <a:t>，控制队列（</a:t>
            </a:r>
            <a:r>
              <a:rPr lang="en-US" altLang="zh-CN"/>
              <a:t>CtrlQs</a:t>
            </a:r>
            <a:r>
              <a:rPr lang="zh-CN" altLang="en-US"/>
              <a:t>）用来作为软件重传模块和</a:t>
            </a:r>
            <a:r>
              <a:rPr lang="en-US" altLang="zh-CN"/>
              <a:t>RNIC</a:t>
            </a:r>
            <a:r>
              <a:rPr lang="zh-CN" altLang="en-US"/>
              <a:t>硬件重传的通道。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80635" y="2418080"/>
            <a:ext cx="20739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1"/>
                </a:solidFill>
              </a:rPr>
              <a:t>RNIC</a:t>
            </a:r>
            <a:endParaRPr lang="en-US" altLang="zh-CN" sz="2000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07025" y="2868930"/>
            <a:ext cx="58362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/>
              <a:t>DMA Engine</a:t>
            </a:r>
            <a:r>
              <a:rPr lang="zh-CN" altLang="en-US"/>
              <a:t>：调度</a:t>
            </a:r>
            <a:r>
              <a:rPr lang="en-US" altLang="zh-CN"/>
              <a:t>QP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/>
              <a:t>Transport</a:t>
            </a:r>
            <a:r>
              <a:rPr lang="zh-CN" altLang="en-US"/>
              <a:t>：实现拥塞控制（如</a:t>
            </a:r>
            <a:r>
              <a:rPr lang="en-US" altLang="zh-CN"/>
              <a:t>DCTCP</a:t>
            </a:r>
            <a:r>
              <a:rPr lang="zh-CN" altLang="en-US"/>
              <a:t>）</a:t>
            </a:r>
            <a:r>
              <a:rPr lang="en-US" altLang="zh-CN"/>
              <a:t>, </a:t>
            </a:r>
            <a:r>
              <a:rPr lang="zh-CN" altLang="en-US"/>
              <a:t>硬件重传。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b="1"/>
              <a:t>Basic NIC</a:t>
            </a:r>
            <a:r>
              <a:rPr lang="zh-CN" altLang="en-US"/>
              <a:t>：通过</a:t>
            </a:r>
            <a:r>
              <a:rPr lang="en-US" altLang="zh-CN"/>
              <a:t>100</a:t>
            </a:r>
            <a:r>
              <a:rPr lang="zh-CN" altLang="en-US"/>
              <a:t>千兆以太网传送</a:t>
            </a:r>
            <a:r>
              <a:rPr lang="en-US" altLang="zh-CN"/>
              <a:t>RoCE V2</a:t>
            </a:r>
            <a:r>
              <a:rPr lang="zh-CN" altLang="en-US"/>
              <a:t>数据包。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080635" y="4669790"/>
            <a:ext cx="6324600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>
                <a:solidFill>
                  <a:schemeClr val="tx1"/>
                </a:solidFill>
              </a:rPr>
              <a:t>SRNIC</a:t>
            </a:r>
            <a:r>
              <a:rPr lang="zh-CN" altLang="en-US">
                <a:solidFill>
                  <a:schemeClr val="tx1"/>
                </a:solidFill>
              </a:rPr>
              <a:t>的数据传输路径被分为</a:t>
            </a:r>
            <a:r>
              <a:rPr lang="zh-CN" altLang="en-US" b="1">
                <a:solidFill>
                  <a:schemeClr val="tx1"/>
                </a:solidFill>
              </a:rPr>
              <a:t>快速路径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zh-CN" altLang="en-US" b="1">
                <a:solidFill>
                  <a:schemeClr val="tx1"/>
                </a:solidFill>
              </a:rPr>
              <a:t>慢速路径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chemeClr val="tx1"/>
                </a:solidFill>
              </a:rPr>
              <a:t>快速路径完全使用</a:t>
            </a:r>
            <a:r>
              <a:rPr lang="en-US" altLang="zh-CN">
                <a:solidFill>
                  <a:schemeClr val="tx1"/>
                </a:solidFill>
              </a:rPr>
              <a:t>RNIC</a:t>
            </a:r>
            <a:r>
              <a:rPr lang="zh-CN" altLang="en-US">
                <a:solidFill>
                  <a:schemeClr val="tx1"/>
                </a:solidFill>
              </a:rPr>
              <a:t>，慢速路径使用软件重传（目的是将</a:t>
            </a:r>
            <a:r>
              <a:rPr lang="en-US" altLang="zh-CN">
                <a:solidFill>
                  <a:schemeClr val="tx1"/>
                </a:solidFill>
              </a:rPr>
              <a:t>bitmap</a:t>
            </a:r>
            <a:r>
              <a:rPr lang="zh-CN" altLang="en-US">
                <a:solidFill>
                  <a:schemeClr val="tx1"/>
                </a:solidFill>
              </a:rPr>
              <a:t>上载到主机内存，实现连接扩展）。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通用数据结构改进</a:t>
            </a:r>
            <a:endParaRPr lang="en-US" altLang="zh-CN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785495"/>
            <a:ext cx="10775950" cy="22142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9155" y="3343275"/>
            <a:ext cx="10450830" cy="2027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chemeClr val="tx1"/>
                </a:solidFill>
              </a:rPr>
              <a:t>Recieving buffer</a:t>
            </a:r>
            <a:r>
              <a:rPr lang="zh-CN" altLang="en-US"/>
              <a:t>需要用来接收飞行包，</a:t>
            </a:r>
            <a:r>
              <a:rPr lang="en-US" altLang="zh-CN">
                <a:sym typeface="+mn-ea"/>
              </a:rPr>
              <a:t>Recieving buffer</a:t>
            </a:r>
            <a:r>
              <a:rPr lang="zh-CN" altLang="en-US">
                <a:sym typeface="+mn-ea"/>
              </a:rPr>
              <a:t>不能减少。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chemeClr val="tx1"/>
                </a:solidFill>
              </a:rPr>
              <a:t>QPC</a:t>
            </a:r>
            <a:r>
              <a:rPr lang="zh-CN" altLang="en-US"/>
              <a:t>负责存储</a:t>
            </a:r>
            <a:r>
              <a:rPr lang="en-US" altLang="zh-CN"/>
              <a:t>QP</a:t>
            </a:r>
            <a:r>
              <a:rPr lang="zh-CN" altLang="en-US"/>
              <a:t>上下文信息，</a:t>
            </a:r>
            <a:r>
              <a:rPr lang="en-US" altLang="zh-CN"/>
              <a:t>QPC</a:t>
            </a:r>
            <a:r>
              <a:rPr lang="zh-CN" altLang="en-US"/>
              <a:t>越大，</a:t>
            </a:r>
            <a:r>
              <a:rPr lang="en-US" altLang="zh-CN"/>
              <a:t>QP</a:t>
            </a:r>
            <a:r>
              <a:rPr lang="zh-CN" altLang="en-US"/>
              <a:t>缓存命中率越高，</a:t>
            </a:r>
            <a:r>
              <a:rPr lang="en-US" altLang="zh-CN"/>
              <a:t>QPC</a:t>
            </a:r>
            <a:r>
              <a:rPr lang="zh-CN" altLang="en-US"/>
              <a:t>越大越好。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chemeClr val="tx1"/>
                </a:solidFill>
              </a:rPr>
              <a:t>MTT</a:t>
            </a:r>
            <a:r>
              <a:rPr lang="zh-CN" altLang="en-US"/>
              <a:t>是内存转换表，只与</a:t>
            </a:r>
            <a:r>
              <a:rPr lang="en-US" altLang="zh-CN"/>
              <a:t>RNIC</a:t>
            </a:r>
            <a:r>
              <a:rPr lang="zh-CN" altLang="en-US"/>
              <a:t>内存大小和页的大小有关，应用大页减少内存，但要更新应用程序。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b="1">
                <a:solidFill>
                  <a:srgbClr val="FF0000"/>
                </a:solidFill>
              </a:rPr>
              <a:t>WQE Cache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RNIC</a:t>
            </a:r>
            <a:r>
              <a:rPr lang="zh-CN" altLang="en-US">
                <a:sym typeface="+mn-ea"/>
              </a:rPr>
              <a:t>从主机内存</a:t>
            </a:r>
            <a:r>
              <a:rPr lang="en-US" altLang="zh-CN">
                <a:sym typeface="+mn-ea"/>
              </a:rPr>
              <a:t>SQ</a:t>
            </a:r>
            <a:r>
              <a:rPr lang="zh-CN" altLang="en-US">
                <a:sym typeface="+mn-ea"/>
              </a:rPr>
              <a:t>中获取</a:t>
            </a:r>
            <a:r>
              <a:rPr lang="en-US" altLang="zh-CN">
                <a:sym typeface="+mn-ea"/>
              </a:rPr>
              <a:t>WQE</a:t>
            </a:r>
            <a:r>
              <a:rPr lang="zh-CN" altLang="en-US">
                <a:sym typeface="+mn-ea"/>
              </a:rPr>
              <a:t>，每个</a:t>
            </a:r>
            <a:r>
              <a:rPr lang="en-US" altLang="zh-CN">
                <a:sym typeface="+mn-ea"/>
              </a:rPr>
              <a:t>SQ</a:t>
            </a:r>
            <a:r>
              <a:rPr lang="zh-CN" altLang="en-US">
                <a:sym typeface="+mn-ea"/>
              </a:rPr>
              <a:t>在自己的专用缓存中存储多个</a:t>
            </a:r>
            <a:r>
              <a:rPr lang="en-US" altLang="zh-CN">
                <a:sym typeface="+mn-ea"/>
              </a:rPr>
              <a:t>WQE</a:t>
            </a:r>
            <a:r>
              <a:rPr lang="zh-CN" altLang="en-US">
                <a:sym typeface="+mn-ea"/>
              </a:rPr>
              <a:t>。多个</a:t>
            </a:r>
            <a:r>
              <a:rPr lang="en-US" altLang="zh-CN">
                <a:sym typeface="+mn-ea"/>
              </a:rPr>
              <a:t>SQ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WQE Cache</a:t>
            </a:r>
            <a:r>
              <a:rPr lang="zh-CN" altLang="en-US">
                <a:sym typeface="+mn-ea"/>
              </a:rPr>
              <a:t>里等待</a:t>
            </a:r>
            <a:r>
              <a:rPr lang="en-US" altLang="zh-CN">
                <a:sym typeface="+mn-ea"/>
              </a:rPr>
              <a:t>DMA Engine</a:t>
            </a:r>
            <a:r>
              <a:rPr lang="zh-CN" altLang="en-US">
                <a:sym typeface="+mn-ea"/>
              </a:rPr>
              <a:t>调度。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1075" y="5579745"/>
            <a:ext cx="1028128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7030A0"/>
                </a:solidFill>
              </a:rPr>
              <a:t>本文方案：建立一个无缓存的</a:t>
            </a:r>
            <a:r>
              <a:rPr lang="en-US" altLang="zh-CN">
                <a:solidFill>
                  <a:srgbClr val="7030A0"/>
                </a:solidFill>
              </a:rPr>
              <a:t>SQ</a:t>
            </a:r>
            <a:r>
              <a:rPr lang="zh-CN" altLang="en-US">
                <a:solidFill>
                  <a:srgbClr val="7030A0"/>
                </a:solidFill>
              </a:rPr>
              <a:t>调度器。</a:t>
            </a:r>
            <a:endParaRPr lang="zh-CN" altLang="en-US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7030A0"/>
                </a:solidFill>
              </a:rPr>
              <a:t>核心改进是</a:t>
            </a:r>
            <a:r>
              <a:rPr lang="en-US" altLang="zh-CN">
                <a:solidFill>
                  <a:srgbClr val="7030A0"/>
                </a:solidFill>
              </a:rPr>
              <a:t>RNIC</a:t>
            </a:r>
            <a:r>
              <a:rPr lang="zh-CN" altLang="en-US">
                <a:solidFill>
                  <a:srgbClr val="7030A0"/>
                </a:solidFill>
              </a:rPr>
              <a:t>中排队等待调度的不是</a:t>
            </a:r>
            <a:r>
              <a:rPr lang="en-US" altLang="zh-CN">
                <a:solidFill>
                  <a:srgbClr val="7030A0"/>
                </a:solidFill>
              </a:rPr>
              <a:t>SQ</a:t>
            </a:r>
            <a:r>
              <a:rPr lang="zh-CN" altLang="en-US">
                <a:solidFill>
                  <a:srgbClr val="7030A0"/>
                </a:solidFill>
              </a:rPr>
              <a:t>的</a:t>
            </a:r>
            <a:r>
              <a:rPr lang="en-US" altLang="zh-CN">
                <a:solidFill>
                  <a:srgbClr val="7030A0"/>
                </a:solidFill>
              </a:rPr>
              <a:t>WQE</a:t>
            </a:r>
            <a:r>
              <a:rPr lang="zh-CN" altLang="en-US">
                <a:solidFill>
                  <a:srgbClr val="7030A0"/>
                </a:solidFill>
              </a:rPr>
              <a:t>，而是</a:t>
            </a:r>
            <a:r>
              <a:rPr lang="en-US" altLang="zh-CN">
                <a:solidFill>
                  <a:srgbClr val="7030A0"/>
                </a:solidFill>
              </a:rPr>
              <a:t>SQ</a:t>
            </a:r>
            <a:r>
              <a:rPr lang="zh-CN" altLang="en-US">
                <a:solidFill>
                  <a:srgbClr val="7030A0"/>
                </a:solidFill>
              </a:rPr>
              <a:t>的队列编号（</a:t>
            </a:r>
            <a:r>
              <a:rPr lang="en-US" altLang="zh-CN">
                <a:solidFill>
                  <a:srgbClr val="7030A0"/>
                </a:solidFill>
              </a:rPr>
              <a:t>QPN</a:t>
            </a:r>
            <a:r>
              <a:rPr lang="zh-CN" altLang="en-US">
                <a:solidFill>
                  <a:srgbClr val="7030A0"/>
                </a:solidFill>
              </a:rPr>
              <a:t>）</a:t>
            </a:r>
            <a:r>
              <a:rPr lang="en-US" altLang="zh-CN">
                <a:solidFill>
                  <a:srgbClr val="7030A0"/>
                </a:solidFill>
              </a:rPr>
              <a:t>,</a:t>
            </a:r>
            <a:r>
              <a:rPr lang="zh-CN" altLang="en-US">
                <a:solidFill>
                  <a:srgbClr val="7030A0"/>
                </a:solidFill>
              </a:rPr>
              <a:t>消除</a:t>
            </a:r>
            <a:r>
              <a:rPr lang="en-US" altLang="zh-CN">
                <a:solidFill>
                  <a:srgbClr val="7030A0"/>
                </a:solidFill>
              </a:rPr>
              <a:t>WQE Cache</a:t>
            </a:r>
            <a:r>
              <a:rPr lang="zh-CN" altLang="en-US">
                <a:solidFill>
                  <a:srgbClr val="7030A0"/>
                </a:solidFill>
              </a:rPr>
              <a:t>。</a:t>
            </a:r>
            <a:endParaRPr lang="zh-CN" altLang="en-US">
              <a:solidFill>
                <a:srgbClr val="7030A0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23585" y="5070475"/>
            <a:ext cx="5009515" cy="645160"/>
            <a:chOff x="9171" y="7985"/>
            <a:chExt cx="7889" cy="1016"/>
          </a:xfrm>
        </p:grpSpPr>
        <p:sp>
          <p:nvSpPr>
            <p:cNvPr id="3" name="矩形 2"/>
            <p:cNvSpPr/>
            <p:nvPr/>
          </p:nvSpPr>
          <p:spPr>
            <a:xfrm>
              <a:off x="9171" y="8059"/>
              <a:ext cx="7803" cy="868"/>
            </a:xfrm>
            <a:prstGeom prst="rect">
              <a:avLst/>
            </a:prstGeom>
            <a:ln w="19050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587" y="8193"/>
              <a:ext cx="3619" cy="59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                        QP1</a:t>
              </a:r>
              <a:endParaRPr lang="en-US" altLang="zh-CN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9770" y="8294"/>
              <a:ext cx="892" cy="392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WQE</a:t>
              </a:r>
              <a:endParaRPr lang="en-US" altLang="zh-CN" sz="12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848" y="7985"/>
              <a:ext cx="121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WQE Cache</a:t>
              </a:r>
              <a:endParaRPr lang="en-US" altLang="zh-CN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0862" y="8294"/>
              <a:ext cx="892" cy="392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WQE</a:t>
              </a:r>
              <a:endParaRPr lang="en-US" altLang="zh-CN" sz="12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3610" y="8218"/>
              <a:ext cx="1553" cy="58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QP2</a:t>
              </a:r>
              <a:endParaRPr lang="en-US" altLang="zh-CN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3818" y="8401"/>
              <a:ext cx="538" cy="282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1">
              <a:schemeClr val="accent2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通用数据结构改进</a:t>
            </a:r>
            <a:r>
              <a:rPr lang="en-US" altLang="zh-CN" sz="2000"/>
              <a:t>——WQE Cache</a:t>
            </a:r>
            <a:endParaRPr lang="en-US" altLang="zh-CN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5755" y="750570"/>
            <a:ext cx="336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</a:rPr>
              <a:t>SQ</a:t>
            </a:r>
            <a:r>
              <a:rPr lang="zh-CN" altLang="en-US" b="1">
                <a:solidFill>
                  <a:schemeClr val="tx1"/>
                </a:solidFill>
              </a:rPr>
              <a:t>调度的挑战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9310" y="1118870"/>
            <a:ext cx="941451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/>
              <a:t>挑战</a:t>
            </a:r>
            <a:r>
              <a:rPr lang="en-US" altLang="zh-CN"/>
              <a:t>#1</a:t>
            </a:r>
            <a:r>
              <a:rPr lang="zh-CN" altLang="en-US"/>
              <a:t>：</a:t>
            </a:r>
            <a:r>
              <a:rPr lang="en-US" altLang="zh-CN"/>
              <a:t>SQ</a:t>
            </a:r>
            <a:r>
              <a:rPr lang="zh-CN" altLang="en-US"/>
              <a:t>可以被调度不仅需要有</a:t>
            </a:r>
            <a:r>
              <a:rPr lang="en-US" altLang="zh-CN"/>
              <a:t>WQE</a:t>
            </a:r>
            <a:r>
              <a:rPr lang="zh-CN" altLang="en-US"/>
              <a:t>，也要考虑拥塞控制，有允许</a:t>
            </a:r>
            <a:r>
              <a:rPr lang="en-US" altLang="zh-CN"/>
              <a:t>SQ</a:t>
            </a:r>
            <a:r>
              <a:rPr lang="zh-CN" altLang="en-US"/>
              <a:t>发送的令牌。</a:t>
            </a:r>
            <a:endParaRPr lang="zh-CN" altLang="en-US"/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/>
              <a:t>挑战</a:t>
            </a:r>
            <a:r>
              <a:rPr lang="en-US" altLang="zh-CN"/>
              <a:t>#2</a:t>
            </a:r>
            <a:r>
              <a:rPr lang="zh-CN" altLang="en-US"/>
              <a:t>：</a:t>
            </a:r>
            <a:r>
              <a:rPr lang="en-US" altLang="zh-CN"/>
              <a:t>PCIe</a:t>
            </a:r>
            <a:r>
              <a:rPr lang="zh-CN" altLang="en-US"/>
              <a:t>在网卡和主机内存之间交换数据延迟高，来回</a:t>
            </a:r>
            <a:r>
              <a:rPr lang="en-US" altLang="zh-CN"/>
              <a:t>1μs</a:t>
            </a:r>
            <a:r>
              <a:rPr lang="zh-CN" altLang="en-US"/>
              <a:t>。</a:t>
            </a:r>
            <a:endParaRPr lang="zh-CN" altLang="en-US"/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/>
              <a:t>挑战</a:t>
            </a:r>
            <a:r>
              <a:rPr lang="en-US" altLang="zh-CN"/>
              <a:t>#3</a:t>
            </a:r>
            <a:r>
              <a:rPr lang="zh-CN" altLang="en-US"/>
              <a:t>：主机内存有数以万计的</a:t>
            </a:r>
            <a:r>
              <a:rPr lang="en-US" altLang="zh-CN"/>
              <a:t>SQ</a:t>
            </a:r>
            <a:r>
              <a:rPr lang="zh-CN" altLang="en-US"/>
              <a:t>，</a:t>
            </a:r>
            <a:r>
              <a:rPr lang="en-US" altLang="zh-CN"/>
              <a:t>RNIC</a:t>
            </a:r>
            <a:r>
              <a:rPr lang="zh-CN" altLang="en-US"/>
              <a:t>内存小，为每个</a:t>
            </a:r>
            <a:r>
              <a:rPr lang="en-US" altLang="zh-CN"/>
              <a:t>SQ</a:t>
            </a:r>
            <a:r>
              <a:rPr lang="zh-CN" altLang="en-US"/>
              <a:t>单独配置</a:t>
            </a:r>
            <a:r>
              <a:rPr lang="en-US" altLang="zh-CN"/>
              <a:t>WQE</a:t>
            </a:r>
            <a:r>
              <a:rPr lang="zh-CN" altLang="en-US"/>
              <a:t>缓存不可行。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11561"/>
          <a:stretch>
            <a:fillRect/>
          </a:stretch>
        </p:blipFill>
        <p:spPr>
          <a:xfrm>
            <a:off x="189230" y="2367915"/>
            <a:ext cx="6350635" cy="44348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65595" y="2422525"/>
            <a:ext cx="5163185" cy="3466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b="1"/>
              <a:t>EMUX</a:t>
            </a:r>
            <a:r>
              <a:rPr lang="zh-CN" altLang="en-US" b="1"/>
              <a:t>模型处理调度事件</a:t>
            </a:r>
            <a:r>
              <a:rPr lang="zh-CN" altLang="en-US"/>
              <a:t>：</a:t>
            </a:r>
            <a:r>
              <a:rPr lang="en-US" altLang="zh-CN">
                <a:solidFill>
                  <a:srgbClr val="7030A0"/>
                </a:solidFill>
              </a:rPr>
              <a:t>doorbell</a:t>
            </a:r>
            <a:r>
              <a:rPr lang="zh-CN" altLang="en-US"/>
              <a:t>指示哪个</a:t>
            </a:r>
            <a:r>
              <a:rPr lang="en-US" altLang="zh-CN"/>
              <a:t>SQ</a:t>
            </a:r>
            <a:r>
              <a:rPr lang="zh-CN" altLang="en-US"/>
              <a:t>有</a:t>
            </a:r>
            <a:r>
              <a:rPr lang="en-US" altLang="zh-CN"/>
              <a:t>WQE</a:t>
            </a:r>
            <a:r>
              <a:rPr lang="zh-CN" altLang="en-US"/>
              <a:t>，</a:t>
            </a:r>
            <a:r>
              <a:rPr lang="en-US" altLang="zh-CN">
                <a:solidFill>
                  <a:srgbClr val="7030A0"/>
                </a:solidFill>
              </a:rPr>
              <a:t>Congestion Control</a:t>
            </a:r>
            <a:r>
              <a:rPr lang="zh-CN" altLang="en-US"/>
              <a:t>更新令牌数值来控制发送速率</a:t>
            </a:r>
            <a:r>
              <a:rPr lang="en-US" altLang="zh-CN"/>
              <a:t>/</a:t>
            </a:r>
            <a:r>
              <a:rPr lang="zh-CN" altLang="en-US"/>
              <a:t>窗口大小，需要调度的</a:t>
            </a:r>
            <a:r>
              <a:rPr lang="en-US" altLang="zh-CN">
                <a:solidFill>
                  <a:srgbClr val="FF0000"/>
                </a:solidFill>
              </a:rPr>
              <a:t>SQ</a:t>
            </a:r>
            <a:r>
              <a:rPr lang="zh-CN" altLang="en-US">
                <a:solidFill>
                  <a:srgbClr val="FF0000"/>
                </a:solidFill>
              </a:rPr>
              <a:t>编号</a:t>
            </a:r>
            <a:r>
              <a:rPr lang="zh-CN" altLang="en-US"/>
              <a:t>到</a:t>
            </a:r>
            <a:r>
              <a:rPr lang="en-US" altLang="zh-CN">
                <a:solidFill>
                  <a:srgbClr val="7030A0"/>
                </a:solidFill>
              </a:rPr>
              <a:t>shedule queue</a:t>
            </a:r>
            <a:r>
              <a:rPr lang="zh-CN" altLang="en-US"/>
              <a:t>里面排队。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调度器</a:t>
            </a:r>
            <a:r>
              <a:rPr lang="zh-CN" altLang="en-US"/>
              <a:t>：使用</a:t>
            </a:r>
            <a:r>
              <a:rPr lang="zh-CN" altLang="en-US">
                <a:solidFill>
                  <a:srgbClr val="7030A0"/>
                </a:solidFill>
              </a:rPr>
              <a:t>轮询</a:t>
            </a:r>
            <a:r>
              <a:rPr lang="zh-CN" altLang="en-US"/>
              <a:t>策略，每次从队列头部弹出一个准备好的</a:t>
            </a:r>
            <a:r>
              <a:rPr lang="en-US" altLang="zh-CN"/>
              <a:t>SQ</a:t>
            </a:r>
            <a:r>
              <a:rPr lang="zh-CN" altLang="en-US"/>
              <a:t>，从主机的</a:t>
            </a:r>
            <a:r>
              <a:rPr lang="en-US" altLang="zh-CN"/>
              <a:t>SQ</a:t>
            </a:r>
            <a:r>
              <a:rPr lang="zh-CN" altLang="en-US"/>
              <a:t>中抓取</a:t>
            </a:r>
            <a:r>
              <a:rPr lang="zh-CN" altLang="en-US">
                <a:solidFill>
                  <a:srgbClr val="FF0000"/>
                </a:solidFill>
              </a:rPr>
              <a:t>固定数目</a:t>
            </a:r>
            <a:r>
              <a:rPr lang="zh-CN" altLang="en-US"/>
              <a:t>的</a:t>
            </a:r>
            <a:r>
              <a:rPr lang="en-US" altLang="zh-CN"/>
              <a:t>WQE</a:t>
            </a:r>
            <a:r>
              <a:rPr lang="zh-CN" altLang="en-US"/>
              <a:t>和消息。如果完成迭代，队头</a:t>
            </a:r>
            <a:r>
              <a:rPr lang="en-US" altLang="zh-CN"/>
              <a:t>SQ</a:t>
            </a:r>
            <a:r>
              <a:rPr lang="zh-CN" altLang="en-US"/>
              <a:t>依然处于调度状态，那将此</a:t>
            </a:r>
            <a:r>
              <a:rPr lang="en-US" altLang="zh-CN"/>
              <a:t>SQ</a:t>
            </a:r>
            <a:r>
              <a:rPr lang="zh-CN" altLang="en-US"/>
              <a:t>加入队尾。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9605010" y="1847215"/>
            <a:ext cx="2281555" cy="5994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</a:t>
            </a:r>
            <a:r>
              <a:rPr lang="en-US" altLang="zh-CN"/>
              <a:t>RNIC</a:t>
            </a:r>
            <a:r>
              <a:rPr lang="zh-CN" altLang="en-US"/>
              <a:t>中等待的不是</a:t>
            </a:r>
            <a:r>
              <a:rPr lang="en-US" altLang="zh-CN"/>
              <a:t>WQE</a:t>
            </a:r>
            <a:r>
              <a:rPr lang="zh-CN" altLang="en-US"/>
              <a:t>，而是编号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8849995" y="5713095"/>
            <a:ext cx="2917825" cy="7626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为了减少</a:t>
            </a:r>
            <a:r>
              <a:rPr lang="en-US" altLang="zh-CN"/>
              <a:t>PCIe</a:t>
            </a:r>
            <a:r>
              <a:rPr lang="zh-CN" altLang="en-US"/>
              <a:t>时延，每次调度</a:t>
            </a:r>
            <a:r>
              <a:rPr lang="en-US" altLang="zh-CN"/>
              <a:t>SQ</a:t>
            </a:r>
            <a:r>
              <a:rPr lang="zh-CN" altLang="en-US"/>
              <a:t>会抓取多个</a:t>
            </a:r>
            <a:r>
              <a:rPr lang="en-US" altLang="zh-CN"/>
              <a:t>WQE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4" grpId="0" animBg="1"/>
      <p:bldP spid="14" grpId="1" animBg="1"/>
      <p:bldP spid="16" grpId="0" animBg="1"/>
      <p:bldP spid="1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通用数据结构改进</a:t>
            </a:r>
            <a:r>
              <a:rPr lang="en-US" altLang="zh-CN" sz="2000"/>
              <a:t>——WQE Cache</a:t>
            </a:r>
            <a:endParaRPr lang="en-US" altLang="zh-CN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11561"/>
          <a:stretch>
            <a:fillRect/>
          </a:stretch>
        </p:blipFill>
        <p:spPr>
          <a:xfrm>
            <a:off x="635" y="1149350"/>
            <a:ext cx="6350635" cy="4434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351270" y="874395"/>
                <a:ext cx="5566410" cy="1529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en-US" altLang="zh-CN" b="1"/>
                  <a:t>DMA</a:t>
                </a:r>
                <a:r>
                  <a:rPr lang="zh-CN" altLang="en-US" b="1"/>
                  <a:t>引擎</a:t>
                </a:r>
                <a:r>
                  <a:rPr lang="zh-CN" altLang="en-US"/>
                  <a:t>：每一个</a:t>
                </a:r>
                <a:r>
                  <a:rPr lang="en-US" altLang="zh-CN"/>
                  <a:t>SQ</a:t>
                </a:r>
                <a:r>
                  <a:rPr lang="zh-CN" altLang="en-US"/>
                  <a:t>被调度，</a:t>
                </a:r>
                <a:r>
                  <a:rPr lang="en-US" altLang="zh-CN">
                    <a:sym typeface="+mn-ea"/>
                  </a:rPr>
                  <a:t>DMA</a:t>
                </a:r>
                <a:r>
                  <a:rPr lang="zh-CN" altLang="en-US">
                    <a:sym typeface="+mn-ea"/>
                  </a:rPr>
                  <a:t>引擎会从主机</a:t>
                </a:r>
                <a:r>
                  <a:rPr lang="en-US" altLang="zh-CN">
                    <a:sym typeface="+mn-ea"/>
                  </a:rPr>
                  <a:t>SQ</a:t>
                </a:r>
                <a:r>
                  <a:rPr lang="zh-CN" altLang="en-US">
                    <a:sym typeface="+mn-ea"/>
                  </a:rPr>
                  <a:t>里抓取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个</a:t>
                </a:r>
                <a:r>
                  <a:rPr lang="en-US" altLang="zh-CN">
                    <a:sym typeface="+mn-ea"/>
                  </a:rPr>
                  <a:t>WQE</a:t>
                </a:r>
                <a:r>
                  <a:rPr lang="zh-CN" altLang="en-US">
                    <a:sym typeface="+mn-ea"/>
                  </a:rPr>
                  <a:t>，并获取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𝑚𝑖𝑛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𝑏𝑟𝑢𝑠𝑡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_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𝑠𝑖𝑧𝑒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 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𝑐𝑟𝑒𝑑𝑖𝑡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字节的消息。</a:t>
                </a:r>
                <a:endParaRPr lang="zh-CN" altLang="en-US"/>
              </a:p>
              <a:p>
                <a:pPr marL="285750" indent="-285750">
                  <a:buFont typeface="Wingdings" panose="05000000000000000000" charset="0"/>
                  <a:buChar char="Ø"/>
                </a:pPr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70" y="874395"/>
                <a:ext cx="5566410" cy="15297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555105" y="2320925"/>
            <a:ext cx="5362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如果</a:t>
            </a:r>
            <a:r>
              <a:rPr lang="en-US" altLang="zh-CN">
                <a:solidFill>
                  <a:schemeClr val="accent1"/>
                </a:solidFill>
              </a:rPr>
              <a:t>WQE</a:t>
            </a:r>
            <a:r>
              <a:rPr lang="zh-CN" altLang="en-US">
                <a:solidFill>
                  <a:schemeClr val="accent1"/>
                </a:solidFill>
              </a:rPr>
              <a:t>需要获取的数据超过获取的字节数，丢弃多余</a:t>
            </a:r>
            <a:r>
              <a:rPr lang="en-US" altLang="zh-CN">
                <a:solidFill>
                  <a:schemeClr val="accent1"/>
                </a:solidFill>
              </a:rPr>
              <a:t>WQE</a:t>
            </a:r>
            <a:r>
              <a:rPr lang="zh-CN" altLang="en-US">
                <a:solidFill>
                  <a:schemeClr val="accent1"/>
                </a:solidFill>
              </a:rPr>
              <a:t>，下一次</a:t>
            </a:r>
            <a:r>
              <a:rPr lang="en-US" altLang="zh-CN">
                <a:solidFill>
                  <a:schemeClr val="accent1"/>
                </a:solidFill>
              </a:rPr>
              <a:t>SQ</a:t>
            </a:r>
            <a:r>
              <a:rPr lang="zh-CN" altLang="en-US">
                <a:solidFill>
                  <a:schemeClr val="accent1"/>
                </a:solidFill>
              </a:rPr>
              <a:t>被调度时抓取。</a:t>
            </a:r>
            <a:endParaRPr lang="zh-CN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555105" y="3180080"/>
                <a:ext cx="5466080" cy="374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现在两个重要的参数：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 和 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𝑏𝑟𝑢𝑠𝑡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_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𝑠𝑖𝑧𝑒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05" y="3180080"/>
                <a:ext cx="5466080" cy="3740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6555105" y="3683635"/>
            <a:ext cx="5125085" cy="2059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平衡了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PCIe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带宽和时延，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减小可以减少丢弃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WQE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导致的带宽浪费，但不能掩盖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PCIe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时延问题，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PCIe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带宽利用不完全。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brust_size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平衡了带宽使用和调度粒度，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brust_size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越小，减少了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HoL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（队头堵塞），但难以饱和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PCIe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带宽。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555105" y="5832475"/>
                <a:ext cx="5207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本文</a:t>
                </a: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8</m:t>
                    </m:r>
                  </m:oMath>
                </a14:m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𝑃𝐶𝐼𝑒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𝐵𝐷𝑃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𝑏𝑟𝑢𝑠𝑡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_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𝑠𝑖𝑧𝑒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16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𝑘𝐵</m:t>
                    </m:r>
                  </m:oMath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105" y="5832475"/>
                <a:ext cx="520700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" grpId="1"/>
      <p:bldP spid="8" grpId="1"/>
      <p:bldP spid="11" grpId="0"/>
      <p:bldP spid="1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SR</a:t>
            </a:r>
            <a:r>
              <a:rPr lang="zh-CN" altLang="en-US" sz="2000"/>
              <a:t>数据结构改进</a:t>
            </a:r>
            <a:endParaRPr lang="en-US" altLang="zh-CN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10" y="785495"/>
            <a:ext cx="10775950" cy="22142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43280" y="3144520"/>
            <a:ext cx="105549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en-US" altLang="zh-CN"/>
              <a:t>SRNIC</a:t>
            </a:r>
            <a:r>
              <a:rPr lang="zh-CN" altLang="en-US"/>
              <a:t>通过</a:t>
            </a:r>
            <a:r>
              <a:rPr lang="en-US" altLang="zh-CN" b="1"/>
              <a:t>RDMA</a:t>
            </a:r>
            <a:r>
              <a:rPr lang="zh-CN" altLang="en-US" b="1"/>
              <a:t>协议的头扩展</a:t>
            </a:r>
            <a:r>
              <a:rPr lang="zh-CN" altLang="en-US"/>
              <a:t>消除了对</a:t>
            </a:r>
            <a:r>
              <a:rPr lang="en-US" altLang="zh-CN"/>
              <a:t>Oustanding Request Table</a:t>
            </a:r>
            <a:r>
              <a:rPr lang="zh-CN" altLang="en-US"/>
              <a:t>和</a:t>
            </a:r>
            <a:r>
              <a:rPr lang="en-US" altLang="zh-CN"/>
              <a:t>Reordering Buffer</a:t>
            </a:r>
            <a:r>
              <a:rPr lang="zh-CN" altLang="en-US"/>
              <a:t>的需求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ü"/>
            </a:pPr>
            <a:r>
              <a:rPr lang="zh-CN" altLang="en-US"/>
              <a:t>通过软硬件协同方案将</a:t>
            </a:r>
            <a:r>
              <a:rPr lang="en-US" altLang="zh-CN" b="1"/>
              <a:t>bitmap</a:t>
            </a:r>
            <a:r>
              <a:rPr lang="zh-CN" altLang="en-US" b="1"/>
              <a:t>上载到主机内存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36880" y="4030345"/>
            <a:ext cx="3992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7030A0"/>
                </a:solidFill>
                <a:sym typeface="+mn-ea"/>
              </a:rPr>
              <a:t>Oustanding Request Table</a:t>
            </a:r>
            <a:endParaRPr lang="en-US" altLang="zh-CN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43915" y="4385310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ORT</a:t>
            </a:r>
            <a:r>
              <a:rPr lang="zh-CN" altLang="en-US"/>
              <a:t>是为了建立</a:t>
            </a:r>
            <a:r>
              <a:rPr lang="en-US" altLang="zh-CN"/>
              <a:t>QP</a:t>
            </a:r>
            <a:r>
              <a:rPr lang="zh-CN" altLang="en-US"/>
              <a:t>和他们元数据的对应关系，元数据包括</a:t>
            </a:r>
            <a:r>
              <a:rPr lang="en-US" altLang="zh-CN"/>
              <a:t>PSN</a:t>
            </a:r>
            <a:r>
              <a:rPr lang="zh-CN" altLang="en-US"/>
              <a:t>，</a:t>
            </a:r>
            <a:r>
              <a:rPr lang="en-US" altLang="zh-CN"/>
              <a:t>MSN</a:t>
            </a:r>
            <a:r>
              <a:rPr lang="zh-CN" altLang="en-US"/>
              <a:t>，</a:t>
            </a:r>
            <a:r>
              <a:rPr lang="en-US" altLang="zh-CN"/>
              <a:t>PSN_offset</a:t>
            </a:r>
            <a:r>
              <a:rPr lang="zh-CN" altLang="en-US"/>
              <a:t>，目的是实现快速重传。现在不需要</a:t>
            </a:r>
            <a:r>
              <a:rPr lang="en-US" altLang="zh-CN"/>
              <a:t>ORT</a:t>
            </a:r>
            <a:r>
              <a:rPr lang="zh-CN" altLang="en-US"/>
              <a:t>，每个数据包的元数据在他们头部，回复包也携带相同元数据。可以根据回复的消息头快速锁定</a:t>
            </a:r>
            <a:r>
              <a:rPr lang="en-US" altLang="zh-CN"/>
              <a:t>WQE</a:t>
            </a:r>
            <a:r>
              <a:rPr lang="zh-CN" altLang="en-US"/>
              <a:t>和</a:t>
            </a:r>
            <a:r>
              <a:rPr lang="en-US" altLang="zh-CN"/>
              <a:t>Msg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91160" y="5396230"/>
            <a:ext cx="3992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7030A0"/>
                </a:solidFill>
                <a:sym typeface="+mn-ea"/>
              </a:rPr>
              <a:t>Reording Buffer</a:t>
            </a:r>
            <a:endParaRPr lang="en-US" altLang="zh-CN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43915" y="5706745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每个</a:t>
            </a:r>
            <a:r>
              <a:rPr lang="en-US" altLang="zh-CN"/>
              <a:t>QP</a:t>
            </a:r>
            <a:r>
              <a:rPr lang="zh-CN" altLang="en-US"/>
              <a:t>用重排缓存来重排乱序包，以保证到主机内存的数据包是有序的。现在扩展数据包头部，所有</a:t>
            </a:r>
            <a:r>
              <a:rPr lang="en-US" altLang="zh-CN"/>
              <a:t>SEND</a:t>
            </a:r>
            <a:r>
              <a:rPr lang="zh-CN" altLang="en-US"/>
              <a:t>包都携带</a:t>
            </a:r>
            <a:r>
              <a:rPr lang="en-US" altLang="zh-CN"/>
              <a:t>send message sequence number</a:t>
            </a:r>
            <a:r>
              <a:rPr lang="zh-CN" altLang="en-US"/>
              <a:t>（</a:t>
            </a:r>
            <a:r>
              <a:rPr lang="en-US" altLang="zh-CN"/>
              <a:t>SSN</a:t>
            </a:r>
            <a:r>
              <a:rPr lang="zh-CN" altLang="en-US"/>
              <a:t>）和上面的</a:t>
            </a:r>
            <a:r>
              <a:rPr lang="en-US" altLang="zh-CN"/>
              <a:t>PSN_offset</a:t>
            </a:r>
            <a:r>
              <a:rPr lang="zh-CN" altLang="en-US"/>
              <a:t>，</a:t>
            </a:r>
            <a:r>
              <a:rPr lang="en-US" altLang="zh-CN"/>
              <a:t>RNIC</a:t>
            </a:r>
            <a:r>
              <a:rPr lang="zh-CN" altLang="en-US"/>
              <a:t>可以用这些信息来定位接收的</a:t>
            </a:r>
            <a:r>
              <a:rPr lang="en-US" altLang="zh-CN"/>
              <a:t>WQE</a:t>
            </a:r>
            <a:r>
              <a:rPr lang="zh-CN" altLang="en-US"/>
              <a:t>以及这些数据包对应的缓存位移。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662930" y="5216525"/>
            <a:ext cx="5547360" cy="429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数据包自己找在主机内存位置，不需要</a:t>
            </a:r>
            <a:r>
              <a:rPr lang="en-US" altLang="zh-CN"/>
              <a:t>RNIC</a:t>
            </a:r>
            <a:r>
              <a:rPr lang="zh-CN" altLang="en-US"/>
              <a:t>排好传送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503035" y="3735705"/>
            <a:ext cx="5044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头扩展为数据包增加</a:t>
            </a:r>
            <a:r>
              <a:rPr lang="en-US" altLang="zh-CN">
                <a:solidFill>
                  <a:srgbClr val="FF0000"/>
                </a:solidFill>
              </a:rPr>
              <a:t>8~20</a:t>
            </a:r>
            <a:r>
              <a:rPr lang="zh-CN" altLang="en-US">
                <a:solidFill>
                  <a:srgbClr val="FF0000"/>
                </a:solidFill>
              </a:rPr>
              <a:t>个字节，在</a:t>
            </a:r>
            <a:r>
              <a:rPr lang="en-US" altLang="zh-CN">
                <a:solidFill>
                  <a:srgbClr val="FF0000"/>
                </a:solidFill>
              </a:rPr>
              <a:t>RoCE V2 MTU</a:t>
            </a:r>
            <a:r>
              <a:rPr lang="zh-CN" altLang="en-US">
                <a:solidFill>
                  <a:srgbClr val="FF0000"/>
                </a:solidFill>
              </a:rPr>
              <a:t>为</a:t>
            </a:r>
            <a:r>
              <a:rPr lang="en-US" altLang="zh-CN">
                <a:solidFill>
                  <a:srgbClr val="FF0000"/>
                </a:solidFill>
              </a:rPr>
              <a:t>1024</a:t>
            </a:r>
            <a:r>
              <a:rPr lang="zh-CN" altLang="en-US">
                <a:solidFill>
                  <a:srgbClr val="FF0000"/>
                </a:solidFill>
              </a:rPr>
              <a:t>字节情况下，吞吐降低</a:t>
            </a:r>
            <a:r>
              <a:rPr lang="en-US" altLang="zh-CN">
                <a:solidFill>
                  <a:srgbClr val="FF0000"/>
                </a:solidFill>
              </a:rPr>
              <a:t>0.7%~1.8%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2" grpId="1"/>
      <p:bldP spid="14" grpId="1"/>
      <p:bldP spid="15" grpId="0"/>
      <p:bldP spid="16" grpId="0"/>
      <p:bldP spid="15" grpId="1"/>
      <p:bldP spid="16" grpId="1"/>
      <p:bldP spid="17" grpId="0" animBg="1"/>
      <p:bldP spid="17" grpId="1" animBg="1"/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SR</a:t>
            </a:r>
            <a:r>
              <a:rPr lang="zh-CN" altLang="en-US" sz="2000"/>
              <a:t>数据结构改进</a:t>
            </a:r>
            <a:r>
              <a:rPr lang="en-US" altLang="zh-CN" sz="2000"/>
              <a:t>——Bitmap</a:t>
            </a:r>
            <a:r>
              <a:rPr lang="zh-CN" altLang="en-US" sz="2000"/>
              <a:t>上载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30" y="790575"/>
            <a:ext cx="7217410" cy="38449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06640" y="913130"/>
            <a:ext cx="4251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>
                <a:solidFill>
                  <a:schemeClr val="accent1"/>
                </a:solidFill>
              </a:rPr>
              <a:t>有序数据包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6965" y="2529205"/>
            <a:ext cx="4251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 altLang="en-US" b="1">
                <a:solidFill>
                  <a:schemeClr val="accent1"/>
                </a:solidFill>
              </a:rPr>
              <a:t>无序数据包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87920" y="1328420"/>
            <a:ext cx="3940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只需要接收方的</a:t>
            </a:r>
            <a:r>
              <a:rPr lang="en-US" altLang="zh-CN"/>
              <a:t>expected PSN</a:t>
            </a:r>
            <a:r>
              <a:rPr lang="zh-CN" altLang="en-US"/>
              <a:t>和发送方最后确认的</a:t>
            </a:r>
            <a:r>
              <a:rPr lang="en-US" altLang="zh-CN"/>
              <a:t>PSN</a:t>
            </a:r>
            <a:r>
              <a:rPr lang="zh-CN" altLang="en-US"/>
              <a:t>（</a:t>
            </a:r>
            <a:r>
              <a:rPr lang="en-US" altLang="zh-CN"/>
              <a:t>lACK</a:t>
            </a:r>
            <a:r>
              <a:rPr lang="zh-CN" altLang="en-US"/>
              <a:t>）足以追踪数据传输情况，不需要位图。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03160" y="3046730"/>
            <a:ext cx="43776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/>
              <a:t>接收方</a:t>
            </a:r>
            <a:r>
              <a:rPr lang="zh-CN" altLang="en-US"/>
              <a:t>：判断到来的</a:t>
            </a:r>
            <a:r>
              <a:rPr lang="en-US" altLang="zh-CN"/>
              <a:t>PSN</a:t>
            </a:r>
            <a:r>
              <a:rPr lang="zh-CN" altLang="en-US"/>
              <a:t>是不是想要的</a:t>
            </a:r>
            <a:r>
              <a:rPr lang="en-US" altLang="zh-CN"/>
              <a:t>ePSN</a:t>
            </a:r>
            <a:r>
              <a:rPr lang="zh-CN" altLang="en-US"/>
              <a:t>，如果不是就进入丢包恢复状态。把所有到来的乱序包的元数据发送给软件，填充位图来追踪数据包，当丢失的包恢复，位图填满，返回更新的</a:t>
            </a:r>
            <a:r>
              <a:rPr lang="en-US" altLang="zh-CN"/>
              <a:t>ePSN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88365" y="4949190"/>
            <a:ext cx="10058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b="1"/>
              <a:t>发送方</a:t>
            </a:r>
            <a:r>
              <a:rPr lang="zh-CN" altLang="en-US"/>
              <a:t>：将到来的回复包</a:t>
            </a:r>
            <a:r>
              <a:rPr lang="en-US" altLang="zh-CN"/>
              <a:t>PSN</a:t>
            </a:r>
            <a:r>
              <a:rPr lang="zh-CN" altLang="en-US"/>
              <a:t>与</a:t>
            </a:r>
            <a:r>
              <a:rPr lang="en-US" altLang="zh-CN"/>
              <a:t>eACK</a:t>
            </a:r>
            <a:r>
              <a:rPr lang="zh-CN" altLang="en-US"/>
              <a:t>比较，</a:t>
            </a:r>
            <a:r>
              <a:rPr lang="en-US" altLang="zh-CN">
                <a:sym typeface="+mn-ea"/>
              </a:rPr>
              <a:t>eACK</a:t>
            </a:r>
            <a:r>
              <a:rPr lang="zh-CN" altLang="en-US">
                <a:sym typeface="+mn-ea"/>
              </a:rPr>
              <a:t>是累加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，在</a:t>
            </a:r>
            <a:r>
              <a:rPr lang="en-US" altLang="zh-CN">
                <a:sym typeface="+mn-ea"/>
              </a:rPr>
              <a:t>lACK</a:t>
            </a:r>
            <a:r>
              <a:rPr lang="zh-CN" altLang="en-US">
                <a:sym typeface="+mn-ea"/>
              </a:rPr>
              <a:t>基础上加上发送方发出的包。如果两者不相同，那说明有包丢失，需要重传。发送方将</a:t>
            </a:r>
            <a:r>
              <a:rPr lang="zh-CN" altLang="en-US">
                <a:sym typeface="+mn-ea"/>
              </a:rPr>
              <a:t>所有到来的乱序包的元数据发送给软件，填充位图来判断哪个包丢失了，并进行重传。</a:t>
            </a: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32865" y="6020435"/>
            <a:ext cx="7940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也可以接收方明确告诉发送方哪个包要重传，发送方无状态</a:t>
            </a:r>
            <a:r>
              <a:rPr lang="zh-CN" altLang="en-US"/>
              <a:t>。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4" grpId="1"/>
      <p:bldP spid="8" grpId="1"/>
      <p:bldP spid="9" grpId="0"/>
      <p:bldP spid="10" grpId="0"/>
      <p:bldP spid="9" grpId="1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9230" y="166370"/>
            <a:ext cx="4987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SR</a:t>
            </a:r>
            <a:r>
              <a:rPr lang="zh-CN" altLang="en-US" sz="2000"/>
              <a:t>数据结构改进</a:t>
            </a:r>
            <a:r>
              <a:rPr lang="en-US" altLang="zh-CN" sz="2000"/>
              <a:t>——Bitmap</a:t>
            </a:r>
            <a:r>
              <a:rPr lang="zh-CN" altLang="en-US" sz="2000"/>
              <a:t>上载</a:t>
            </a:r>
            <a:endParaRPr lang="zh-CN" altLang="en-US" sz="2000"/>
          </a:p>
        </p:txBody>
      </p:sp>
      <p:cxnSp>
        <p:nvCxnSpPr>
          <p:cNvPr id="6" name="直接连接符 5"/>
          <p:cNvCxnSpPr/>
          <p:nvPr/>
        </p:nvCxnSpPr>
        <p:spPr>
          <a:xfrm>
            <a:off x="153035" y="598170"/>
            <a:ext cx="446849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01725"/>
            <a:ext cx="5996940" cy="25787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147435" y="1562100"/>
            <a:ext cx="5473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退出丢包恢复状态后，接收方会出现速率竞争问题。当软件更新</a:t>
            </a:r>
            <a:r>
              <a:rPr lang="en-US" altLang="zh-CN"/>
              <a:t>ePSN</a:t>
            </a:r>
            <a:r>
              <a:rPr lang="zh-CN" altLang="en-US"/>
              <a:t>时，可能有携带新的</a:t>
            </a:r>
            <a:r>
              <a:rPr lang="en-US" altLang="zh-CN"/>
              <a:t>PSN</a:t>
            </a:r>
            <a:r>
              <a:rPr lang="zh-CN" altLang="en-US"/>
              <a:t>的数据包正在</a:t>
            </a:r>
            <a:r>
              <a:rPr lang="en-US" altLang="zh-CN"/>
              <a:t>RNIC</a:t>
            </a:r>
            <a:r>
              <a:rPr lang="zh-CN" altLang="en-US"/>
              <a:t>和</a:t>
            </a:r>
            <a:r>
              <a:rPr lang="en-US" altLang="zh-CN"/>
              <a:t>CPU</a:t>
            </a:r>
            <a:r>
              <a:rPr lang="zh-CN" altLang="en-US"/>
              <a:t>之间传输。这种情况下，更新的</a:t>
            </a:r>
            <a:r>
              <a:rPr lang="en-US" altLang="zh-CN"/>
              <a:t>ePSN</a:t>
            </a:r>
            <a:r>
              <a:rPr lang="zh-CN" altLang="en-US"/>
              <a:t>不是最新的。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710555" y="1039495"/>
            <a:ext cx="171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10555" y="2816225"/>
            <a:ext cx="171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97575" y="3368040"/>
            <a:ext cx="55124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RNIC</a:t>
            </a:r>
            <a:r>
              <a:rPr lang="zh-CN" altLang="en-US"/>
              <a:t>记录了进入丢失恢复状态后按序到达的</a:t>
            </a:r>
            <a:r>
              <a:rPr lang="zh-CN" altLang="en-US">
                <a:solidFill>
                  <a:schemeClr val="accent6"/>
                </a:solidFill>
              </a:rPr>
              <a:t>最高连续序列号段（</a:t>
            </a:r>
            <a:r>
              <a:rPr lang="en-US" altLang="zh-CN">
                <a:solidFill>
                  <a:schemeClr val="accent6"/>
                </a:solidFill>
              </a:rPr>
              <a:t>[PSN_left, PSN_right]</a:t>
            </a:r>
            <a:r>
              <a:rPr lang="zh-CN" altLang="en-US">
                <a:solidFill>
                  <a:schemeClr val="accent6"/>
                </a:solidFill>
              </a:rPr>
              <a:t>）</a:t>
            </a:r>
            <a:r>
              <a:rPr lang="zh-CN" altLang="en-US">
                <a:solidFill>
                  <a:schemeClr val="tx1"/>
                </a:solidFill>
              </a:rPr>
              <a:t>，如果退出丢失恢复状态后更新的</a:t>
            </a:r>
            <a:r>
              <a:rPr lang="en-US" altLang="zh-CN">
                <a:solidFill>
                  <a:schemeClr val="tx1"/>
                </a:solidFill>
              </a:rPr>
              <a:t>ePSN</a:t>
            </a:r>
            <a:r>
              <a:rPr lang="zh-CN" altLang="en-US">
                <a:solidFill>
                  <a:schemeClr val="tx1"/>
                </a:solidFill>
              </a:rPr>
              <a:t>在</a:t>
            </a:r>
            <a:r>
              <a:rPr lang="en-US" altLang="zh-CN">
                <a:solidFill>
                  <a:schemeClr val="tx1"/>
                </a:solidFill>
              </a:rPr>
              <a:t>[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PSN_left, PSN_right+1</a:t>
            </a:r>
            <a:r>
              <a:rPr lang="en-US" altLang="zh-CN">
                <a:solidFill>
                  <a:schemeClr val="tx1"/>
                </a:solidFill>
              </a:rPr>
              <a:t>]</a:t>
            </a:r>
            <a:r>
              <a:rPr lang="zh-CN" altLang="en-US">
                <a:solidFill>
                  <a:schemeClr val="tx1"/>
                </a:solidFill>
              </a:rPr>
              <a:t>里面，那接收方返回的</a:t>
            </a:r>
            <a:r>
              <a:rPr lang="en-US" altLang="zh-CN">
                <a:solidFill>
                  <a:schemeClr val="tx1"/>
                </a:solidFill>
              </a:rPr>
              <a:t>ePSN</a:t>
            </a: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PSN_right+1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5960" y="4431665"/>
            <a:ext cx="3037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最高连续序列号段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80110" y="4928235"/>
            <a:ext cx="10271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上面的序列</a:t>
            </a:r>
            <a:r>
              <a:rPr lang="en-US" altLang="zh-CN"/>
              <a:t>10234</a:t>
            </a:r>
            <a:r>
              <a:rPr lang="zh-CN" altLang="en-US"/>
              <a:t>，对应的最高连续序列号段为</a:t>
            </a:r>
            <a:r>
              <a:rPr lang="en-US" altLang="zh-CN"/>
              <a:t>[2,4]</a:t>
            </a:r>
            <a:r>
              <a:rPr lang="zh-CN" altLang="en-US"/>
              <a:t>，如果</a:t>
            </a:r>
            <a:r>
              <a:rPr lang="en-US" altLang="zh-CN"/>
              <a:t>12346</a:t>
            </a:r>
            <a:r>
              <a:rPr lang="zh-CN" altLang="en-US">
                <a:sym typeface="+mn-ea"/>
              </a:rPr>
              <a:t>，对应的最高连续序列号段为</a:t>
            </a:r>
            <a:r>
              <a:rPr lang="en-US" altLang="zh-CN">
                <a:sym typeface="+mn-ea"/>
              </a:rPr>
              <a:t>[1,4]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1" grpId="1"/>
      <p:bldP spid="22" grpId="1"/>
      <p:bldP spid="23" grpId="0"/>
      <p:bldP spid="24" grpId="0"/>
      <p:bldP spid="23" grpId="1"/>
      <p:bldP spid="24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2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3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4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5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6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7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8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9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10.xml><?xml version="1.0" encoding="utf-8"?>
<p:tagLst xmlns:p="http://schemas.openxmlformats.org/presentationml/2006/main">
  <p:tag name="KSO_WM_DIAGRAM_VIRTUALLY_FRAME" val="{&quot;height&quot;:444.7,&quot;left&quot;:33.95,&quot;top&quot;:71.3,&quot;width&quot;:903.6}"/>
</p:tagLst>
</file>

<file path=ppt/tags/tag11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2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3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4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5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6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7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8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19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0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1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2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3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4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ags/tag25.xml><?xml version="1.0" encoding="utf-8"?>
<p:tagLst xmlns:p="http://schemas.openxmlformats.org/presentationml/2006/main">
  <p:tag name="KSO_WM_DIAGRAM_VIRTUALLY_FRAME" val="{&quot;height&quot;:400.3,&quot;left&quot;:27.55,&quot;top&quot;:99.5,&quot;width&quot;:869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4487</Words>
  <Application>WPS 演示</Application>
  <PresentationFormat>宽屏</PresentationFormat>
  <Paragraphs>208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Cambria Math</vt:lpstr>
      <vt:lpstr>微软雅黑</vt:lpstr>
      <vt:lpstr>Wingdings</vt:lpstr>
      <vt:lpstr>Times New Roman</vt:lpstr>
      <vt:lpstr>MS Mincho</vt:lpstr>
      <vt:lpstr>Segoe Print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17</cp:revision>
  <dcterms:created xsi:type="dcterms:W3CDTF">2023-08-09T12:44:00Z</dcterms:created>
  <dcterms:modified xsi:type="dcterms:W3CDTF">2025-07-22T11:45:18Z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8DF0EE77B31640EA8FD0F46C67890A3F_12</vt:lpwstr>
  </property>
</Properties>
</file>