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8528" t="6248"/>
          <a:stretch>
            <a:fillRect/>
          </a:stretch>
        </p:blipFill>
        <p:spPr>
          <a:xfrm>
            <a:off x="748030" y="0"/>
            <a:ext cx="10984230" cy="30206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74035" y="3380740"/>
            <a:ext cx="7109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Conweave</a:t>
            </a:r>
            <a:r>
              <a:rPr lang="zh-CN" altLang="en-US" sz="2000" b="1"/>
              <a:t>：切割流、内网排序实现网络负载均衡</a:t>
            </a:r>
            <a:endParaRPr lang="zh-CN" altLang="en-US" sz="2000" b="1"/>
          </a:p>
        </p:txBody>
      </p:sp>
      <p:sp>
        <p:nvSpPr>
          <p:cNvPr id="7" name="圆角矩形 6"/>
          <p:cNvSpPr/>
          <p:nvPr/>
        </p:nvSpPr>
        <p:spPr>
          <a:xfrm>
            <a:off x="1015365" y="4384675"/>
            <a:ext cx="2992120" cy="13487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数据中心网络架构有大量冗余，</a:t>
            </a:r>
            <a:r>
              <a:rPr lang="en-US" altLang="zh-CN"/>
              <a:t>ECMP</a:t>
            </a:r>
            <a:r>
              <a:rPr lang="zh-CN" altLang="en-US"/>
              <a:t>方案同一个流的包被分到同一路径，网络利用率低。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858385" y="4493260"/>
            <a:ext cx="2624455" cy="10668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把长流分为数据包块（</a:t>
            </a:r>
            <a:r>
              <a:rPr lang="en-US" altLang="zh-CN"/>
              <a:t>flowlet</a:t>
            </a:r>
            <a:r>
              <a:rPr lang="zh-CN" altLang="en-US"/>
              <a:t>）</a:t>
            </a:r>
            <a:r>
              <a:rPr lang="en-US" altLang="zh-CN"/>
              <a:t>,</a:t>
            </a:r>
            <a:r>
              <a:rPr lang="zh-CN" altLang="en-US"/>
              <a:t>分发到不同路径传输，但存在乱序。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8420100" y="4493260"/>
            <a:ext cx="2725420" cy="11398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通过发送端和接收端</a:t>
            </a:r>
            <a:r>
              <a:rPr lang="en-US" altLang="zh-CN"/>
              <a:t>ToR</a:t>
            </a:r>
            <a:r>
              <a:rPr lang="zh-CN" altLang="en-US"/>
              <a:t>交换机实现包重排序。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143760" y="5841365"/>
            <a:ext cx="735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问题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25820" y="5780405"/>
            <a:ext cx="801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方案</a:t>
            </a:r>
            <a:endParaRPr lang="zh-CN" altLang="en-US" b="1">
              <a:solidFill>
                <a:schemeClr val="accent4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382125" y="5733415"/>
            <a:ext cx="801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优化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4249420" y="4919345"/>
            <a:ext cx="367665" cy="2882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7772400" y="4919345"/>
            <a:ext cx="367665" cy="2882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6850" y="221615"/>
            <a:ext cx="30499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负载均衡存在的问题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67640" y="645795"/>
            <a:ext cx="4805045" cy="4381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33400" y="916305"/>
            <a:ext cx="1403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负载均衡</a:t>
            </a:r>
            <a:endParaRPr lang="zh-CN" altLang="en-US" b="1"/>
          </a:p>
        </p:txBody>
      </p:sp>
      <p:sp>
        <p:nvSpPr>
          <p:cNvPr id="15" name="文本框 14"/>
          <p:cNvSpPr txBox="1"/>
          <p:nvPr/>
        </p:nvSpPr>
        <p:spPr>
          <a:xfrm>
            <a:off x="942975" y="1247775"/>
            <a:ext cx="994664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数据中心网络有大量冗余，两个服务器之间有多条路径，负载均衡被用来跨多条路径散播网络流。</a:t>
            </a:r>
            <a:r>
              <a:rPr lang="en-US" altLang="zh-CN"/>
              <a:t>ECMP</a:t>
            </a:r>
            <a:r>
              <a:rPr lang="zh-CN" altLang="en-US"/>
              <a:t>被广泛用于</a:t>
            </a:r>
            <a:r>
              <a:rPr lang="en-US" altLang="zh-CN"/>
              <a:t>DC</a:t>
            </a:r>
            <a:r>
              <a:rPr lang="zh-CN" altLang="en-US"/>
              <a:t>路径选择，但他会将相同流分配到同一路径。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3400" y="2089785"/>
            <a:ext cx="1403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实现方案</a:t>
            </a:r>
            <a:endParaRPr lang="zh-CN" altLang="en-US" b="1"/>
          </a:p>
        </p:txBody>
      </p:sp>
      <p:sp>
        <p:nvSpPr>
          <p:cNvPr id="17" name="文本框 16"/>
          <p:cNvSpPr txBox="1"/>
          <p:nvPr/>
        </p:nvSpPr>
        <p:spPr>
          <a:xfrm>
            <a:off x="1067435" y="2562225"/>
            <a:ext cx="10597515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）每个包单独路由，散播到多条路径上，出现大量乱序。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）根据传输路径不工作时间间隔将数据流分为数据包块，叫做切割流</a:t>
            </a:r>
            <a:r>
              <a:rPr lang="en-US" altLang="zh-CN"/>
              <a:t>(flowlet)</a:t>
            </a:r>
            <a:r>
              <a:rPr lang="zh-CN" altLang="en-US"/>
              <a:t>，切割流提供了一种方案来负载均衡及避免乱序，但切割流的实现与流传输特征有关。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47165" y="4272915"/>
            <a:ext cx="8996045" cy="1863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只根据</a:t>
            </a:r>
            <a:r>
              <a:rPr lang="en-US" altLang="zh-CN">
                <a:solidFill>
                  <a:schemeClr val="accent1"/>
                </a:solidFill>
              </a:rPr>
              <a:t>inactive time gap</a:t>
            </a:r>
            <a:r>
              <a:rPr lang="zh-CN" altLang="en-US">
                <a:solidFill>
                  <a:schemeClr val="accent1"/>
                </a:solidFill>
              </a:rPr>
              <a:t>来切割流，在</a:t>
            </a:r>
            <a:r>
              <a:rPr lang="en-US" altLang="zh-CN">
                <a:solidFill>
                  <a:schemeClr val="accent1"/>
                </a:solidFill>
              </a:rPr>
              <a:t>RDMA</a:t>
            </a:r>
            <a:r>
              <a:rPr lang="zh-CN" altLang="en-US">
                <a:solidFill>
                  <a:schemeClr val="accent1"/>
                </a:solidFill>
              </a:rPr>
              <a:t>上效果没有</a:t>
            </a:r>
            <a:r>
              <a:rPr lang="en-US" altLang="zh-CN">
                <a:solidFill>
                  <a:schemeClr val="accent1"/>
                </a:solidFill>
              </a:rPr>
              <a:t>TCP</a:t>
            </a:r>
            <a:r>
              <a:rPr lang="zh-CN" altLang="en-US">
                <a:solidFill>
                  <a:schemeClr val="accent1"/>
                </a:solidFill>
              </a:rPr>
              <a:t>好。在相同的不工作时间下，</a:t>
            </a:r>
            <a:r>
              <a:rPr lang="en-US" altLang="zh-CN">
                <a:solidFill>
                  <a:schemeClr val="accent1"/>
                </a:solidFill>
              </a:rPr>
              <a:t>RDMA</a:t>
            </a:r>
            <a:r>
              <a:rPr lang="zh-CN" altLang="en-US">
                <a:solidFill>
                  <a:schemeClr val="accent1"/>
                </a:solidFill>
              </a:rPr>
              <a:t>实现流切割概率显著减少。</a:t>
            </a:r>
            <a:endParaRPr lang="zh-CN" altLang="en-US">
              <a:solidFill>
                <a:schemeClr val="accent1"/>
              </a:solidFill>
            </a:endParaRPr>
          </a:p>
          <a:p>
            <a:endParaRPr lang="zh-CN" altLang="en-US">
              <a:solidFill>
                <a:schemeClr val="accent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TCP</a:t>
            </a:r>
            <a:r>
              <a:rPr lang="zh-CN" altLang="en-US">
                <a:solidFill>
                  <a:schemeClr val="tx1"/>
                </a:solidFill>
              </a:rPr>
              <a:t>使用突发传输，批</a:t>
            </a:r>
            <a:r>
              <a:rPr lang="en-US" altLang="zh-CN">
                <a:solidFill>
                  <a:schemeClr val="tx1"/>
                </a:solidFill>
              </a:rPr>
              <a:t>ACK</a:t>
            </a:r>
            <a:r>
              <a:rPr lang="zh-CN" altLang="en-US">
                <a:solidFill>
                  <a:schemeClr val="tx1"/>
                </a:solidFill>
              </a:rPr>
              <a:t>来优化</a:t>
            </a:r>
            <a:r>
              <a:rPr lang="en-US" altLang="zh-CN">
                <a:solidFill>
                  <a:schemeClr val="tx1"/>
                </a:solidFill>
              </a:rPr>
              <a:t>I/O</a:t>
            </a:r>
            <a:r>
              <a:rPr lang="zh-CN" altLang="en-US">
                <a:solidFill>
                  <a:schemeClr val="tx1"/>
                </a:solidFill>
              </a:rPr>
              <a:t>和</a:t>
            </a:r>
            <a:r>
              <a:rPr lang="en-US" altLang="zh-CN">
                <a:solidFill>
                  <a:schemeClr val="tx1"/>
                </a:solidFill>
              </a:rPr>
              <a:t>CPU</a:t>
            </a:r>
            <a:r>
              <a:rPr lang="zh-CN" altLang="en-US">
                <a:solidFill>
                  <a:schemeClr val="tx1"/>
                </a:solidFill>
              </a:rPr>
              <a:t>效率，会增加传输过程的时间间隙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RDMA</a:t>
            </a:r>
            <a:r>
              <a:rPr lang="zh-CN" altLang="en-US">
                <a:solidFill>
                  <a:schemeClr val="tx1"/>
                </a:solidFill>
              </a:rPr>
              <a:t>每个链接是基于硬件的控速（速率整形），导致包流之间时间间隙小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6850" y="221615"/>
            <a:ext cx="30499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Conweave</a:t>
            </a:r>
            <a:r>
              <a:rPr lang="zh-CN" altLang="en-US" sz="2000"/>
              <a:t>架构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67640" y="645795"/>
            <a:ext cx="4805045" cy="4381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" y="1261110"/>
            <a:ext cx="5793740" cy="41833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45200" y="1129665"/>
            <a:ext cx="54108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Conweave</a:t>
            </a:r>
            <a:r>
              <a:rPr lang="zh-CN" altLang="en-US"/>
              <a:t>（</a:t>
            </a:r>
            <a:r>
              <a:rPr lang="en-US" altLang="zh-CN"/>
              <a:t>Congestion Weaving</a:t>
            </a:r>
            <a:r>
              <a:rPr lang="zh-CN" altLang="en-US"/>
              <a:t>）在发送方和接收方的</a:t>
            </a:r>
            <a:r>
              <a:rPr lang="en-US" altLang="zh-CN" b="1"/>
              <a:t>ToR</a:t>
            </a:r>
            <a:r>
              <a:rPr lang="zh-CN" altLang="en-US" b="1"/>
              <a:t>交换机</a:t>
            </a:r>
            <a:r>
              <a:rPr lang="zh-CN" altLang="en-US"/>
              <a:t>上实现，网卡和应用程序不需要更新。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62015" y="2222500"/>
            <a:ext cx="2120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/>
                </a:solidFill>
              </a:rPr>
              <a:t>发送方</a:t>
            </a:r>
            <a:r>
              <a:rPr lang="en-US" altLang="zh-CN" b="1">
                <a:solidFill>
                  <a:schemeClr val="accent2"/>
                </a:solidFill>
              </a:rPr>
              <a:t>ToR</a:t>
            </a:r>
            <a:r>
              <a:rPr lang="zh-CN" altLang="en-US" b="1">
                <a:solidFill>
                  <a:schemeClr val="accent2"/>
                </a:solidFill>
              </a:rPr>
              <a:t>交换机</a:t>
            </a: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76290" y="2703830"/>
            <a:ext cx="6044565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）每个</a:t>
            </a:r>
            <a:r>
              <a:rPr lang="en-US" altLang="zh-CN"/>
              <a:t>RTT</a:t>
            </a:r>
            <a:r>
              <a:rPr lang="zh-CN" altLang="en-US"/>
              <a:t>检验一下当前包传输路径是否拥塞。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）检测到拥塞后，为包传输选择一条新路径。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）确保重路由是安全的，不会导致包乱序到达终端主机。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045200" y="4317365"/>
            <a:ext cx="2142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/>
                </a:solidFill>
              </a:rPr>
              <a:t>接收方</a:t>
            </a:r>
            <a:r>
              <a:rPr lang="en-US" altLang="zh-CN" b="1">
                <a:solidFill>
                  <a:schemeClr val="accent2"/>
                </a:solidFill>
              </a:rPr>
              <a:t>ToR</a:t>
            </a:r>
            <a:r>
              <a:rPr lang="zh-CN" altLang="en-US" b="1">
                <a:solidFill>
                  <a:schemeClr val="accent2"/>
                </a:solidFill>
              </a:rPr>
              <a:t>交换机</a:t>
            </a: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59830" y="4909820"/>
            <a:ext cx="5542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提供包重排功能，解决由于重路由导致的包乱序问题。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6850" y="221615"/>
            <a:ext cx="30499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/>
              <a:t>重路由的实现</a:t>
            </a:r>
            <a:endParaRPr lang="zh-CN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67640" y="645795"/>
            <a:ext cx="4805045" cy="4381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0" y="916940"/>
            <a:ext cx="5241290" cy="53301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80670" y="2365375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 b="1"/>
              <a:t>1</a:t>
            </a:r>
            <a:r>
              <a:rPr lang="zh-CN" altLang="en-US" b="1"/>
              <a:t>）每个</a:t>
            </a:r>
            <a:r>
              <a:rPr lang="en-US" altLang="zh-CN" b="1"/>
              <a:t>RTT</a:t>
            </a:r>
            <a:r>
              <a:rPr lang="zh-CN" altLang="en-US" b="1"/>
              <a:t>检测</a:t>
            </a:r>
            <a:endParaRPr lang="zh-CN" altLang="en-US" b="1"/>
          </a:p>
        </p:txBody>
      </p:sp>
      <p:sp>
        <p:nvSpPr>
          <p:cNvPr id="12" name="文本框 11"/>
          <p:cNvSpPr txBox="1"/>
          <p:nvPr/>
        </p:nvSpPr>
        <p:spPr>
          <a:xfrm>
            <a:off x="624840" y="2787650"/>
            <a:ext cx="507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接收方收到包后会以最高优先级恢复</a:t>
            </a:r>
            <a:r>
              <a:rPr lang="en-US" altLang="zh-CN"/>
              <a:t>RTT_REPLY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80670" y="321056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</a:t>
            </a:r>
            <a:r>
              <a:rPr lang="zh-CN" b="1"/>
              <a:t>路径选择</a:t>
            </a:r>
            <a:endParaRPr lang="zh-CN" b="1"/>
          </a:p>
        </p:txBody>
      </p:sp>
      <p:sp>
        <p:nvSpPr>
          <p:cNvPr id="16" name="文本框 15"/>
          <p:cNvSpPr txBox="1"/>
          <p:nvPr/>
        </p:nvSpPr>
        <p:spPr>
          <a:xfrm>
            <a:off x="306705" y="799465"/>
            <a:ext cx="1857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</a:rPr>
              <a:t>重路由前提条件</a:t>
            </a: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8015" y="1150620"/>
            <a:ext cx="49295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lt"/>
              <a:buAutoNum type="arabicPeriod"/>
            </a:pPr>
            <a:r>
              <a:rPr lang="zh-CN" altLang="en-US"/>
              <a:t>当前路径拥塞</a:t>
            </a:r>
            <a:endParaRPr lang="zh-CN" altLang="en-US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存在不拥塞的可用路径</a:t>
            </a:r>
            <a:endParaRPr lang="zh-CN" altLang="en-US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上一次重路由的包均被接收方接收</a:t>
            </a:r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903855" y="715010"/>
            <a:ext cx="3356610" cy="7162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任意时刻，任何流只能在最多两条路径上存在飞行包</a:t>
            </a:r>
            <a:endParaRPr lang="zh-CN" altLang="en-US"/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4526915" y="1530350"/>
            <a:ext cx="190500" cy="30734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621665" y="3600450"/>
                <a:ext cx="5017135" cy="2701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:r>
                  <a:rPr lang="zh-CN" altLang="en-US"/>
                  <a:t>如果</a:t>
                </a:r>
                <a:r>
                  <a:rPr lang="en-US" altLang="zh-CN"/>
                  <a:t>DstToR</a:t>
                </a:r>
                <a:r>
                  <a:rPr lang="zh-CN" altLang="en-US"/>
                  <a:t>收到指示拥塞的数据包（如携带</a:t>
                </a:r>
                <a:r>
                  <a:rPr lang="en-US" altLang="zh-CN"/>
                  <a:t>ECN</a:t>
                </a:r>
                <a:r>
                  <a:rPr lang="zh-CN" altLang="en-US"/>
                  <a:t>标记），会触发</a:t>
                </a:r>
                <a:r>
                  <a:rPr lang="en-US" altLang="zh-CN"/>
                  <a:t>NOTIFY</a:t>
                </a:r>
                <a:r>
                  <a:rPr lang="zh-CN" altLang="en-US"/>
                  <a:t>包携带路径相关信息（</a:t>
                </a:r>
                <a:r>
                  <a:rPr lang="en-US" altLang="zh-CN"/>
                  <a:t>PathID</a:t>
                </a:r>
                <a:r>
                  <a:rPr lang="zh-CN" altLang="en-US"/>
                  <a:t>）并传给</a:t>
                </a:r>
                <a:r>
                  <a:rPr lang="en-US" altLang="zh-CN"/>
                  <a:t>SrcToR</a:t>
                </a:r>
                <a:r>
                  <a:rPr lang="zh-CN" altLang="en-US"/>
                  <a:t>。</a:t>
                </a:r>
                <a:r>
                  <a:rPr lang="en-US" altLang="zh-CN"/>
                  <a:t>SrcToR</a:t>
                </a:r>
                <a:r>
                  <a:rPr lang="zh-CN" altLang="en-US"/>
                  <a:t>接收到</a:t>
                </a:r>
                <a:r>
                  <a:rPr lang="en-US" altLang="zh-CN">
                    <a:sym typeface="+mn-ea"/>
                  </a:rPr>
                  <a:t>NOTIFY</a:t>
                </a:r>
                <a:r>
                  <a:rPr lang="zh-CN" altLang="en-US">
                    <a:sym typeface="+mn-ea"/>
                  </a:rPr>
                  <a:t>包后，</a:t>
                </a:r>
                <a:r>
                  <a:rPr lang="en-US" altLang="zh-CN">
                    <a:sym typeface="+mn-ea"/>
                  </a:rPr>
                  <a:t>SrcToR</a:t>
                </a:r>
                <a:r>
                  <a:rPr lang="zh-CN" altLang="en-US">
                    <a:sym typeface="+mn-ea"/>
                  </a:rPr>
                  <a:t>把相关路径设为</a:t>
                </a:r>
                <a:r>
                  <a:rPr lang="zh-CN" altLang="en-US">
                    <a:solidFill>
                      <a:srgbClr val="FF0000"/>
                    </a:solidFill>
                    <a:sym typeface="+mn-ea"/>
                  </a:rPr>
                  <a:t>不可用</a:t>
                </a:r>
                <a:r>
                  <a:rPr lang="zh-CN" altLang="en-US">
                    <a:sym typeface="+mn-ea"/>
                  </a:rPr>
                  <a:t>，并维持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𝑝𝑎𝑡ℎ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_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𝑏𝑢𝑠𝑦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时间。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RTT_REPLY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超时需要重新选择路径时，从当前的可用路径里面挑一个。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65" y="3600450"/>
                <a:ext cx="5017135" cy="27019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圆角矩形 21"/>
          <p:cNvSpPr/>
          <p:nvPr/>
        </p:nvSpPr>
        <p:spPr>
          <a:xfrm>
            <a:off x="2698115" y="6099810"/>
            <a:ext cx="3510280" cy="5340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不需要在重路由时候重新探测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3400425" y="5004435"/>
                <a:ext cx="3348355" cy="375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𝑝𝑎𝑡ℎ</m:t>
                        </m:r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_</m:t>
                        </m:r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𝑏𝑢𝑠𝑦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rgbClr val="00B050"/>
                    </a:solidFill>
                  </a:rPr>
                  <a:t>论文设的是定值</a:t>
                </a:r>
                <a:r>
                  <a:rPr lang="en-US" altLang="zh-CN">
                    <a:solidFill>
                      <a:srgbClr val="00B050"/>
                    </a:solidFill>
                  </a:rPr>
                  <a:t>16μs</a:t>
                </a:r>
                <a:endParaRPr lang="en-US" altLang="zh-CN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425" y="5004435"/>
                <a:ext cx="3348355" cy="3759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2" grpId="0" animBg="1"/>
      <p:bldP spid="22" grpId="1" animBg="1"/>
      <p:bldP spid="24" grpId="0"/>
      <p:bldP spid="2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6850" y="221615"/>
            <a:ext cx="30499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/>
              <a:t>重路由的实现</a:t>
            </a:r>
            <a:endParaRPr lang="zh-CN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67640" y="645795"/>
            <a:ext cx="4805045" cy="4381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0" y="916940"/>
            <a:ext cx="5241290" cy="53301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96850" y="1005205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 b="1"/>
              <a:t>3</a:t>
            </a:r>
            <a:r>
              <a:rPr lang="zh-CN" altLang="en-US" b="1"/>
              <a:t>）重路由流量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554990" y="1523365"/>
            <a:ext cx="5090795" cy="3025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/>
              <a:t>Conweave</a:t>
            </a:r>
            <a:r>
              <a:rPr lang="zh-CN" altLang="en-US"/>
              <a:t>把数据包分为两批</a:t>
            </a:r>
            <a:r>
              <a:rPr lang="en-US" altLang="zh-CN"/>
              <a:t>”OLD”</a:t>
            </a:r>
            <a:r>
              <a:rPr lang="zh-CN" altLang="en-US"/>
              <a:t>和</a:t>
            </a:r>
            <a:r>
              <a:rPr lang="en-US" altLang="zh-CN"/>
              <a:t>”NEW”</a:t>
            </a:r>
            <a:r>
              <a:rPr lang="zh-CN" altLang="en-US"/>
              <a:t>，分别对应当前传输该流的两个队列。当要重路由时，发送端会先给</a:t>
            </a:r>
            <a:r>
              <a:rPr lang="en-US" altLang="zh-CN"/>
              <a:t>OLD</a:t>
            </a:r>
            <a:r>
              <a:rPr lang="zh-CN" altLang="en-US"/>
              <a:t>路径发送一个或多个数据包，标记为</a:t>
            </a:r>
            <a:r>
              <a:rPr lang="en-US" altLang="zh-CN"/>
              <a:t>“TAIL”</a:t>
            </a:r>
            <a:r>
              <a:rPr lang="zh-CN" altLang="en-US"/>
              <a:t>。剩余的包会传给</a:t>
            </a:r>
            <a:r>
              <a:rPr lang="en-US" altLang="zh-CN"/>
              <a:t>NEW</a:t>
            </a:r>
            <a:r>
              <a:rPr lang="zh-CN" altLang="en-US"/>
              <a:t>路径，并标记</a:t>
            </a:r>
            <a:r>
              <a:rPr lang="en-US" altLang="zh-CN"/>
              <a:t>“REROUTED”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重路由后，</a:t>
            </a:r>
            <a:r>
              <a:rPr lang="en-US" altLang="zh-CN"/>
              <a:t>SrcToR</a:t>
            </a:r>
            <a:r>
              <a:rPr lang="zh-CN" altLang="en-US"/>
              <a:t>希望得到一个</a:t>
            </a:r>
            <a:r>
              <a:rPr lang="en-US" altLang="zh-CN"/>
              <a:t>CLEAR</a:t>
            </a:r>
            <a:r>
              <a:rPr lang="zh-CN" altLang="en-US"/>
              <a:t>包，代表</a:t>
            </a:r>
            <a:r>
              <a:rPr lang="en-US" altLang="zh-CN"/>
              <a:t>OLD</a:t>
            </a:r>
            <a:r>
              <a:rPr lang="zh-CN" altLang="en-US"/>
              <a:t>包已经被完全接收，</a:t>
            </a:r>
            <a:r>
              <a:rPr lang="en-US" altLang="zh-CN">
                <a:sym typeface="+mn-ea"/>
              </a:rPr>
              <a:t>SrcToR</a:t>
            </a:r>
            <a:r>
              <a:rPr lang="zh-CN" altLang="en-US">
                <a:sym typeface="+mn-ea"/>
              </a:rPr>
              <a:t>开始一个新的发送周期。</a:t>
            </a:r>
            <a:endParaRPr lang="zh-CN" altLang="en-US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50875" y="4602480"/>
                <a:ext cx="5236210" cy="119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solidFill>
                      <a:srgbClr val="7030A0"/>
                    </a:solidFill>
                  </a:rPr>
                  <a:t>如果</a:t>
                </a:r>
                <a:r>
                  <a:rPr lang="en-US" altLang="zh-CN">
                    <a:solidFill>
                      <a:srgbClr val="7030A0"/>
                    </a:solidFill>
                  </a:rPr>
                  <a:t>CLEAR</a:t>
                </a:r>
                <a:r>
                  <a:rPr lang="zh-CN" altLang="en-US">
                    <a:solidFill>
                      <a:srgbClr val="7030A0"/>
                    </a:solidFill>
                  </a:rPr>
                  <a:t>包没有发送，那</a:t>
                </a:r>
                <a:r>
                  <a:rPr lang="en-US" altLang="zh-CN">
                    <a:solidFill>
                      <a:srgbClr val="7030A0"/>
                    </a:solidFill>
                    <a:sym typeface="+mn-ea"/>
                  </a:rPr>
                  <a:t>SrcToR</a:t>
                </a:r>
                <a:r>
                  <a:rPr lang="zh-CN" altLang="en-US">
                    <a:solidFill>
                      <a:srgbClr val="7030A0"/>
                    </a:solidFill>
                    <a:sym typeface="+mn-ea"/>
                  </a:rPr>
                  <a:t>就不能开始一个新周期。设置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𝑖𝑛𝑎𝑐𝑡𝑖𝑣𝑒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𝑖𝑛𝑎𝑐𝑡𝑖𝑣𝑒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</a:t>
                </a:r>
                <a:r>
                  <a:rPr lang="en-US" altLang="zh-CN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TAIL</a:t>
                </a:r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和</a:t>
                </a:r>
                <a:r>
                  <a:rPr lang="en-US" altLang="zh-CN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CLEAR</a:t>
                </a:r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数据包最大传输时间之和。超时的话，</a:t>
                </a:r>
                <a:r>
                  <a:rPr lang="en-US" altLang="zh-CN">
                    <a:solidFill>
                      <a:srgbClr val="7030A0"/>
                    </a:solidFill>
                    <a:sym typeface="+mn-ea"/>
                  </a:rPr>
                  <a:t>SrcToR</a:t>
                </a:r>
                <a:r>
                  <a:rPr lang="zh-CN" altLang="en-US">
                    <a:solidFill>
                      <a:srgbClr val="7030A0"/>
                    </a:solidFill>
                    <a:sym typeface="+mn-ea"/>
                  </a:rPr>
                  <a:t>重新开始一个新发送周期。</a:t>
                </a:r>
                <a:endParaRPr lang="zh-CN" altLang="en-US">
                  <a:solidFill>
                    <a:srgbClr val="7030A0"/>
                  </a:solidFill>
                  <a:sym typeface="+mn-ea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75" y="4602480"/>
                <a:ext cx="5236210" cy="11988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1045210" y="6006465"/>
                <a:ext cx="334835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𝑖𝑛𝑎𝑐𝑡𝑖𝑣𝑒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rgbClr val="00B050"/>
                    </a:solidFill>
                  </a:rPr>
                  <a:t>论文设的是定值</a:t>
                </a:r>
                <a:r>
                  <a:rPr lang="en-US" altLang="zh-CN">
                    <a:solidFill>
                      <a:srgbClr val="00B050"/>
                    </a:solidFill>
                  </a:rPr>
                  <a:t>1ms</a:t>
                </a:r>
                <a:endParaRPr lang="zh-CN" alt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10" y="6006465"/>
                <a:ext cx="3348355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6850" y="221615"/>
            <a:ext cx="30499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/>
              <a:t>包排序的实现</a:t>
            </a:r>
            <a:endParaRPr lang="zh-CN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67640" y="645795"/>
            <a:ext cx="4805045" cy="4381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8605" y="0"/>
            <a:ext cx="5393690" cy="685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01320" y="879475"/>
            <a:ext cx="6326505" cy="38823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/>
              <a:t>因为只有两条路径，排序相对简单，只需用</a:t>
            </a:r>
            <a:r>
              <a:rPr lang="zh-CN" altLang="en-US" b="1"/>
              <a:t>一个队列</a:t>
            </a:r>
            <a:r>
              <a:rPr lang="en-US" altLang="zh-CN" b="1"/>
              <a:t>Q1</a:t>
            </a:r>
            <a:r>
              <a:rPr lang="zh-CN" altLang="en-US"/>
              <a:t>来存放乱序的数据包。</a:t>
            </a:r>
            <a:endParaRPr lang="zh-CN" altLang="en-US"/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/>
              <a:t>如果发送方检测到了路径拥塞，会给</a:t>
            </a:r>
            <a:r>
              <a:rPr lang="en-US" altLang="zh-CN"/>
              <a:t>OLD</a:t>
            </a:r>
            <a:r>
              <a:rPr lang="zh-CN" altLang="en-US"/>
              <a:t>路径发送几个</a:t>
            </a:r>
            <a:r>
              <a:rPr lang="en-US" altLang="zh-CN" b="1"/>
              <a:t>TAIL</a:t>
            </a:r>
            <a:r>
              <a:rPr lang="zh-CN" altLang="en-US" b="1"/>
              <a:t>包</a:t>
            </a:r>
            <a:r>
              <a:rPr lang="zh-CN" altLang="en-US"/>
              <a:t>，然后把剩余</a:t>
            </a:r>
            <a:r>
              <a:rPr lang="en-US" altLang="zh-CN"/>
              <a:t>REROUTED</a:t>
            </a:r>
            <a:r>
              <a:rPr lang="zh-CN" altLang="en-US"/>
              <a:t>包发送给新路径。</a:t>
            </a:r>
            <a:endParaRPr lang="zh-CN" altLang="en-US"/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/>
              <a:t>新路径的包速度快，比</a:t>
            </a:r>
            <a:r>
              <a:rPr lang="en-US" altLang="zh-CN"/>
              <a:t>TAIL</a:t>
            </a:r>
            <a:r>
              <a:rPr lang="zh-CN" altLang="en-US"/>
              <a:t>包提前到达，会</a:t>
            </a:r>
            <a:r>
              <a:rPr lang="zh-CN" altLang="en-US" b="1"/>
              <a:t>暂时存在</a:t>
            </a:r>
            <a:r>
              <a:rPr lang="en-US" altLang="zh-CN"/>
              <a:t>Q1</a:t>
            </a:r>
            <a:r>
              <a:rPr lang="zh-CN" altLang="en-US"/>
              <a:t>中。等待</a:t>
            </a:r>
            <a:r>
              <a:rPr lang="en-US" altLang="zh-CN"/>
              <a:t>TAIL</a:t>
            </a:r>
            <a:r>
              <a:rPr lang="zh-CN" altLang="en-US"/>
              <a:t>包到达</a:t>
            </a:r>
            <a:r>
              <a:rPr lang="en-US" altLang="zh-CN"/>
              <a:t>Q0</a:t>
            </a:r>
            <a:r>
              <a:rPr lang="zh-CN" altLang="en-US"/>
              <a:t>并排出后，</a:t>
            </a:r>
            <a:r>
              <a:rPr lang="en-US" altLang="zh-CN"/>
              <a:t>Q1</a:t>
            </a:r>
            <a:r>
              <a:rPr lang="zh-CN" altLang="en-US"/>
              <a:t>中的包依次排出。</a:t>
            </a:r>
            <a:endParaRPr lang="zh-CN" altLang="en-US"/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/>
              <a:t>只要</a:t>
            </a:r>
            <a:r>
              <a:rPr lang="en-US" altLang="zh-CN"/>
              <a:t>TAIL</a:t>
            </a:r>
            <a:r>
              <a:rPr lang="zh-CN" altLang="en-US"/>
              <a:t>包正确接收，后续到达的</a:t>
            </a:r>
            <a:r>
              <a:rPr lang="en-US" altLang="zh-CN"/>
              <a:t>REROUTED</a:t>
            </a:r>
            <a:r>
              <a:rPr lang="zh-CN" altLang="en-US"/>
              <a:t>包会被</a:t>
            </a:r>
            <a:r>
              <a:rPr lang="zh-CN" altLang="en-US" b="1"/>
              <a:t>放入</a:t>
            </a:r>
            <a:r>
              <a:rPr lang="en-US" altLang="zh-CN" b="1"/>
              <a:t>Q0</a:t>
            </a:r>
            <a:r>
              <a:rPr lang="zh-CN" altLang="en-US"/>
              <a:t>中，因为</a:t>
            </a:r>
            <a:r>
              <a:rPr lang="en-US" altLang="zh-CN"/>
              <a:t>Q0</a:t>
            </a:r>
            <a:r>
              <a:rPr lang="zh-CN" altLang="en-US"/>
              <a:t>优先级最低，所以</a:t>
            </a:r>
            <a:r>
              <a:rPr lang="en-US" altLang="zh-CN"/>
              <a:t>Q0</a:t>
            </a:r>
            <a:r>
              <a:rPr lang="zh-CN" altLang="en-US"/>
              <a:t>中的包会等</a:t>
            </a:r>
            <a:r>
              <a:rPr lang="en-US" altLang="zh-CN"/>
              <a:t>Q1</a:t>
            </a:r>
            <a:r>
              <a:rPr lang="zh-CN" altLang="en-US"/>
              <a:t>中的包排完才可以排出。</a:t>
            </a:r>
            <a:endParaRPr lang="zh-CN" altLang="en-US"/>
          </a:p>
          <a:p>
            <a:pPr indent="0">
              <a:buFont typeface="+mj-lt"/>
              <a:buNone/>
            </a:pPr>
            <a:endParaRPr lang="zh-CN" altLang="en-US"/>
          </a:p>
          <a:p>
            <a:pPr marL="342900" indent="-342900">
              <a:buFont typeface="+mj-lt"/>
              <a:buAutoNum type="arabicPeriod"/>
            </a:pP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591185" y="4397375"/>
                <a:ext cx="655955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solidFill>
                      <a:srgbClr val="7030A0"/>
                    </a:solidFill>
                  </a:rPr>
                  <a:t>如果</a:t>
                </a:r>
                <a:r>
                  <a:rPr lang="en-US" altLang="zh-CN">
                    <a:solidFill>
                      <a:srgbClr val="7030A0"/>
                    </a:solidFill>
                  </a:rPr>
                  <a:t>TAIL</a:t>
                </a:r>
                <a:r>
                  <a:rPr lang="zh-CN" altLang="en-US">
                    <a:solidFill>
                      <a:srgbClr val="7030A0"/>
                    </a:solidFill>
                  </a:rPr>
                  <a:t>包丢失，那</a:t>
                </a:r>
                <a:r>
                  <a:rPr lang="en-US" altLang="zh-CN">
                    <a:solidFill>
                      <a:srgbClr val="7030A0"/>
                    </a:solidFill>
                  </a:rPr>
                  <a:t>REROUTED</a:t>
                </a:r>
                <a:r>
                  <a:rPr lang="zh-CN" altLang="en-US">
                    <a:solidFill>
                      <a:srgbClr val="7030A0"/>
                    </a:solidFill>
                  </a:rPr>
                  <a:t>包会一直存在队列里。设置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𝑟𝑒𝑠𝑢𝑚𝑒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，预估</a:t>
                </a:r>
                <a:r>
                  <a:rPr lang="en-US" altLang="zh-CN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TAIL</a:t>
                </a:r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到达时间。</a:t>
                </a:r>
                <a:r>
                  <a:rPr lang="en-US" altLang="zh-CN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TAIL</a:t>
                </a:r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到达时间为</a:t>
                </a:r>
                <a:r>
                  <a:rPr lang="en-US" altLang="zh-CN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TAIL</a:t>
                </a:r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包离开的时间</a:t>
                </a:r>
                <a:r>
                  <a:rPr lang="en-US" altLang="zh-CN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+OLD</a:t>
                </a:r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路径传输时间，</a:t>
                </a:r>
                <a:r>
                  <a:rPr lang="en-US" altLang="zh-CN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TAIL</a:t>
                </a:r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包离开的时间由</a:t>
                </a:r>
                <a:r>
                  <a:rPr lang="en-US" altLang="zh-CN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REROUTED</a:t>
                </a:r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包携带。</a:t>
                </a:r>
                <a:endParaRPr lang="zh-CN" altLang="en-US">
                  <a:solidFill>
                    <a:srgbClr val="7030A0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85" y="4397375"/>
                <a:ext cx="6559550" cy="922020"/>
              </a:xfrm>
              <a:prstGeom prst="rect">
                <a:avLst/>
              </a:prstGeom>
              <a:blipFill rotWithShape="1">
                <a:blip r:embed="rId2"/>
                <a:stretch>
                  <a:fillRect r="-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591185" y="5692140"/>
            <a:ext cx="62236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可以看出，本文设置的前提条件是，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NEW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路径上的包一定快速，有序，无损到达接收方。如果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TAIL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成功到达，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NEW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路径上有丢包，该方案无法检测。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1696</Words>
  <Application>WPS 演示</Application>
  <PresentationFormat>宽屏</PresentationFormat>
  <Paragraphs>94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Cambria Math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5</cp:revision>
  <dcterms:created xsi:type="dcterms:W3CDTF">2023-08-09T12:44:00Z</dcterms:created>
  <dcterms:modified xsi:type="dcterms:W3CDTF">2025-07-25T04:29:56Z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F5B161D0473C4DAFA39B90F4290A331A_12</vt:lpwstr>
  </property>
</Properties>
</file>