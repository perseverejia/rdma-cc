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37460" y="1034415"/>
            <a:ext cx="7030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pHost</a:t>
            </a:r>
            <a:r>
              <a:rPr lang="zh-CN" altLang="en-US" sz="2800" b="1"/>
              <a:t>：基于令牌的数据中心内部拥塞控制</a:t>
            </a:r>
            <a:endParaRPr lang="zh-CN" altLang="en-US" sz="28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34607"/>
          <a:stretch>
            <a:fillRect/>
          </a:stretch>
        </p:blipFill>
        <p:spPr>
          <a:xfrm>
            <a:off x="1276985" y="1805940"/>
            <a:ext cx="10229850" cy="195580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470025" y="4300220"/>
            <a:ext cx="2696845" cy="12471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令牌是一种主动控制策略，可以实现精确速率控制和逐包调度。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870450" y="4300220"/>
            <a:ext cx="2696845" cy="12471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ctr">
              <a:buFont typeface="Wingdings" panose="05000000000000000000" charset="0"/>
              <a:buChar char="Ø"/>
            </a:pPr>
            <a:r>
              <a:rPr lang="zh-CN" altLang="en-US"/>
              <a:t>令牌是对应性强，因此令牌浪费问题严重。</a:t>
            </a:r>
            <a:endParaRPr lang="zh-CN" altLang="en-US"/>
          </a:p>
          <a:p>
            <a:pPr marL="285750" indent="-285750" algn="ctr">
              <a:buFont typeface="Wingdings" panose="05000000000000000000" charset="0"/>
              <a:buChar char="Ø"/>
            </a:pPr>
            <a:r>
              <a:rPr lang="zh-CN" altLang="en-US"/>
              <a:t>流在第一个</a:t>
            </a:r>
            <a:r>
              <a:rPr lang="en-US" altLang="zh-CN"/>
              <a:t>RTT</a:t>
            </a:r>
            <a:r>
              <a:rPr lang="zh-CN" altLang="en-US"/>
              <a:t>要请求令牌，导致时延。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270875" y="4300220"/>
            <a:ext cx="2696845" cy="12471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pHost</a:t>
            </a:r>
            <a:r>
              <a:rPr lang="zh-CN" altLang="en-US"/>
              <a:t>在第一个</a:t>
            </a:r>
            <a:r>
              <a:rPr lang="en-US" altLang="zh-CN"/>
              <a:t>RTT</a:t>
            </a:r>
            <a:r>
              <a:rPr lang="zh-CN" altLang="en-US"/>
              <a:t>分配免费令牌，设立一个退避机制提高令牌利用。</a:t>
            </a:r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4347210" y="4740275"/>
            <a:ext cx="403225" cy="3676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7755255" y="4740275"/>
            <a:ext cx="403225" cy="3676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104390" y="5706745"/>
            <a:ext cx="1233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令牌优势</a:t>
            </a:r>
            <a:endParaRPr lang="zh-CN" altLang="en-US" b="1"/>
          </a:p>
        </p:txBody>
      </p:sp>
      <p:sp>
        <p:nvSpPr>
          <p:cNvPr id="12" name="文本框 11"/>
          <p:cNvSpPr txBox="1"/>
          <p:nvPr/>
        </p:nvSpPr>
        <p:spPr>
          <a:xfrm>
            <a:off x="5685155" y="5706745"/>
            <a:ext cx="1233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令牌缺陷</a:t>
            </a:r>
            <a:endParaRPr lang="zh-CN" altLang="en-US" b="1"/>
          </a:p>
        </p:txBody>
      </p:sp>
      <p:sp>
        <p:nvSpPr>
          <p:cNvPr id="13" name="文本框 12"/>
          <p:cNvSpPr txBox="1"/>
          <p:nvPr/>
        </p:nvSpPr>
        <p:spPr>
          <a:xfrm>
            <a:off x="9070975" y="5706745"/>
            <a:ext cx="1233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改进方案</a:t>
            </a:r>
            <a:endParaRPr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40665" y="232410"/>
            <a:ext cx="5909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pHost</a:t>
            </a:r>
            <a:r>
              <a:rPr lang="zh-CN" altLang="en-US" sz="2400"/>
              <a:t>的适用环境</a:t>
            </a:r>
            <a:r>
              <a:rPr lang="en-US" altLang="zh-CN" sz="2400"/>
              <a:t> &amp; </a:t>
            </a:r>
            <a:r>
              <a:rPr lang="zh-CN" altLang="en-US" sz="2400"/>
              <a:t>解决问题</a:t>
            </a:r>
            <a:endParaRPr lang="zh-CN" altLang="en-US" sz="2400"/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167640" y="751840"/>
            <a:ext cx="534606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84200" y="949325"/>
            <a:ext cx="11207115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1600"/>
              <a:t>pHost</a:t>
            </a:r>
            <a:r>
              <a:rPr lang="zh-CN" altLang="en-US" sz="1600"/>
              <a:t>建立在一个基于主机的流调度策略，涉及到</a:t>
            </a:r>
            <a:r>
              <a:rPr lang="en-US" altLang="zh-CN" sz="1600"/>
              <a:t>request-to-send</a:t>
            </a:r>
            <a:r>
              <a:rPr lang="zh-CN" altLang="en-US" sz="1600"/>
              <a:t>（</a:t>
            </a:r>
            <a:r>
              <a:rPr lang="en-US" altLang="zh-CN" sz="1600"/>
              <a:t>RTS</a:t>
            </a:r>
            <a:r>
              <a:rPr lang="zh-CN" altLang="en-US" sz="1600"/>
              <a:t>），逐包信令分配，基于接收方的待处理流的选择。</a:t>
            </a:r>
            <a:endParaRPr lang="zh-CN" altLang="en-US" sz="1600"/>
          </a:p>
        </p:txBody>
      </p:sp>
      <p:sp>
        <p:nvSpPr>
          <p:cNvPr id="17" name="文本框 16"/>
          <p:cNvSpPr txBox="1"/>
          <p:nvPr/>
        </p:nvSpPr>
        <p:spPr>
          <a:xfrm>
            <a:off x="628650" y="1480820"/>
            <a:ext cx="2501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适用环境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16280" y="1894840"/>
            <a:ext cx="6728460" cy="779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600"/>
              <a:t>（</a:t>
            </a:r>
            <a:r>
              <a:rPr lang="en-US" altLang="zh-CN" sz="1600"/>
              <a:t>1</a:t>
            </a:r>
            <a:r>
              <a:rPr lang="zh-CN" altLang="en-US" sz="1600"/>
              <a:t>）小</a:t>
            </a:r>
            <a:r>
              <a:rPr lang="en-US" altLang="zh-CN" sz="1600"/>
              <a:t>RTT   </a:t>
            </a:r>
            <a:r>
              <a:rPr lang="zh-CN" altLang="en-US" sz="1600"/>
              <a:t>（</a:t>
            </a:r>
            <a:r>
              <a:rPr lang="en-US" altLang="zh-CN" sz="1600"/>
              <a:t>2</a:t>
            </a:r>
            <a:r>
              <a:rPr lang="zh-CN" altLang="en-US" sz="1600"/>
              <a:t>）全双工带宽</a:t>
            </a:r>
            <a:r>
              <a:rPr lang="en-US" altLang="zh-CN" sz="1600"/>
              <a:t>  </a:t>
            </a:r>
            <a:r>
              <a:rPr lang="zh-CN" altLang="en-US" sz="1600"/>
              <a:t>（</a:t>
            </a:r>
            <a:r>
              <a:rPr lang="en-US" altLang="zh-CN" sz="1600"/>
              <a:t>3</a:t>
            </a:r>
            <a:r>
              <a:rPr lang="zh-CN" altLang="en-US" sz="1600"/>
              <a:t>）简单的交换机：</a:t>
            </a:r>
            <a:r>
              <a:rPr lang="en-US" altLang="zh-CN" sz="1600">
                <a:solidFill>
                  <a:srgbClr val="7030A0"/>
                </a:solidFill>
              </a:rPr>
              <a:t>a. </a:t>
            </a:r>
            <a:r>
              <a:rPr lang="zh-CN" altLang="en-US" sz="1600">
                <a:solidFill>
                  <a:srgbClr val="7030A0"/>
                </a:solidFill>
              </a:rPr>
              <a:t>只有几个优先级（</a:t>
            </a:r>
            <a:r>
              <a:rPr lang="en-US" altLang="zh-CN" sz="1600">
                <a:solidFill>
                  <a:srgbClr val="7030A0"/>
                </a:solidFill>
              </a:rPr>
              <a:t>8~10</a:t>
            </a:r>
            <a:r>
              <a:rPr lang="zh-CN" altLang="en-US" sz="1600">
                <a:solidFill>
                  <a:srgbClr val="7030A0"/>
                </a:solidFill>
              </a:rPr>
              <a:t>）</a:t>
            </a:r>
            <a:r>
              <a:rPr lang="en-US" altLang="zh-CN" sz="1600">
                <a:solidFill>
                  <a:srgbClr val="7030A0"/>
                </a:solidFill>
              </a:rPr>
              <a:t>b. </a:t>
            </a:r>
            <a:r>
              <a:rPr lang="zh-CN" altLang="en-US" sz="1600">
                <a:solidFill>
                  <a:srgbClr val="7030A0"/>
                </a:solidFill>
              </a:rPr>
              <a:t>采用</a:t>
            </a:r>
            <a:r>
              <a:rPr lang="en-US" altLang="zh-CN" sz="1600">
                <a:solidFill>
                  <a:srgbClr val="7030A0"/>
                </a:solidFill>
              </a:rPr>
              <a:t>ECMP/</a:t>
            </a:r>
            <a:r>
              <a:rPr lang="zh-CN" altLang="en-US" sz="1600">
                <a:solidFill>
                  <a:srgbClr val="7030A0"/>
                </a:solidFill>
              </a:rPr>
              <a:t>包散播</a:t>
            </a:r>
            <a:r>
              <a:rPr lang="en-US" altLang="zh-CN" sz="1600">
                <a:solidFill>
                  <a:srgbClr val="7030A0"/>
                </a:solidFill>
              </a:rPr>
              <a:t>     c. </a:t>
            </a:r>
            <a:r>
              <a:rPr lang="zh-CN" altLang="en-US" sz="1600">
                <a:solidFill>
                  <a:srgbClr val="7030A0"/>
                </a:solidFill>
              </a:rPr>
              <a:t>交换机直通交换及相对较小的缓冲区</a:t>
            </a:r>
            <a:endParaRPr lang="zh-CN" altLang="en-US" sz="1600">
              <a:solidFill>
                <a:srgbClr val="7030A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8650" y="2776220"/>
            <a:ext cx="2501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解决的问题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28650" y="3214370"/>
            <a:ext cx="10502900" cy="6813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20000"/>
              </a:lnSpc>
            </a:pPr>
            <a:r>
              <a:rPr lang="en-US" altLang="zh-CN" sz="1600"/>
              <a:t>pHost</a:t>
            </a:r>
            <a:r>
              <a:rPr lang="zh-CN" altLang="en-US" sz="1600"/>
              <a:t>采用逐包调度，把大象流变为蚂蚁流进行散播实现负载均衡，因为</a:t>
            </a:r>
            <a:r>
              <a:rPr lang="en-US" altLang="zh-CN" sz="1600"/>
              <a:t>pHost</a:t>
            </a:r>
            <a:r>
              <a:rPr lang="zh-CN" altLang="en-US" sz="1600"/>
              <a:t>没有中心调度器，采用分布式调度，所以发送方和接收方要自己确定令牌的使用和分配。</a:t>
            </a:r>
            <a:endParaRPr lang="zh-CN" altLang="en-US" sz="1600"/>
          </a:p>
        </p:txBody>
      </p:sp>
      <p:sp>
        <p:nvSpPr>
          <p:cNvPr id="22" name="文本框 21"/>
          <p:cNvSpPr txBox="1"/>
          <p:nvPr/>
        </p:nvSpPr>
        <p:spPr>
          <a:xfrm>
            <a:off x="787400" y="4071620"/>
            <a:ext cx="9789795" cy="2155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1600">
                <a:solidFill>
                  <a:schemeClr val="accent6"/>
                </a:solidFill>
              </a:rPr>
              <a:t>问题一：发送方饿死（接收方不反馈令牌）</a:t>
            </a:r>
            <a:endParaRPr lang="zh-CN" altLang="en-US" sz="1600">
              <a:solidFill>
                <a:schemeClr val="accent6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solidFill>
                  <a:schemeClr val="tx1"/>
                </a:solidFill>
              </a:rPr>
              <a:t>      </a:t>
            </a:r>
            <a:r>
              <a:rPr lang="zh-CN" altLang="en-US" sz="1600">
                <a:solidFill>
                  <a:schemeClr val="tx1"/>
                </a:solidFill>
              </a:rPr>
              <a:t>允许发送方并行发起多个</a:t>
            </a:r>
            <a:r>
              <a:rPr lang="en-US" altLang="zh-CN" sz="1600">
                <a:solidFill>
                  <a:schemeClr val="tx1"/>
                </a:solidFill>
              </a:rPr>
              <a:t>RTS</a:t>
            </a:r>
            <a:r>
              <a:rPr lang="zh-CN" altLang="en-US" sz="1600">
                <a:solidFill>
                  <a:schemeClr val="tx1"/>
                </a:solidFill>
              </a:rPr>
              <a:t>请求；每个源节点初始给每个数据流少量令牌，源节点无需等待</a:t>
            </a:r>
            <a:r>
              <a:rPr lang="en-US" altLang="zh-CN" sz="1600">
                <a:solidFill>
                  <a:schemeClr val="tx1"/>
                </a:solidFill>
              </a:rPr>
              <a:t>RTT</a:t>
            </a:r>
            <a:r>
              <a:rPr lang="zh-CN" altLang="en-US" sz="1600">
                <a:solidFill>
                  <a:schemeClr val="tx1"/>
                </a:solidFill>
              </a:rPr>
              <a:t>就可以直接发送。</a:t>
            </a: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endParaRPr lang="zh-CN" altLang="en-US" sz="1600">
              <a:solidFill>
                <a:schemeClr val="accent6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solidFill>
                  <a:schemeClr val="accent6"/>
                </a:solidFill>
              </a:rPr>
              <a:t>问题二：接收方饿死（发送方没有使用令牌）</a:t>
            </a:r>
            <a:endParaRPr lang="zh-CN" altLang="en-US" sz="1600">
              <a:solidFill>
                <a:schemeClr val="accent6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solidFill>
                  <a:schemeClr val="tx1"/>
                </a:solidFill>
              </a:rPr>
              <a:t>    </a:t>
            </a:r>
            <a:r>
              <a:rPr lang="zh-CN" altLang="en-US" sz="1600">
                <a:solidFill>
                  <a:schemeClr val="tx1"/>
                </a:solidFill>
              </a:rPr>
              <a:t>发送方可能同时收到很多令牌，但不能完全利用。</a:t>
            </a:r>
            <a:r>
              <a:rPr lang="en-US" altLang="zh-CN" sz="1600">
                <a:solidFill>
                  <a:schemeClr val="tx1"/>
                </a:solidFill>
              </a:rPr>
              <a:t>pHost</a:t>
            </a:r>
            <a:r>
              <a:rPr lang="zh-CN" altLang="en-US" sz="1600">
                <a:solidFill>
                  <a:schemeClr val="tx1"/>
                </a:solidFill>
              </a:rPr>
              <a:t>采用一种短时间退避机制，当某个源节点未使用目的地最近分配的令牌时，该目的地会在短时间内避免向该源节点发送令牌。</a:t>
            </a:r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58125" y="1238885"/>
            <a:ext cx="3597910" cy="21901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0665" y="232410"/>
            <a:ext cx="5909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pHost</a:t>
            </a:r>
            <a:r>
              <a:rPr lang="zh-CN" altLang="en-US" sz="2400"/>
              <a:t>的实现方案</a:t>
            </a:r>
            <a:endParaRPr lang="zh-CN" altLang="en-US" sz="2400"/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167640" y="751840"/>
            <a:ext cx="534606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65" y="850900"/>
            <a:ext cx="4282440" cy="28657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13705" y="692785"/>
            <a:ext cx="6183630" cy="3533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1600"/>
              <a:t>源节点和目的地之间通过</a:t>
            </a:r>
            <a:r>
              <a:rPr lang="en-US" altLang="zh-CN" sz="1600"/>
              <a:t>RTS</a:t>
            </a:r>
            <a:r>
              <a:rPr lang="zh-CN" altLang="en-US" sz="1600"/>
              <a:t>，令牌，数据包进行通信。</a:t>
            </a:r>
            <a:endParaRPr lang="zh-CN" altLang="en-US" sz="1600"/>
          </a:p>
          <a:p>
            <a:pPr>
              <a:lnSpc>
                <a:spcPct val="120000"/>
              </a:lnSpc>
            </a:pPr>
            <a:endParaRPr lang="zh-CN" altLang="en-US" sz="1600"/>
          </a:p>
          <a:p>
            <a:pPr>
              <a:lnSpc>
                <a:spcPct val="120000"/>
              </a:lnSpc>
            </a:pPr>
            <a:r>
              <a:rPr lang="zh-CN" altLang="en-US" sz="1600"/>
              <a:t>对于发送方节点：</a:t>
            </a:r>
            <a:endParaRPr lang="zh-CN" altLang="en-US" sz="1600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1600"/>
              <a:t>到达一个新流，源节点立刻向目地节点发送</a:t>
            </a:r>
            <a:r>
              <a:rPr lang="en-US" altLang="zh-CN" sz="1600"/>
              <a:t>RTS</a:t>
            </a:r>
            <a:r>
              <a:rPr lang="en-US" altLang="zh-CN" sz="1600">
                <a:solidFill>
                  <a:schemeClr val="accent1"/>
                </a:solidFill>
              </a:rPr>
              <a:t>(RTS</a:t>
            </a:r>
            <a:r>
              <a:rPr lang="zh-CN" altLang="en-US" sz="1600">
                <a:solidFill>
                  <a:schemeClr val="accent1"/>
                </a:solidFill>
              </a:rPr>
              <a:t>中包含流的大小，截止时间，流从属的租户</a:t>
            </a:r>
            <a:r>
              <a:rPr lang="en-US" altLang="zh-CN" sz="1600">
                <a:solidFill>
                  <a:schemeClr val="accent1"/>
                </a:solidFill>
              </a:rPr>
              <a:t>)</a:t>
            </a:r>
            <a:r>
              <a:rPr lang="zh-CN" altLang="en-US" sz="1600"/>
              <a:t>。</a:t>
            </a:r>
            <a:endParaRPr lang="zh-CN" altLang="en-US" sz="1600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1600"/>
              <a:t>发送方维护一个</a:t>
            </a:r>
            <a:r>
              <a:rPr lang="en-US" altLang="zh-CN" sz="1600">
                <a:solidFill>
                  <a:schemeClr val="accent6"/>
                </a:solidFill>
              </a:rPr>
              <a:t>ActiveTokens list</a:t>
            </a:r>
            <a:r>
              <a:rPr lang="zh-CN" altLang="en-US" sz="1600"/>
              <a:t>，记录了每一条流发往每一个目的地的令牌的数目。每条流初始被分配一些免费的令牌。</a:t>
            </a:r>
            <a:endParaRPr lang="zh-CN" altLang="en-US" sz="1600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1600">
                <a:sym typeface="+mn-ea"/>
              </a:rPr>
              <a:t>收到接收方反馈的令牌更新</a:t>
            </a:r>
            <a:r>
              <a:rPr lang="en-US" altLang="zh-CN" sz="1600">
                <a:sym typeface="+mn-ea"/>
              </a:rPr>
              <a:t>ActiveTokens list</a:t>
            </a:r>
            <a:r>
              <a:rPr lang="zh-CN" altLang="en-US" sz="1600">
                <a:sym typeface="+mn-ea"/>
              </a:rPr>
              <a:t>。</a:t>
            </a:r>
            <a:r>
              <a:rPr lang="zh-CN" altLang="en-US" sz="1600"/>
              <a:t>接收方反馈的令牌有</a:t>
            </a:r>
            <a:r>
              <a:rPr lang="zh-CN" altLang="en-US" sz="1600">
                <a:solidFill>
                  <a:schemeClr val="accent6"/>
                </a:solidFill>
              </a:rPr>
              <a:t>过期时间</a:t>
            </a:r>
            <a:r>
              <a:rPr lang="zh-CN" altLang="en-US" sz="1600"/>
              <a:t>，原文为</a:t>
            </a:r>
            <a:r>
              <a:rPr lang="en-US" altLang="zh-CN" sz="1600"/>
              <a:t>1.5</a:t>
            </a:r>
            <a:r>
              <a:rPr lang="zh-CN" altLang="en-US" sz="1600"/>
              <a:t>倍</a:t>
            </a:r>
            <a:r>
              <a:rPr lang="en-US" altLang="zh-CN" sz="1600"/>
              <a:t>MTU</a:t>
            </a:r>
            <a:r>
              <a:rPr lang="zh-CN" altLang="en-US" sz="1600"/>
              <a:t>大小的数据包传输时间。</a:t>
            </a:r>
            <a:endParaRPr lang="zh-CN" altLang="en-US" sz="1600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1600"/>
              <a:t>如果发送方空闲，根据相应的调度策略发送有令牌的数据包。</a:t>
            </a:r>
            <a:endParaRPr lang="zh-CN" altLang="en-US" sz="1600"/>
          </a:p>
          <a:p>
            <a:pPr marL="342900" indent="-342900">
              <a:buFont typeface="+mj-ea"/>
              <a:buAutoNum type="circleNumDbPlain"/>
            </a:pPr>
            <a:endParaRPr lang="en-US" altLang="zh-CN" sz="1600"/>
          </a:p>
          <a:p>
            <a:endParaRPr lang="zh-CN" altLang="en-US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10" y="3716655"/>
            <a:ext cx="4252595" cy="30740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53075" y="3976370"/>
            <a:ext cx="6064885" cy="24511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1600"/>
              <a:t>对于接收方节点：</a:t>
            </a:r>
            <a:endParaRPr lang="zh-CN" altLang="en-US" sz="1600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1600"/>
              <a:t>接收方维护一个</a:t>
            </a:r>
            <a:r>
              <a:rPr lang="en-US" altLang="zh-CN" sz="1600">
                <a:solidFill>
                  <a:schemeClr val="accent6"/>
                </a:solidFill>
              </a:rPr>
              <a:t>PendingRTS list</a:t>
            </a:r>
            <a:r>
              <a:rPr lang="zh-CN" altLang="en-US" sz="1600"/>
              <a:t>，里面保存着接收到</a:t>
            </a:r>
            <a:r>
              <a:rPr lang="en-US" altLang="zh-CN" sz="1600"/>
              <a:t>RTS</a:t>
            </a:r>
            <a:r>
              <a:rPr lang="zh-CN" altLang="en-US" sz="1600"/>
              <a:t>但是没有收到所有数据的流。</a:t>
            </a:r>
            <a:endParaRPr lang="zh-CN" altLang="en-US" sz="1600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1600"/>
              <a:t>每次</a:t>
            </a:r>
            <a:r>
              <a:rPr lang="en-US" altLang="zh-CN" sz="1600"/>
              <a:t>MTU</a:t>
            </a:r>
            <a:r>
              <a:rPr lang="zh-CN" altLang="en-US" sz="1600"/>
              <a:t>大小的数据包传输时，接收方挑选一个</a:t>
            </a:r>
            <a:r>
              <a:rPr lang="en-US" altLang="zh-CN" sz="1600"/>
              <a:t>RTS</a:t>
            </a:r>
            <a:r>
              <a:rPr lang="zh-CN" altLang="en-US" sz="1600"/>
              <a:t>并发送令牌</a:t>
            </a:r>
            <a:r>
              <a:rPr lang="zh-CN" altLang="en-US" sz="1600">
                <a:solidFill>
                  <a:schemeClr val="accent1"/>
                </a:solidFill>
              </a:rPr>
              <a:t>（令牌包括</a:t>
            </a:r>
            <a:r>
              <a:rPr lang="en-US" altLang="zh-CN" sz="1600">
                <a:solidFill>
                  <a:schemeClr val="accent1"/>
                </a:solidFill>
              </a:rPr>
              <a:t>flow_id</a:t>
            </a:r>
            <a:r>
              <a:rPr lang="zh-CN" altLang="en-US" sz="1600">
                <a:solidFill>
                  <a:schemeClr val="accent1"/>
                </a:solidFill>
              </a:rPr>
              <a:t>，</a:t>
            </a:r>
            <a:r>
              <a:rPr lang="en-US" altLang="zh-CN" sz="1600">
                <a:solidFill>
                  <a:schemeClr val="accent1"/>
                </a:solidFill>
              </a:rPr>
              <a:t>packet_id</a:t>
            </a:r>
            <a:r>
              <a:rPr lang="zh-CN" altLang="en-US" sz="1600">
                <a:solidFill>
                  <a:schemeClr val="accent1"/>
                </a:solidFill>
              </a:rPr>
              <a:t>和包优先级）</a:t>
            </a:r>
            <a:r>
              <a:rPr lang="zh-CN" altLang="en-US" sz="1600"/>
              <a:t>。</a:t>
            </a:r>
            <a:endParaRPr lang="zh-CN" altLang="en-US" sz="1600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1600"/>
              <a:t>每个目的地维护计数器，保存每个流过期的令牌数</a:t>
            </a:r>
            <a:r>
              <a:rPr lang="zh-CN" altLang="en-US" sz="1600">
                <a:solidFill>
                  <a:schemeClr val="accent6"/>
                </a:solidFill>
              </a:rPr>
              <a:t>（分配令牌数与接收数据包数的差值）</a:t>
            </a:r>
            <a:r>
              <a:rPr lang="zh-CN" altLang="en-US" sz="1600"/>
              <a:t>。若该数值超过阈值，流量将被标记为</a:t>
            </a:r>
            <a:r>
              <a:rPr lang="en-US" altLang="zh-CN" sz="1600"/>
              <a:t>“</a:t>
            </a:r>
            <a:r>
              <a:rPr lang="zh-CN" altLang="en-US" sz="1600"/>
              <a:t>降级</a:t>
            </a:r>
            <a:r>
              <a:rPr lang="en-US" altLang="zh-CN" sz="1600"/>
              <a:t>”</a:t>
            </a:r>
            <a:r>
              <a:rPr lang="zh-CN" altLang="en-US" sz="1600"/>
              <a:t>状态，从而降低其在短期内获得令牌的概率。</a:t>
            </a:r>
            <a:endParaRPr lang="zh-CN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0665" y="232410"/>
            <a:ext cx="5909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pHost</a:t>
            </a:r>
            <a:r>
              <a:rPr lang="zh-CN" altLang="en-US" sz="2400"/>
              <a:t>的实现细节</a:t>
            </a:r>
            <a:endParaRPr lang="zh-CN" altLang="en-US" sz="2400"/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167640" y="751840"/>
            <a:ext cx="5346065" cy="2159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97205" y="925195"/>
            <a:ext cx="10477500" cy="1271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1600" b="1">
                <a:solidFill>
                  <a:schemeClr val="accent1"/>
                </a:solidFill>
              </a:rPr>
              <a:t>1. </a:t>
            </a:r>
            <a:r>
              <a:rPr lang="zh-CN" altLang="en-US" sz="1600" b="1">
                <a:solidFill>
                  <a:schemeClr val="accent1"/>
                </a:solidFill>
              </a:rPr>
              <a:t>源节点和目标节点</a:t>
            </a:r>
            <a:endParaRPr lang="zh-CN" altLang="en-US" sz="1600" b="1">
              <a:solidFill>
                <a:schemeClr val="accent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1600">
                <a:solidFill>
                  <a:schemeClr val="tx1"/>
                </a:solidFill>
              </a:rPr>
              <a:t>pHost</a:t>
            </a:r>
            <a:r>
              <a:rPr lang="zh-CN" altLang="en-US" sz="1600">
                <a:solidFill>
                  <a:schemeClr val="tx1"/>
                </a:solidFill>
              </a:rPr>
              <a:t>中的控制包（</a:t>
            </a:r>
            <a:r>
              <a:rPr lang="en-US" altLang="zh-CN" sz="1600">
                <a:solidFill>
                  <a:schemeClr val="tx1"/>
                </a:solidFill>
              </a:rPr>
              <a:t>RTS, token, ACK</a:t>
            </a:r>
            <a:r>
              <a:rPr lang="zh-CN" altLang="en-US" sz="1600">
                <a:solidFill>
                  <a:schemeClr val="tx1"/>
                </a:solidFill>
              </a:rPr>
              <a:t>）都以最高优先级发送。</a:t>
            </a:r>
            <a:endParaRPr lang="zh-CN" altLang="en-US" sz="1600">
              <a:solidFill>
                <a:schemeClr val="tx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1600">
                <a:solidFill>
                  <a:schemeClr val="tx1"/>
                </a:solidFill>
              </a:rPr>
              <a:t>pHost</a:t>
            </a:r>
            <a:r>
              <a:rPr lang="zh-CN" altLang="en-US" sz="1600">
                <a:solidFill>
                  <a:schemeClr val="tx1"/>
                </a:solidFill>
              </a:rPr>
              <a:t>给每一个数据包使用一个令牌，每一条流使用一个</a:t>
            </a:r>
            <a:r>
              <a:rPr lang="en-US" altLang="zh-CN" sz="1600">
                <a:solidFill>
                  <a:schemeClr val="tx1"/>
                </a:solidFill>
              </a:rPr>
              <a:t>RTS</a:t>
            </a:r>
            <a:r>
              <a:rPr lang="zh-CN" altLang="en-US" sz="1600">
                <a:solidFill>
                  <a:schemeClr val="tx1"/>
                </a:solidFill>
              </a:rPr>
              <a:t>和一个</a:t>
            </a:r>
            <a:r>
              <a:rPr lang="en-US" altLang="zh-CN" sz="1600">
                <a:solidFill>
                  <a:schemeClr val="tx1"/>
                </a:solidFill>
              </a:rPr>
              <a:t>ACK</a:t>
            </a:r>
            <a:r>
              <a:rPr lang="zh-CN" altLang="en-US" sz="1600">
                <a:solidFill>
                  <a:schemeClr val="tx1"/>
                </a:solidFill>
              </a:rPr>
              <a:t>。</a:t>
            </a:r>
            <a:endParaRPr lang="zh-CN" altLang="en-US" sz="1600">
              <a:solidFill>
                <a:schemeClr val="tx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1600">
                <a:solidFill>
                  <a:schemeClr val="tx1"/>
                </a:solidFill>
              </a:rPr>
              <a:t>pHost</a:t>
            </a:r>
            <a:r>
              <a:rPr lang="zh-CN" altLang="en-US" sz="1600">
                <a:solidFill>
                  <a:schemeClr val="tx1"/>
                </a:solidFill>
              </a:rPr>
              <a:t>中所有控制包只有</a:t>
            </a:r>
            <a:r>
              <a:rPr lang="en-US" altLang="zh-CN" sz="1600">
                <a:solidFill>
                  <a:schemeClr val="tx1"/>
                </a:solidFill>
              </a:rPr>
              <a:t>40bytes</a:t>
            </a:r>
            <a:r>
              <a:rPr lang="zh-CN" altLang="en-US" sz="1600">
                <a:solidFill>
                  <a:schemeClr val="tx1"/>
                </a:solidFill>
              </a:rPr>
              <a:t>，因此带宽和端到端的延迟占用是很小的。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7205" y="2348230"/>
            <a:ext cx="10477500" cy="1370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600" b="1">
                <a:solidFill>
                  <a:schemeClr val="accent1"/>
                </a:solidFill>
              </a:rPr>
              <a:t>2. </a:t>
            </a:r>
            <a:r>
              <a:rPr lang="zh-CN" altLang="en-US" sz="1600" b="1">
                <a:solidFill>
                  <a:schemeClr val="accent1"/>
                </a:solidFill>
              </a:rPr>
              <a:t>最大化网络利用率</a:t>
            </a:r>
            <a:endParaRPr lang="zh-CN" altLang="en-US" sz="1600" b="1">
              <a:solidFill>
                <a:schemeClr val="accent1"/>
              </a:solidFill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tx1"/>
                </a:solidFill>
              </a:rPr>
              <a:t>新的流到来时会分配免费令牌。</a:t>
            </a:r>
            <a:endParaRPr lang="zh-CN" altLang="en-US" sz="1600">
              <a:solidFill>
                <a:schemeClr val="tx1"/>
              </a:solidFill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tx1"/>
                </a:solidFill>
              </a:rPr>
              <a:t>源降级：接收方持续统计每个源过期的令牌数，如果超过一个</a:t>
            </a:r>
            <a:r>
              <a:rPr lang="en-US" altLang="zh-CN" sz="1600">
                <a:solidFill>
                  <a:schemeClr val="tx1"/>
                </a:solidFill>
              </a:rPr>
              <a:t>BDP</a:t>
            </a:r>
            <a:r>
              <a:rPr lang="zh-CN" altLang="en-US" sz="1600">
                <a:solidFill>
                  <a:schemeClr val="tx1"/>
                </a:solidFill>
              </a:rPr>
              <a:t>数量级的令牌，接收方降级该源，停止向其发送令牌。降级后的源处于超时状态，默认</a:t>
            </a:r>
            <a:r>
              <a:rPr lang="en-US" altLang="zh-CN" sz="1600">
                <a:solidFill>
                  <a:schemeClr val="tx1"/>
                </a:solidFill>
              </a:rPr>
              <a:t>3</a:t>
            </a:r>
            <a:r>
              <a:rPr lang="zh-CN" altLang="en-US" sz="1600">
                <a:solidFill>
                  <a:schemeClr val="tx1"/>
                </a:solidFill>
              </a:rPr>
              <a:t>个</a:t>
            </a:r>
            <a:r>
              <a:rPr lang="en-US" altLang="zh-CN" sz="1600">
                <a:solidFill>
                  <a:schemeClr val="tx1"/>
                </a:solidFill>
              </a:rPr>
              <a:t>RTT</a:t>
            </a:r>
            <a:r>
              <a:rPr lang="zh-CN" altLang="en-US" sz="1600">
                <a:solidFill>
                  <a:schemeClr val="tx1"/>
                </a:solidFill>
              </a:rPr>
              <a:t>，超时结束重新发放令牌。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4205" y="3846195"/>
            <a:ext cx="10477500" cy="2331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600" b="1">
                <a:solidFill>
                  <a:schemeClr val="accent1"/>
                </a:solidFill>
              </a:rPr>
              <a:t>3. </a:t>
            </a:r>
            <a:r>
              <a:rPr lang="zh-CN" altLang="en-US" sz="1600" b="1">
                <a:solidFill>
                  <a:schemeClr val="accent1"/>
                </a:solidFill>
              </a:rPr>
              <a:t>本地调度问题</a:t>
            </a:r>
            <a:endParaRPr lang="zh-CN" altLang="en-US" sz="1600" b="1">
              <a:solidFill>
                <a:schemeClr val="accent1"/>
              </a:solidFill>
            </a:endParaRP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600">
                <a:solidFill>
                  <a:schemeClr val="tx1"/>
                </a:solidFill>
              </a:rPr>
              <a:t>有些情景是希望最小化尾延迟（请求），有些是在不同租户中公平共享网络带宽（文件传输）。终端主机调度实现三种不同性能的目标优化：</a:t>
            </a:r>
            <a:r>
              <a:rPr lang="en-US" altLang="zh-CN" sz="1600">
                <a:solidFill>
                  <a:schemeClr val="tx1"/>
                </a:solidFill>
              </a:rPr>
              <a:t>(i) </a:t>
            </a:r>
            <a:r>
              <a:rPr lang="zh-CN" altLang="en-US" sz="1600">
                <a:solidFill>
                  <a:schemeClr val="tx1"/>
                </a:solidFill>
              </a:rPr>
              <a:t>最小化流完成时间</a:t>
            </a:r>
            <a:r>
              <a:rPr lang="en-US" altLang="zh-CN" sz="1600">
                <a:solidFill>
                  <a:schemeClr val="tx1"/>
                </a:solidFill>
              </a:rPr>
              <a:t> (ii) </a:t>
            </a:r>
            <a:r>
              <a:rPr lang="zh-CN" altLang="en-US" sz="1600">
                <a:solidFill>
                  <a:schemeClr val="tx1"/>
                </a:solidFill>
              </a:rPr>
              <a:t>流结束时间约束</a:t>
            </a:r>
            <a:r>
              <a:rPr lang="en-US" altLang="zh-CN" sz="1600">
                <a:solidFill>
                  <a:schemeClr val="tx1"/>
                </a:solidFill>
              </a:rPr>
              <a:t> (iii) </a:t>
            </a:r>
            <a:r>
              <a:rPr lang="zh-CN" altLang="en-US" sz="1600">
                <a:solidFill>
                  <a:schemeClr val="tx1"/>
                </a:solidFill>
              </a:rPr>
              <a:t>多租户之间的公平性。</a:t>
            </a:r>
            <a:endParaRPr lang="zh-CN" altLang="en-US" sz="1600">
              <a:solidFill>
                <a:schemeClr val="tx1"/>
              </a:solidFill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tx1"/>
                </a:solidFill>
              </a:rPr>
              <a:t>对于</a:t>
            </a:r>
            <a:r>
              <a:rPr lang="en-US" altLang="zh-CN" sz="1600">
                <a:solidFill>
                  <a:schemeClr val="tx1"/>
                </a:solidFill>
              </a:rPr>
              <a:t>(i), (ii)</a:t>
            </a:r>
            <a:r>
              <a:rPr lang="zh-CN" altLang="en-US" sz="1600">
                <a:solidFill>
                  <a:schemeClr val="tx1"/>
                </a:solidFill>
              </a:rPr>
              <a:t>两种类型，</a:t>
            </a:r>
            <a:r>
              <a:rPr lang="en-US" altLang="zh-CN" sz="1600">
                <a:solidFill>
                  <a:schemeClr val="tx1"/>
                </a:solidFill>
              </a:rPr>
              <a:t>pHost</a:t>
            </a:r>
            <a:r>
              <a:rPr lang="zh-CN" altLang="en-US" sz="1600">
                <a:solidFill>
                  <a:schemeClr val="tx1"/>
                </a:solidFill>
              </a:rPr>
              <a:t>模拟</a:t>
            </a:r>
            <a:r>
              <a:rPr lang="en-US" altLang="zh-CN" sz="1600">
                <a:solidFill>
                  <a:schemeClr val="tx1"/>
                </a:solidFill>
              </a:rPr>
              <a:t>SRPT(shortest remaining processing time)</a:t>
            </a:r>
            <a:r>
              <a:rPr lang="zh-CN" altLang="en-US" sz="1600">
                <a:solidFill>
                  <a:schemeClr val="tx1"/>
                </a:solidFill>
              </a:rPr>
              <a:t>，接收方分配令牌时，优先分配给剩余字节数少的流或</a:t>
            </a:r>
            <a:r>
              <a:rPr lang="en-US" altLang="zh-CN" sz="1600">
                <a:solidFill>
                  <a:schemeClr val="tx1"/>
                </a:solidFill>
              </a:rPr>
              <a:t>deadline</a:t>
            </a:r>
            <a:r>
              <a:rPr lang="zh-CN" altLang="en-US" sz="1600">
                <a:solidFill>
                  <a:schemeClr val="tx1"/>
                </a:solidFill>
              </a:rPr>
              <a:t>近的流。</a:t>
            </a:r>
            <a:endParaRPr lang="zh-CN" altLang="en-US" sz="1600">
              <a:solidFill>
                <a:schemeClr val="tx1"/>
              </a:solidFill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chemeClr val="tx1"/>
                </a:solidFill>
              </a:rPr>
              <a:t>对于</a:t>
            </a:r>
            <a:r>
              <a:rPr lang="en-US" altLang="zh-CN" sz="1600">
                <a:solidFill>
                  <a:schemeClr val="tx1"/>
                </a:solidFill>
              </a:rPr>
              <a:t>(iii)</a:t>
            </a:r>
            <a:r>
              <a:rPr lang="zh-CN" altLang="en-US" sz="1600">
                <a:solidFill>
                  <a:schemeClr val="tx1"/>
                </a:solidFill>
              </a:rPr>
              <a:t>，各终端主机维护一个计数器，记录每个租户收到的数据包的数量，并在单位时间内向收到数据包少的租户分发令牌。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1525</Words>
  <Application>WPS 演示</Application>
  <PresentationFormat>宽屏</PresentationFormat>
  <Paragraphs>66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perseverejia</cp:lastModifiedBy>
  <cp:revision>8</cp:revision>
  <dcterms:created xsi:type="dcterms:W3CDTF">2023-08-09T12:44:00Z</dcterms:created>
  <dcterms:modified xsi:type="dcterms:W3CDTF">2026-02-03T13:50:12Z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EA57285643C74D0E99518A3DDC31555E_12</vt:lpwstr>
  </property>
</Properties>
</file>