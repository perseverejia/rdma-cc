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3" r:id="rId8"/>
    <p:sldId id="262" r:id="rId9"/>
    <p:sldId id="261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6.png"/><Relationship Id="rId11" Type="http://schemas.openxmlformats.org/officeDocument/2006/relationships/tags" Target="../tags/tag7.xml"/><Relationship Id="rId10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488315"/>
            <a:ext cx="10248900" cy="2314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87245" y="3199130"/>
            <a:ext cx="80175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Gemini</a:t>
            </a:r>
            <a:r>
              <a:rPr lang="zh-CN" altLang="en-US" sz="24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：结合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ECN</a:t>
            </a:r>
            <a:r>
              <a:rPr lang="zh-CN" altLang="en-US" sz="24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和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Delay</a:t>
            </a:r>
            <a:r>
              <a:rPr lang="zh-CN" altLang="en-US" sz="24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两种参数实现跨</a:t>
            </a:r>
            <a:r>
              <a:rPr lang="en-US" altLang="zh-CN" sz="24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DC</a:t>
            </a:r>
            <a:r>
              <a:rPr lang="zh-CN" altLang="en-US" sz="24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拥塞控制</a:t>
            </a:r>
            <a:endParaRPr lang="zh-CN" altLang="en-US" sz="2400" b="1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93445" y="4304030"/>
            <a:ext cx="3071495" cy="11830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DC</a:t>
            </a:r>
            <a:r>
              <a:rPr lang="zh-CN" altLang="en-US"/>
              <a:t>间流量和</a:t>
            </a:r>
            <a:r>
              <a:rPr lang="en-US" altLang="zh-CN"/>
              <a:t>DC</a:t>
            </a:r>
            <a:r>
              <a:rPr lang="zh-CN" altLang="en-US"/>
              <a:t>内流量有不同的需求，如何在不用区分流量下满足两者需求。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589145" y="4304030"/>
            <a:ext cx="3071495" cy="11830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使用</a:t>
            </a:r>
            <a:r>
              <a:rPr lang="en-US" altLang="zh-CN"/>
              <a:t>Delay</a:t>
            </a:r>
            <a:r>
              <a:rPr lang="zh-CN" altLang="en-US"/>
              <a:t>来限制</a:t>
            </a:r>
            <a:r>
              <a:rPr lang="en-US" altLang="zh-CN"/>
              <a:t>DC</a:t>
            </a:r>
            <a:r>
              <a:rPr lang="zh-CN" altLang="en-US"/>
              <a:t>间延迟，采用</a:t>
            </a:r>
            <a:r>
              <a:rPr lang="en-US" altLang="zh-CN"/>
              <a:t>ECN</a:t>
            </a:r>
            <a:r>
              <a:rPr lang="zh-CN" altLang="en-US"/>
              <a:t>避免</a:t>
            </a:r>
            <a:r>
              <a:rPr lang="en-US" altLang="zh-CN"/>
              <a:t>DC</a:t>
            </a:r>
            <a:r>
              <a:rPr lang="zh-CN" altLang="en-US"/>
              <a:t>内丢包。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284845" y="4304030"/>
            <a:ext cx="3071495" cy="118300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提高长链路上的吞吐量，同时减少</a:t>
            </a:r>
            <a:r>
              <a:rPr lang="en-US" altLang="zh-CN"/>
              <a:t>DC</a:t>
            </a:r>
            <a:r>
              <a:rPr lang="zh-CN" altLang="en-US"/>
              <a:t>内排队时延。</a:t>
            </a:r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4080510" y="4664710"/>
            <a:ext cx="439420" cy="4254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7753350" y="4683125"/>
            <a:ext cx="439420" cy="4254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087245" y="5645150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796915" y="5645150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506585" y="5645150"/>
            <a:ext cx="655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效果</a:t>
            </a:r>
            <a:endParaRPr lang="zh-CN" altLang="en-US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065" y="170180"/>
            <a:ext cx="610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需求</a:t>
            </a:r>
            <a:r>
              <a:rPr lang="en-US" altLang="zh-CN" sz="2400"/>
              <a:t>&amp;Gemini</a:t>
            </a:r>
            <a:r>
              <a:rPr lang="zh-CN" altLang="en-US" sz="2400"/>
              <a:t>解决方向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39065" y="660400"/>
            <a:ext cx="512000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13690" y="996950"/>
            <a:ext cx="1390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</a:rPr>
              <a:t>问题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5270" y="3392170"/>
            <a:ext cx="3298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Gemini</a:t>
            </a:r>
            <a:r>
              <a:rPr lang="zh-CN" altLang="en-US" b="1">
                <a:solidFill>
                  <a:schemeClr val="accent1"/>
                </a:solidFill>
              </a:rPr>
              <a:t>解决方向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13690" y="1458595"/>
            <a:ext cx="11489055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rgbClr val="FF0000"/>
                </a:solidFill>
              </a:rPr>
              <a:t>问题一：</a:t>
            </a:r>
            <a:r>
              <a:rPr lang="zh-CN" altLang="en-US"/>
              <a:t>如何保证异构环境下的低延迟？</a:t>
            </a:r>
            <a:endParaRPr lang="zh-CN" altLang="en-US"/>
          </a:p>
          <a:p>
            <a:pPr lvl="1"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altLang="zh-CN"/>
              <a:t>DC</a:t>
            </a:r>
            <a:r>
              <a:rPr lang="zh-CN" altLang="en-US"/>
              <a:t>内交换机缓存小（更容易发生丢包），</a:t>
            </a:r>
            <a:r>
              <a:rPr lang="en-US" altLang="zh-CN"/>
              <a:t>WAN</a:t>
            </a:r>
            <a:r>
              <a:rPr lang="zh-CN" altLang="en-US"/>
              <a:t>交换机缓存大（更容易导致长队列堆积），两者缓冲区差异大。</a:t>
            </a:r>
            <a:endParaRPr lang="zh-CN" altLang="en-US"/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>
                <a:solidFill>
                  <a:srgbClr val="FF0000"/>
                </a:solidFill>
              </a:rPr>
              <a:t>问题二：</a:t>
            </a:r>
            <a:r>
              <a:rPr lang="zh-CN" altLang="en-US"/>
              <a:t>怎么实现</a:t>
            </a:r>
            <a:r>
              <a:rPr lang="en-US" altLang="zh-CN"/>
              <a:t>DC</a:t>
            </a:r>
            <a:r>
              <a:rPr lang="zh-CN" altLang="en-US"/>
              <a:t>间流的高吞吐量</a:t>
            </a:r>
            <a:r>
              <a:rPr lang="en-US" altLang="zh-CN"/>
              <a:t>?</a:t>
            </a:r>
            <a:endParaRPr lang="en-US" altLang="zh-CN"/>
          </a:p>
          <a:p>
            <a:pPr lvl="1"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/>
              <a:t>当前</a:t>
            </a:r>
            <a:r>
              <a:rPr lang="en-US" altLang="zh-CN"/>
              <a:t>DC</a:t>
            </a:r>
            <a:r>
              <a:rPr lang="zh-CN" altLang="en-US"/>
              <a:t>内流缓冲区小，跨</a:t>
            </a:r>
            <a:r>
              <a:rPr lang="en-US" altLang="zh-CN"/>
              <a:t>DC</a:t>
            </a:r>
            <a:r>
              <a:rPr lang="zh-CN" altLang="en-US"/>
              <a:t>的流的传播延迟在微秒到毫秒范围内变化。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42900" y="3816985"/>
            <a:ext cx="11065510" cy="2249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混合</a:t>
            </a:r>
            <a:r>
              <a:rPr lang="en-US" altLang="zh-CN" b="1">
                <a:solidFill>
                  <a:schemeClr val="accent4"/>
                </a:solidFill>
              </a:rPr>
              <a:t>ECN</a:t>
            </a:r>
            <a:r>
              <a:rPr lang="zh-CN" altLang="en-US" b="1">
                <a:solidFill>
                  <a:schemeClr val="accent4"/>
                </a:solidFill>
              </a:rPr>
              <a:t>和</a:t>
            </a:r>
            <a:r>
              <a:rPr lang="en-US" altLang="zh-CN" b="1">
                <a:solidFill>
                  <a:schemeClr val="accent4"/>
                </a:solidFill>
              </a:rPr>
              <a:t>Delay</a:t>
            </a:r>
            <a:r>
              <a:rPr lang="zh-CN" altLang="en-US" b="1">
                <a:solidFill>
                  <a:schemeClr val="accent4"/>
                </a:solidFill>
              </a:rPr>
              <a:t>进行拥塞检测</a:t>
            </a:r>
            <a:r>
              <a:rPr lang="zh-CN" altLang="en-US"/>
              <a:t>，</a:t>
            </a:r>
            <a:r>
              <a:rPr lang="en-US" altLang="zh-CN"/>
              <a:t>Delay</a:t>
            </a:r>
            <a:r>
              <a:rPr lang="zh-CN" altLang="en-US"/>
              <a:t>用来限制网络路径上飞行包总量，</a:t>
            </a:r>
            <a:r>
              <a:rPr lang="en-US" altLang="zh-CN"/>
              <a:t>ECN</a:t>
            </a:r>
            <a:r>
              <a:rPr lang="zh-CN" altLang="en-US"/>
              <a:t>用来限制</a:t>
            </a:r>
            <a:r>
              <a:rPr lang="en-US" altLang="zh-CN"/>
              <a:t>DCN</a:t>
            </a:r>
            <a:r>
              <a:rPr lang="zh-CN" altLang="en-US"/>
              <a:t>内部的逐跳队列。有限的端到端延迟和有限的丢包率，保证有限的低延迟。</a:t>
            </a:r>
            <a:r>
              <a:rPr lang="zh-CN" altLang="en-US">
                <a:solidFill>
                  <a:schemeClr val="accent6"/>
                </a:solidFill>
              </a:rPr>
              <a:t>（问题一）</a:t>
            </a:r>
            <a:endParaRPr lang="zh-CN" altLang="en-US">
              <a:solidFill>
                <a:schemeClr val="accent6"/>
              </a:solidFill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通过流的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来调节</a:t>
            </a:r>
            <a:r>
              <a:rPr lang="en-US" altLang="zh-CN">
                <a:solidFill>
                  <a:schemeClr val="tx1"/>
                </a:solidFill>
              </a:rPr>
              <a:t>ECN</a:t>
            </a:r>
            <a:r>
              <a:rPr lang="zh-CN" altLang="en-US">
                <a:solidFill>
                  <a:schemeClr val="tx1"/>
                </a:solidFill>
              </a:rPr>
              <a:t>触发的</a:t>
            </a:r>
            <a:r>
              <a:rPr lang="zh-CN" altLang="en-US" b="1">
                <a:solidFill>
                  <a:schemeClr val="accent4"/>
                </a:solidFill>
              </a:rPr>
              <a:t>窗口缩减</a:t>
            </a:r>
            <a:r>
              <a:rPr lang="zh-CN" altLang="en-US">
                <a:solidFill>
                  <a:schemeClr val="tx1"/>
                </a:solidFill>
              </a:rPr>
              <a:t>的剧烈程度。传统的</a:t>
            </a:r>
            <a:r>
              <a:rPr lang="en-US" altLang="zh-CN">
                <a:solidFill>
                  <a:schemeClr val="tx1"/>
                </a:solidFill>
              </a:rPr>
              <a:t>TCP</a:t>
            </a:r>
            <a:r>
              <a:rPr lang="zh-CN" altLang="en-US">
                <a:solidFill>
                  <a:schemeClr val="tx1"/>
                </a:solidFill>
              </a:rPr>
              <a:t>让大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的流下降速率更快，</a:t>
            </a:r>
            <a:r>
              <a:rPr lang="en-US" altLang="zh-CN">
                <a:solidFill>
                  <a:schemeClr val="tx1"/>
                </a:solidFill>
              </a:rPr>
              <a:t>Gemini</a:t>
            </a:r>
            <a:r>
              <a:rPr lang="zh-CN" altLang="en-US">
                <a:solidFill>
                  <a:schemeClr val="tx1"/>
                </a:solidFill>
              </a:rPr>
              <a:t>让大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的流下降更平缓，防止了</a:t>
            </a:r>
            <a:r>
              <a:rPr lang="en-US" altLang="zh-CN">
                <a:solidFill>
                  <a:schemeClr val="tx1"/>
                </a:solidFill>
              </a:rPr>
              <a:t>DC</a:t>
            </a:r>
            <a:r>
              <a:rPr lang="zh-CN" altLang="en-US">
                <a:solidFill>
                  <a:schemeClr val="tx1"/>
                </a:solidFill>
              </a:rPr>
              <a:t>间带宽利用不足，为</a:t>
            </a:r>
            <a:r>
              <a:rPr lang="en-US" altLang="zh-CN">
                <a:solidFill>
                  <a:schemeClr val="tx1"/>
                </a:solidFill>
              </a:rPr>
              <a:t>DC</a:t>
            </a:r>
            <a:r>
              <a:rPr lang="zh-CN" altLang="en-US">
                <a:solidFill>
                  <a:schemeClr val="tx1"/>
                </a:solidFill>
              </a:rPr>
              <a:t>内维护了</a:t>
            </a:r>
            <a:r>
              <a:rPr lang="en-US" altLang="zh-CN">
                <a:solidFill>
                  <a:schemeClr val="tx1"/>
                </a:solidFill>
              </a:rPr>
              <a:t>ECN</a:t>
            </a:r>
            <a:r>
              <a:rPr lang="zh-CN" altLang="en-US">
                <a:solidFill>
                  <a:schemeClr val="tx1"/>
                </a:solidFill>
              </a:rPr>
              <a:t>低阈值。</a:t>
            </a:r>
            <a:r>
              <a:rPr lang="zh-CN" altLang="en-US">
                <a:solidFill>
                  <a:schemeClr val="accent6"/>
                </a:solidFill>
              </a:rPr>
              <a:t>（问题二）</a:t>
            </a:r>
            <a:endParaRPr lang="zh-CN" altLang="en-US">
              <a:solidFill>
                <a:schemeClr val="accent6"/>
              </a:solidFill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适应不同的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zh-CN" altLang="en-US" b="1">
                <a:solidFill>
                  <a:schemeClr val="accent4"/>
                </a:solidFill>
                <a:sym typeface="+mn-ea"/>
              </a:rPr>
              <a:t>窗口增加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策略</a:t>
            </a:r>
            <a:r>
              <a:rPr lang="zh-CN" altLang="en-US">
                <a:solidFill>
                  <a:schemeClr val="tx1"/>
                </a:solidFill>
              </a:rPr>
              <a:t>。窗口增加幅度与</a:t>
            </a:r>
            <a:r>
              <a:rPr lang="en-US" altLang="zh-CN">
                <a:solidFill>
                  <a:schemeClr val="tx1"/>
                </a:solidFill>
              </a:rPr>
              <a:t>RTT</a:t>
            </a:r>
            <a:r>
              <a:rPr lang="zh-CN" altLang="en-US">
                <a:solidFill>
                  <a:schemeClr val="tx1"/>
                </a:solidFill>
              </a:rPr>
              <a:t>成正比，在混合流量的情况下，更好的平衡了收敛速度和系统稳定性。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（问题二）</a:t>
            </a:r>
            <a:endParaRPr lang="zh-CN" altLang="en-US">
              <a:solidFill>
                <a:schemeClr val="accent6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15" grpId="1"/>
      <p:bldP spid="2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7250" y="2825750"/>
            <a:ext cx="4984750" cy="19570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9065" y="170180"/>
            <a:ext cx="610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原有的解决方案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39065" y="660400"/>
            <a:ext cx="512000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65125" y="979170"/>
            <a:ext cx="5264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</a:t>
            </a:r>
            <a:r>
              <a:rPr lang="zh-CN" altLang="en-US" b="1">
                <a:solidFill>
                  <a:schemeClr val="accent1"/>
                </a:solidFill>
              </a:rPr>
              <a:t>只使用</a:t>
            </a:r>
            <a:r>
              <a:rPr lang="en-US" altLang="zh-CN" b="1">
                <a:solidFill>
                  <a:schemeClr val="accent1"/>
                </a:solidFill>
              </a:rPr>
              <a:t>ECN</a:t>
            </a:r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Cubic</a:t>
            </a:r>
            <a:r>
              <a:rPr lang="zh-CN" altLang="en-US" b="1">
                <a:solidFill>
                  <a:schemeClr val="accent1"/>
                </a:solidFill>
              </a:rPr>
              <a:t>，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Cubic+ECN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，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DCTCP</a:t>
            </a:r>
            <a:r>
              <a:rPr lang="zh-CN" altLang="en-US" b="1">
                <a:solidFill>
                  <a:schemeClr val="accent1"/>
                </a:solidFill>
              </a:rPr>
              <a:t>）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6425" y="1296670"/>
            <a:ext cx="793559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提高</a:t>
            </a:r>
            <a:r>
              <a:rPr lang="en-US" altLang="zh-CN"/>
              <a:t>ECN</a:t>
            </a:r>
            <a:r>
              <a:rPr lang="zh-CN" altLang="en-US"/>
              <a:t>阈值会使</a:t>
            </a:r>
            <a:r>
              <a:rPr lang="en-US" altLang="zh-CN"/>
              <a:t>DCN</a:t>
            </a:r>
            <a:r>
              <a:rPr lang="zh-CN" altLang="en-US"/>
              <a:t>浅缓冲区有高丢包率。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WAN</a:t>
            </a:r>
            <a:r>
              <a:rPr lang="zh-CN" altLang="en-US"/>
              <a:t>中禁止</a:t>
            </a:r>
            <a:r>
              <a:rPr lang="en-US" altLang="zh-CN"/>
              <a:t>/</a:t>
            </a:r>
            <a:r>
              <a:rPr lang="zh-CN" altLang="en-US"/>
              <a:t>不理想的</a:t>
            </a:r>
            <a:r>
              <a:rPr lang="en-US" altLang="zh-CN"/>
              <a:t>ECN</a:t>
            </a:r>
            <a:r>
              <a:rPr lang="zh-CN" altLang="en-US"/>
              <a:t>标记会导致长队列延迟，</a:t>
            </a:r>
            <a:r>
              <a:rPr lang="en-US" altLang="zh-CN"/>
              <a:t>DCTCP</a:t>
            </a:r>
            <a:r>
              <a:rPr lang="zh-CN" altLang="en-US"/>
              <a:t>中</a:t>
            </a:r>
            <a:r>
              <a:rPr lang="en-US" altLang="zh-CN"/>
              <a:t>ECN</a:t>
            </a:r>
            <a:r>
              <a:rPr lang="zh-CN" altLang="en-US"/>
              <a:t>退化为丢包。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在混合流量中设置</a:t>
            </a:r>
            <a:r>
              <a:rPr lang="en-US" altLang="zh-CN"/>
              <a:t>ECN</a:t>
            </a:r>
            <a:r>
              <a:rPr lang="zh-CN" altLang="en-US"/>
              <a:t>阈值困难。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960110" y="689610"/>
            <a:ext cx="5024755" cy="7899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ECN</a:t>
            </a:r>
            <a:r>
              <a:rPr lang="zh-CN" altLang="en-US"/>
              <a:t>只有队列长度达到</a:t>
            </a:r>
            <a:r>
              <a:rPr lang="en-US" altLang="zh-CN"/>
              <a:t>BDP</a:t>
            </a:r>
            <a:r>
              <a:rPr lang="zh-CN" altLang="en-US"/>
              <a:t>或其恒定比例才会进行标记，但不同路径流量的</a:t>
            </a:r>
            <a:r>
              <a:rPr lang="en-US" altLang="zh-CN"/>
              <a:t>RTT</a:t>
            </a:r>
            <a:r>
              <a:rPr lang="zh-CN" altLang="en-US"/>
              <a:t>差异巨大。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65125" y="2499995"/>
            <a:ext cx="5264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</a:t>
            </a:r>
            <a:r>
              <a:rPr lang="zh-CN" altLang="en-US" b="1">
                <a:solidFill>
                  <a:schemeClr val="accent1"/>
                </a:solidFill>
              </a:rPr>
              <a:t>只使用</a:t>
            </a:r>
            <a:r>
              <a:rPr lang="en-US" altLang="zh-CN" b="1">
                <a:solidFill>
                  <a:schemeClr val="accent1"/>
                </a:solidFill>
              </a:rPr>
              <a:t>Delay</a:t>
            </a:r>
            <a:r>
              <a:rPr lang="zh-CN" altLang="en-US" b="1">
                <a:solidFill>
                  <a:schemeClr val="accent1"/>
                </a:solidFill>
              </a:rPr>
              <a:t>（</a:t>
            </a:r>
            <a:r>
              <a:rPr lang="en-US" altLang="zh-CN" b="1">
                <a:solidFill>
                  <a:schemeClr val="accent1"/>
                </a:solidFill>
              </a:rPr>
              <a:t>Vegas</a:t>
            </a:r>
            <a:r>
              <a:rPr lang="zh-CN" altLang="en-US" b="1">
                <a:solidFill>
                  <a:schemeClr val="accent1"/>
                </a:solidFill>
              </a:rPr>
              <a:t>）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6425" y="2880360"/>
            <a:ext cx="793559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对于</a:t>
            </a:r>
            <a:r>
              <a:rPr lang="en-US" altLang="zh-CN"/>
              <a:t>DC</a:t>
            </a:r>
            <a:r>
              <a:rPr lang="zh-CN" altLang="en-US"/>
              <a:t>间流拥塞：需要大</a:t>
            </a:r>
            <a:r>
              <a:rPr lang="en-US" altLang="zh-CN"/>
              <a:t>Delay</a:t>
            </a:r>
            <a:r>
              <a:rPr lang="zh-CN" altLang="en-US"/>
              <a:t>，会超过</a:t>
            </a:r>
            <a:r>
              <a:rPr lang="en-US" altLang="zh-CN"/>
              <a:t>DC</a:t>
            </a:r>
            <a:r>
              <a:rPr lang="zh-CN" altLang="en-US"/>
              <a:t>内交换机缓存。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对于</a:t>
            </a:r>
            <a:r>
              <a:rPr lang="en-US" altLang="zh-CN"/>
              <a:t>DC</a:t>
            </a:r>
            <a:r>
              <a:rPr lang="zh-CN" altLang="en-US"/>
              <a:t>内流拥塞：需要小</a:t>
            </a:r>
            <a:r>
              <a:rPr lang="en-US" altLang="zh-CN"/>
              <a:t>Delay</a:t>
            </a:r>
            <a:r>
              <a:rPr lang="zh-CN" altLang="en-US"/>
              <a:t>，但会降低</a:t>
            </a:r>
            <a:r>
              <a:rPr lang="en-US" altLang="zh-CN"/>
              <a:t>WAN</a:t>
            </a:r>
            <a:r>
              <a:rPr lang="zh-CN" altLang="en-US"/>
              <a:t>的链路利用率。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65125" y="3792855"/>
            <a:ext cx="5264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3. </a:t>
            </a:r>
            <a:r>
              <a:rPr lang="zh-CN" altLang="en-US" b="1">
                <a:solidFill>
                  <a:schemeClr val="accent1"/>
                </a:solidFill>
              </a:rPr>
              <a:t>使用</a:t>
            </a:r>
            <a:r>
              <a:rPr lang="en-US" altLang="zh-CN" b="1">
                <a:solidFill>
                  <a:schemeClr val="accent1"/>
                </a:solidFill>
              </a:rPr>
              <a:t>BBR</a:t>
            </a:r>
            <a:r>
              <a:rPr lang="zh-CN" altLang="en-US" b="1">
                <a:solidFill>
                  <a:schemeClr val="accent1"/>
                </a:solidFill>
              </a:rPr>
              <a:t>（参数为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RTprop</a:t>
            </a:r>
            <a:r>
              <a:rPr lang="zh-CN" altLang="en-US" b="1">
                <a:solidFill>
                  <a:schemeClr val="accent1"/>
                </a:solidFill>
                <a:sym typeface="+mn-ea"/>
              </a:rPr>
              <a:t>和</a:t>
            </a:r>
            <a:r>
              <a:rPr lang="en-US" altLang="zh-CN" b="1">
                <a:solidFill>
                  <a:schemeClr val="accent1"/>
                </a:solidFill>
                <a:sym typeface="+mn-ea"/>
              </a:rPr>
              <a:t>BtlBw</a:t>
            </a:r>
            <a:r>
              <a:rPr lang="zh-CN" altLang="en-US" b="1">
                <a:solidFill>
                  <a:schemeClr val="accent1"/>
                </a:solidFill>
              </a:rPr>
              <a:t>）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6425" y="4236085"/>
            <a:ext cx="6648450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BBR</a:t>
            </a:r>
            <a:r>
              <a:rPr lang="zh-CN" altLang="en-US"/>
              <a:t>需要精确测量带宽和</a:t>
            </a:r>
            <a:r>
              <a:rPr lang="en-US" altLang="zh-CN"/>
              <a:t>RTT</a:t>
            </a:r>
            <a:r>
              <a:rPr lang="zh-CN" altLang="en-US"/>
              <a:t>，这在动态负载下很难测量。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多周期的带宽探测（如</a:t>
            </a:r>
            <a:r>
              <a:rPr lang="en-US" altLang="zh-CN"/>
              <a:t>8</a:t>
            </a:r>
            <a:r>
              <a:rPr lang="zh-CN" altLang="en-US"/>
              <a:t>个</a:t>
            </a:r>
            <a:r>
              <a:rPr lang="en-US" altLang="zh-CN"/>
              <a:t>RTT</a:t>
            </a:r>
            <a:r>
              <a:rPr lang="zh-CN" altLang="en-US"/>
              <a:t>），可能无法及时捕捉到突发流量以避免缓冲区溢出。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BBR </a:t>
            </a:r>
            <a:r>
              <a:rPr lang="zh-CN" altLang="en-US"/>
              <a:t>没有对丢包信号作出明确响应，导致持续丢包，直到计时器失效。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0" y="4782820"/>
            <a:ext cx="4984750" cy="206946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2486025" y="5998845"/>
            <a:ext cx="3905250" cy="6438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BBR</a:t>
            </a:r>
            <a:r>
              <a:rPr lang="zh-CN" altLang="en-US"/>
              <a:t>有较高的丢包率（</a:t>
            </a:r>
            <a:r>
              <a:rPr lang="en-US" altLang="zh-CN"/>
              <a:t>&gt;0.1%</a:t>
            </a:r>
            <a:r>
              <a:rPr lang="zh-CN" altLang="en-US"/>
              <a:t>），导致小流的</a:t>
            </a:r>
            <a:r>
              <a:rPr lang="en-US" altLang="zh-CN"/>
              <a:t>FCT</a:t>
            </a:r>
            <a:r>
              <a:rPr lang="zh-CN" altLang="en-US"/>
              <a:t>性能较差。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6" grpId="0" animBg="1"/>
      <p:bldP spid="1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065" y="170180"/>
            <a:ext cx="610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Gemini</a:t>
            </a:r>
            <a:r>
              <a:rPr lang="zh-CN" altLang="en-US" sz="2400"/>
              <a:t>设计思路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39065" y="660400"/>
            <a:ext cx="512000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06705" y="908685"/>
            <a:ext cx="6260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zh-CN" altLang="en-US" b="1">
                <a:solidFill>
                  <a:srgbClr val="FF0000"/>
                </a:solidFill>
              </a:rPr>
              <a:t>）怎样在混合网络环境下持续低时延？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9305" y="1346835"/>
            <a:ext cx="918591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/>
              <a:t>Delay</a:t>
            </a:r>
            <a:r>
              <a:rPr lang="zh-CN" altLang="en-US"/>
              <a:t>信号，考虑到端到端的特性，用来高效限制总飞行包数目。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/>
              <a:t>ECN</a:t>
            </a:r>
            <a:r>
              <a:rPr lang="zh-CN" altLang="en-US"/>
              <a:t>标签，作为一个单跳信号，用来限制单跳队列，低</a:t>
            </a:r>
            <a:r>
              <a:rPr lang="en-US" altLang="zh-CN"/>
              <a:t>ECN</a:t>
            </a:r>
            <a:r>
              <a:rPr lang="zh-CN" altLang="en-US"/>
              <a:t>阈值防止</a:t>
            </a:r>
            <a:r>
              <a:rPr lang="en-US" altLang="zh-CN"/>
              <a:t>DC</a:t>
            </a:r>
            <a:r>
              <a:rPr lang="zh-CN" altLang="en-US"/>
              <a:t>内缓冲区溢出。</a:t>
            </a:r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972185" y="2303780"/>
            <a:ext cx="8659495" cy="5930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ECN</a:t>
            </a:r>
            <a:r>
              <a:rPr lang="zh-CN" altLang="en-US"/>
              <a:t>的协助消除了对</a:t>
            </a:r>
            <a:r>
              <a:rPr lang="en-US" altLang="zh-CN"/>
              <a:t>Delay</a:t>
            </a:r>
            <a:r>
              <a:rPr lang="zh-CN" altLang="en-US"/>
              <a:t>的限制，</a:t>
            </a:r>
            <a:r>
              <a:rPr lang="en-US" altLang="zh-CN"/>
              <a:t>Delay</a:t>
            </a:r>
            <a:r>
              <a:rPr lang="zh-CN" altLang="en-US"/>
              <a:t>有更多空间来提高</a:t>
            </a:r>
            <a:r>
              <a:rPr lang="en-US" altLang="zh-CN"/>
              <a:t>WAN</a:t>
            </a:r>
            <a:r>
              <a:rPr lang="zh-CN" altLang="en-US"/>
              <a:t>利用率。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06705" y="3141980"/>
            <a:ext cx="791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2</a:t>
            </a:r>
            <a:r>
              <a:rPr lang="zh-CN" altLang="en-US" b="1">
                <a:solidFill>
                  <a:srgbClr val="FF0000"/>
                </a:solidFill>
              </a:rPr>
              <a:t>）怎样在</a:t>
            </a:r>
            <a:r>
              <a:rPr lang="en-US" altLang="zh-CN" b="1">
                <a:solidFill>
                  <a:srgbClr val="FF0000"/>
                </a:solidFill>
              </a:rPr>
              <a:t>DC</a:t>
            </a:r>
            <a:r>
              <a:rPr lang="zh-CN" altLang="en-US" b="1">
                <a:solidFill>
                  <a:srgbClr val="FF0000"/>
                </a:solidFill>
              </a:rPr>
              <a:t>内交换机浅缓冲区的前提下，维护</a:t>
            </a:r>
            <a:r>
              <a:rPr lang="en-US" altLang="zh-CN" b="1">
                <a:solidFill>
                  <a:srgbClr val="FF0000"/>
                </a:solidFill>
              </a:rPr>
              <a:t>DC</a:t>
            </a:r>
            <a:r>
              <a:rPr lang="zh-CN" altLang="en-US" b="1">
                <a:solidFill>
                  <a:srgbClr val="FF0000"/>
                </a:solidFill>
              </a:rPr>
              <a:t>间流量的高吞吐？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28370" y="3923665"/>
            <a:ext cx="9178925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/>
              <a:t>大部分传输的拥塞控制通过</a:t>
            </a:r>
            <a:r>
              <a:rPr lang="en-US" altLang="zh-CN"/>
              <a:t>AIMD</a:t>
            </a:r>
            <a:r>
              <a:rPr lang="zh-CN" altLang="en-US"/>
              <a:t>，</a:t>
            </a:r>
            <a:r>
              <a:rPr lang="zh-CN" altLang="en-US" b="1">
                <a:solidFill>
                  <a:srgbClr val="7030A0"/>
                </a:solidFill>
              </a:rPr>
              <a:t>窗口的减小与</a:t>
            </a:r>
            <a:r>
              <a:rPr lang="en-US" altLang="zh-CN" b="1">
                <a:solidFill>
                  <a:srgbClr val="7030A0"/>
                </a:solidFill>
              </a:rPr>
              <a:t>BDP</a:t>
            </a:r>
            <a:r>
              <a:rPr lang="zh-CN" altLang="en-US" b="1">
                <a:solidFill>
                  <a:srgbClr val="7030A0"/>
                </a:solidFill>
              </a:rPr>
              <a:t>成正比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/>
              <a:t>需要满足</a:t>
            </a:r>
            <a:r>
              <a:rPr lang="zh-CN" altLang="en-US" b="1">
                <a:solidFill>
                  <a:srgbClr val="7030A0"/>
                </a:solidFill>
              </a:rPr>
              <a:t>排出的队列长度小于交换机缓冲区</a:t>
            </a:r>
            <a:r>
              <a:rPr lang="zh-CN" altLang="en-US"/>
              <a:t>的大小来维持高吞吐量。</a:t>
            </a:r>
            <a:endParaRPr lang="zh-CN" altLang="en-US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/>
              <a:t>WAN</a:t>
            </a:r>
            <a:r>
              <a:rPr lang="zh-CN" altLang="en-US"/>
              <a:t>中缓冲区深，需要设置一个</a:t>
            </a:r>
            <a:r>
              <a:rPr lang="zh-CN" altLang="en-US" b="1">
                <a:solidFill>
                  <a:srgbClr val="7030A0"/>
                </a:solidFill>
              </a:rPr>
              <a:t>中等偏大</a:t>
            </a:r>
            <a:r>
              <a:rPr lang="zh-CN" altLang="en-US"/>
              <a:t>的阈值来平衡吞吐量和延迟。</a:t>
            </a:r>
            <a:endParaRPr lang="zh-CN" altLang="en-US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en-US" altLang="zh-CN"/>
              <a:t>DCN</a:t>
            </a:r>
            <a:r>
              <a:rPr lang="zh-CN" altLang="en-US"/>
              <a:t>中缓冲区浅，需要设置一个</a:t>
            </a:r>
            <a:r>
              <a:rPr lang="zh-CN" altLang="en-US" b="1">
                <a:solidFill>
                  <a:srgbClr val="7030A0"/>
                </a:solidFill>
              </a:rPr>
              <a:t>偏低得到</a:t>
            </a:r>
            <a:r>
              <a:rPr lang="en-US" altLang="zh-CN" b="1">
                <a:solidFill>
                  <a:srgbClr val="7030A0"/>
                </a:solidFill>
              </a:rPr>
              <a:t>ECN</a:t>
            </a:r>
            <a:r>
              <a:rPr lang="zh-CN" altLang="en-US" b="1">
                <a:solidFill>
                  <a:srgbClr val="7030A0"/>
                </a:solidFill>
              </a:rPr>
              <a:t>阈值</a:t>
            </a:r>
            <a:r>
              <a:rPr lang="zh-CN" altLang="en-US"/>
              <a:t>保证低队列长度和低丢包率。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18515" y="3549650"/>
            <a:ext cx="1447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背景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688070" y="3429000"/>
            <a:ext cx="2530475" cy="11334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如果</a:t>
            </a:r>
            <a:r>
              <a:rPr lang="en-US" altLang="zh-CN"/>
              <a:t>ECN</a:t>
            </a:r>
            <a:r>
              <a:rPr lang="zh-CN" altLang="en-US"/>
              <a:t>触发了窗口减小，</a:t>
            </a:r>
            <a:r>
              <a:rPr lang="en-US" altLang="zh-CN"/>
              <a:t>DC</a:t>
            </a:r>
            <a:r>
              <a:rPr lang="zh-CN" altLang="en-US"/>
              <a:t>间流</a:t>
            </a:r>
            <a:r>
              <a:rPr lang="en-US" altLang="zh-CN"/>
              <a:t>BDP</a:t>
            </a:r>
            <a:r>
              <a:rPr lang="zh-CN" altLang="en-US"/>
              <a:t>大，速率下降较快。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18515" y="5290820"/>
            <a:ext cx="1447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方案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28370" y="5716905"/>
            <a:ext cx="8936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b="1"/>
              <a:t>step1</a:t>
            </a:r>
            <a:r>
              <a:rPr lang="zh-CN" altLang="en-US" b="1"/>
              <a:t>：</a:t>
            </a:r>
            <a:r>
              <a:rPr lang="en-US" altLang="zh-CN"/>
              <a:t>ECN</a:t>
            </a:r>
            <a:r>
              <a:rPr lang="zh-CN" altLang="en-US"/>
              <a:t>触发的窗口减小对大</a:t>
            </a:r>
            <a:r>
              <a:rPr lang="en-US" altLang="zh-CN"/>
              <a:t>RTT</a:t>
            </a:r>
            <a:r>
              <a:rPr lang="zh-CN" altLang="en-US"/>
              <a:t>流来说更平缓。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r>
              <a:rPr lang="en-US" altLang="zh-CN" b="1"/>
              <a:t>step2</a:t>
            </a:r>
            <a:r>
              <a:rPr lang="zh-CN" altLang="en-US" b="1"/>
              <a:t>：</a:t>
            </a:r>
            <a:r>
              <a:rPr lang="zh-CN" altLang="en-US"/>
              <a:t>调节窗口增长幅度与</a:t>
            </a:r>
            <a:r>
              <a:rPr lang="en-US" altLang="zh-CN"/>
              <a:t>BDP</a:t>
            </a:r>
            <a:r>
              <a:rPr lang="zh-CN" altLang="en-US"/>
              <a:t>成正比。</a:t>
            </a: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096000" y="5443220"/>
            <a:ext cx="5875655" cy="11995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 sz="1600"/>
              <a:t>传统</a:t>
            </a:r>
            <a:r>
              <a:rPr lang="en-US" altLang="zh-CN" sz="1600"/>
              <a:t>AIMD</a:t>
            </a:r>
            <a:r>
              <a:rPr lang="zh-CN" altLang="en-US" sz="1600"/>
              <a:t>对所有流实施固定窗口增长步长。</a:t>
            </a:r>
            <a:endParaRPr lang="zh-CN" altLang="en-US" sz="1600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 sz="1600"/>
              <a:t>当</a:t>
            </a:r>
            <a:r>
              <a:rPr lang="en-US" altLang="zh-CN" sz="1600"/>
              <a:t>BDP</a:t>
            </a:r>
            <a:r>
              <a:rPr lang="zh-CN" altLang="en-US" sz="1600"/>
              <a:t>大时，</a:t>
            </a:r>
            <a:r>
              <a:rPr lang="en-US" altLang="zh-CN" sz="1600"/>
              <a:t>AIMD</a:t>
            </a:r>
            <a:r>
              <a:rPr lang="zh-CN" altLang="en-US" sz="1600"/>
              <a:t>需要多个</a:t>
            </a:r>
            <a:r>
              <a:rPr lang="en-US" altLang="zh-CN" sz="1600"/>
              <a:t>RTT</a:t>
            </a:r>
            <a:r>
              <a:rPr lang="zh-CN" altLang="en-US" sz="1600"/>
              <a:t>爬到峰值，收敛慢。</a:t>
            </a:r>
            <a:endParaRPr lang="zh-CN" altLang="en-US" sz="1600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 sz="1600"/>
              <a:t>当</a:t>
            </a:r>
            <a:r>
              <a:rPr lang="en-US" altLang="zh-CN" sz="1600"/>
              <a:t>BDP</a:t>
            </a:r>
            <a:r>
              <a:rPr lang="zh-CN" altLang="en-US" sz="1600"/>
              <a:t>小时，</a:t>
            </a:r>
            <a:r>
              <a:rPr lang="en-US" altLang="zh-CN" sz="1600"/>
              <a:t>AIMD</a:t>
            </a:r>
            <a:r>
              <a:rPr lang="zh-CN" altLang="en-US" sz="1600"/>
              <a:t>频繁超过瓶颈带宽，频繁丢包，影响系统稳定性。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20" grpId="0" animBg="1"/>
      <p:bldP spid="20" grpId="1" animBg="1"/>
      <p:bldP spid="21" grpId="0"/>
      <p:bldP spid="22" grpId="0"/>
      <p:bldP spid="21" grpId="1"/>
      <p:bldP spid="22" grpId="1"/>
      <p:bldP spid="23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065" y="170180"/>
            <a:ext cx="610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Gemini</a:t>
            </a:r>
            <a:r>
              <a:rPr lang="zh-CN" altLang="en-US" sz="2400"/>
              <a:t>算法</a:t>
            </a:r>
            <a:r>
              <a:rPr lang="en-US" altLang="zh-CN" sz="2400"/>
              <a:t>——</a:t>
            </a:r>
            <a:r>
              <a:rPr lang="zh-CN" altLang="en-US" sz="2400"/>
              <a:t>窗口缩减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39065" y="660400"/>
            <a:ext cx="512000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985" y="83185"/>
            <a:ext cx="5715000" cy="22764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6855" y="868680"/>
            <a:ext cx="564388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solidFill>
                  <a:schemeClr val="accent1"/>
                </a:solidFill>
              </a:rPr>
              <a:t>窗口缩减的目标：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）尽力维护完全的带宽利用。（</a:t>
            </a:r>
            <a:r>
              <a:rPr lang="en-US" altLang="zh-CN"/>
              <a:t>2</a:t>
            </a:r>
            <a:r>
              <a:rPr lang="zh-CN" altLang="en-US"/>
              <a:t>）尽可能减少网络排队。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6245860" y="2506980"/>
            <a:ext cx="5836285" cy="2400300"/>
            <a:chOff x="9836" y="3914"/>
            <a:chExt cx="9191" cy="4281"/>
          </a:xfrm>
        </p:grpSpPr>
        <p:sp>
          <p:nvSpPr>
            <p:cNvPr id="10" name="矩形 9"/>
            <p:cNvSpPr/>
            <p:nvPr/>
          </p:nvSpPr>
          <p:spPr>
            <a:xfrm>
              <a:off x="9836" y="3914"/>
              <a:ext cx="9191" cy="428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0011" y="4174"/>
                  <a:ext cx="8926" cy="37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342900" indent="-342900">
                    <a:buFont typeface="+mj-lt"/>
                    <a:buAutoNum type="arabicPeriod"/>
                  </a:pPr>
                  <a:r>
                    <a:rPr lang="zh-CN" altLang="en-US">
                      <a:solidFill>
                        <a:schemeClr val="bg1"/>
                      </a:solidFill>
                    </a:rPr>
                    <a:t>对出现在</a:t>
                  </a:r>
                  <a:r>
                    <a:rPr lang="en-US" altLang="zh-CN">
                      <a:solidFill>
                        <a:schemeClr val="bg1"/>
                      </a:solidFill>
                    </a:rPr>
                    <a:t>WAN</a:t>
                  </a:r>
                  <a:r>
                    <a:rPr lang="zh-CN" altLang="en-US">
                      <a:solidFill>
                        <a:schemeClr val="bg1"/>
                      </a:solidFill>
                    </a:rPr>
                    <a:t>或</a:t>
                  </a:r>
                  <a:r>
                    <a:rPr lang="en-US" altLang="zh-CN">
                      <a:solidFill>
                        <a:schemeClr val="bg1"/>
                      </a:solidFill>
                    </a:rPr>
                    <a:t>DCN</a:t>
                  </a:r>
                  <a:r>
                    <a:rPr lang="zh-CN" altLang="en-US">
                      <a:solidFill>
                        <a:schemeClr val="bg1"/>
                      </a:solidFill>
                    </a:rPr>
                    <a:t>里的拥塞采取不同的拥塞控制策略。</a:t>
                  </a:r>
                  <a:endParaRPr lang="zh-CN" altLang="en-US">
                    <a:solidFill>
                      <a:schemeClr val="bg1"/>
                    </a:solidFill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zh-CN" altLang="en-US">
                      <a:solidFill>
                        <a:schemeClr val="bg1"/>
                      </a:solidFill>
                    </a:rPr>
                    <a:t>窗口减小计算：</a:t>
                  </a:r>
                  <a:endParaRPr lang="zh-CN" altLang="en-US">
                    <a:solidFill>
                      <a:schemeClr val="bg1"/>
                    </a:solidFill>
                  </a:endParaRPr>
                </a:p>
                <a:p>
                  <a:pPr lvl="1" indent="0">
                    <a:lnSpc>
                      <a:spcPct val="140000"/>
                    </a:lnSpc>
                    <a:buFont typeface="+mj-lt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𝐶𝑊𝑁𝐷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𝐶𝑊𝑁𝐷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×(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−𝑚𝑎𝑥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_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𝑑𝑐𝑛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 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_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𝑤𝑎𝑛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zh-CN" altLang="en-US">
                    <a:solidFill>
                      <a:schemeClr val="bg1"/>
                    </a:solidFill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zh-CN" altLang="en-US">
                      <a:solidFill>
                        <a:schemeClr val="bg1"/>
                      </a:solidFill>
                    </a:rPr>
                    <a:t>窗口增加计算：</a:t>
                  </a:r>
                  <a:endParaRPr lang="zh-CN" altLang="en-US">
                    <a:solidFill>
                      <a:schemeClr val="bg1"/>
                    </a:solidFill>
                  </a:endParaRPr>
                </a:p>
                <a:p>
                  <a:pPr lvl="1" indent="0">
                    <a:buFont typeface="+mj-lt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𝐶𝑊𝑁𝐷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𝐶𝑊𝑁𝐷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𝐶𝑊𝑁𝐷</m:t>
                            </m:r>
                          </m:den>
                        </m:f>
                      </m:oMath>
                    </m:oMathPara>
                  </a14:m>
                  <a:endParaRPr lang="en-US" altLang="zh-CN" i="1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1" y="4174"/>
                  <a:ext cx="8926" cy="375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文本框 7"/>
          <p:cNvSpPr txBox="1"/>
          <p:nvPr/>
        </p:nvSpPr>
        <p:spPr>
          <a:xfrm>
            <a:off x="280670" y="1803400"/>
            <a:ext cx="2526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DCN</a:t>
            </a:r>
            <a:r>
              <a:rPr lang="zh-CN" altLang="en-US" b="1">
                <a:solidFill>
                  <a:schemeClr val="accent1"/>
                </a:solidFill>
              </a:rPr>
              <a:t>里的拥塞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81330" y="2113915"/>
                <a:ext cx="5310505" cy="2275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zh-CN" altLang="en-US"/>
                  <a:t>在</a:t>
                </a:r>
                <a:r>
                  <a:rPr lang="en-US" altLang="zh-CN"/>
                  <a:t>DCN</a:t>
                </a:r>
                <a:r>
                  <a:rPr lang="zh-CN" altLang="en-US"/>
                  <a:t>中，考虑浅缓冲区，为了实现低丢包需要低的</a:t>
                </a:r>
                <a:r>
                  <a:rPr lang="en-US" altLang="zh-CN"/>
                  <a:t>ECN</a:t>
                </a:r>
                <a:r>
                  <a:rPr lang="zh-CN" altLang="en-US"/>
                  <a:t>阈值。</a:t>
                </a:r>
                <a:endParaRPr lang="zh-CN" altLang="en-US"/>
              </a:p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en-US" altLang="zh-CN"/>
                  <a:t>DCTCP</a:t>
                </a:r>
                <a:r>
                  <a:rPr lang="zh-CN" altLang="en-US"/>
                  <a:t>在</a:t>
                </a:r>
                <a:r>
                  <a:rPr lang="en-US" altLang="zh-CN"/>
                  <a:t>DC</a:t>
                </a:r>
                <a:r>
                  <a:rPr lang="zh-CN" altLang="en-US"/>
                  <a:t>内有良好的效果，但是队列的震荡幅度为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𝑜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𝑅𝑇𝑇</m:t>
                        </m:r>
                      </m:e>
                    </m:rad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为了减缓大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RTT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流窗口下降速度，窗口缩减幅度调整为：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 indent="0">
                  <a:lnSpc>
                    <a:spcPct val="110000"/>
                  </a:lnSpc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𝑓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𝑑𝑐𝑛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</m:oMath>
                  </m:oMathPara>
                </a14:m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30" y="2113915"/>
                <a:ext cx="5310505" cy="22758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77215" y="4453890"/>
                <a:ext cx="540639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solidFill>
                      <a:schemeClr val="accent2"/>
                    </a:solidFill>
                  </a:rPr>
                  <a:t>其中，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accent2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zh-CN" altLang="en-US">
                    <a:solidFill>
                      <a:schemeClr val="accent2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为</a:t>
                </a:r>
                <a:r>
                  <a:rPr lang="en-US" altLang="zh-CN">
                    <a:solidFill>
                      <a:schemeClr val="accent2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ECN</a:t>
                </a:r>
                <a:r>
                  <a:rPr lang="zh-CN" altLang="en-US">
                    <a:solidFill>
                      <a:schemeClr val="accent2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标记比例的移动加权平均（</a:t>
                </a:r>
                <a:r>
                  <a:rPr lang="en-US" altLang="zh-CN">
                    <a:solidFill>
                      <a:schemeClr val="accent2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EWMA</a:t>
                </a:r>
                <a:r>
                  <a:rPr lang="zh-CN" altLang="en-US">
                    <a:solidFill>
                      <a:schemeClr val="accent2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），</a:t>
                </a:r>
                <a:r>
                  <a:rPr lang="en-US" altLang="zh-CN">
                    <a:solidFill>
                      <a:schemeClr val="accent2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F</a:t>
                </a:r>
                <a:r>
                  <a:rPr lang="zh-CN" altLang="en-US">
                    <a:solidFill>
                      <a:schemeClr val="accent2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是调节窗口减少剧烈程度的参数。</a:t>
                </a:r>
                <a:endParaRPr lang="zh-CN" altLang="en-US">
                  <a:solidFill>
                    <a:schemeClr val="accent2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15" y="4453890"/>
                <a:ext cx="5406390" cy="645160"/>
              </a:xfrm>
              <a:prstGeom prst="rect">
                <a:avLst/>
              </a:prstGeom>
              <a:blipFill rotWithShape="1">
                <a:blip r:embed="rId4"/>
                <a:stretch>
                  <a:fillRect r="-4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710565" y="5814060"/>
                <a:ext cx="9384665" cy="766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/>
                  <a:t>对于</a:t>
                </a:r>
                <a:r>
                  <a:rPr lang="en-US" altLang="zh-CN"/>
                  <a:t>DC</a:t>
                </a:r>
                <a:r>
                  <a:rPr lang="zh-CN" altLang="en-US"/>
                  <a:t>内的流，根据</a:t>
                </a:r>
                <a:r>
                  <a:rPr lang="en-US" altLang="zh-CN"/>
                  <a:t>DCTCP</a:t>
                </a:r>
                <a:r>
                  <a:rPr lang="zh-CN" altLang="en-US"/>
                  <a:t>，设置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𝐾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×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𝑅𝑇𝑇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342900" indent="-342900">
                  <a:buFont typeface="+mj-ea"/>
                  <a:buAutoNum type="circleNumDbPlain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对于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DC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间的流，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RTT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大，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F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变小，使得窗口缩减幅度小，队列长度震荡更平缓。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65" y="5814060"/>
                <a:ext cx="9384665" cy="76644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807085" y="5209540"/>
                <a:ext cx="5295900" cy="610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4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𝑅𝑇𝑇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85" y="5209540"/>
                <a:ext cx="5295900" cy="61023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圆角矩形 15"/>
          <p:cNvSpPr/>
          <p:nvPr/>
        </p:nvSpPr>
        <p:spPr>
          <a:xfrm>
            <a:off x="7444105" y="5009515"/>
            <a:ext cx="3702685" cy="911225"/>
          </a:xfrm>
          <a:prstGeom prst="roundRect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/>
              <a:t>K</a:t>
            </a:r>
            <a:r>
              <a:rPr lang="zh-CN" altLang="en-US" b="1"/>
              <a:t>：</a:t>
            </a:r>
            <a:r>
              <a:rPr lang="en-US" altLang="zh-CN"/>
              <a:t>ECN</a:t>
            </a:r>
            <a:r>
              <a:rPr lang="zh-CN" altLang="en-US"/>
              <a:t>标记阈值；</a:t>
            </a:r>
            <a:r>
              <a:rPr lang="en-US" altLang="zh-CN" b="1"/>
              <a:t>C</a:t>
            </a:r>
            <a:r>
              <a:rPr lang="zh-CN" altLang="en-US" b="1"/>
              <a:t>：</a:t>
            </a:r>
            <a:r>
              <a:rPr lang="zh-CN" altLang="en-US"/>
              <a:t>带宽容量</a:t>
            </a:r>
            <a:r>
              <a:rPr lang="en-US" altLang="zh-CN"/>
              <a:t>(</a:t>
            </a:r>
            <a:r>
              <a:rPr lang="zh-CN" altLang="en-US"/>
              <a:t>固定网络内为定值</a:t>
            </a:r>
            <a:r>
              <a:rPr lang="en-US" altLang="zh-CN"/>
              <a:t>)</a:t>
            </a:r>
            <a:r>
              <a:rPr lang="zh-CN" altLang="en-US"/>
              <a:t>；</a:t>
            </a:r>
            <a:r>
              <a:rPr lang="en-US" altLang="zh-CN" b="1"/>
              <a:t>RTT</a:t>
            </a:r>
            <a:r>
              <a:rPr lang="zh-CN" altLang="en-US" b="1"/>
              <a:t>：</a:t>
            </a:r>
            <a:r>
              <a:rPr lang="zh-CN" altLang="en-US"/>
              <a:t>一段长时间内测得的</a:t>
            </a:r>
            <a:r>
              <a:rPr lang="en-US" altLang="zh-CN"/>
              <a:t>RTT</a:t>
            </a:r>
            <a:r>
              <a:rPr lang="zh-CN" altLang="en-US"/>
              <a:t>最小值。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5" grpId="0"/>
      <p:bldP spid="16" grpId="0" animBg="1"/>
      <p:bldP spid="15" grpId="1"/>
      <p:bldP spid="16" grpId="1" animBg="1"/>
      <p:bldP spid="14" grpId="0"/>
      <p:bldP spid="1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065" y="170180"/>
            <a:ext cx="610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Gemini</a:t>
            </a:r>
            <a:r>
              <a:rPr lang="zh-CN" altLang="en-US" sz="2400"/>
              <a:t>算法</a:t>
            </a:r>
            <a:r>
              <a:rPr lang="en-US" altLang="zh-CN" sz="2400"/>
              <a:t>——</a:t>
            </a:r>
            <a:r>
              <a:rPr lang="zh-CN" altLang="en-US" sz="2400"/>
              <a:t>窗口缩减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39065" y="660400"/>
            <a:ext cx="512000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985" y="83185"/>
            <a:ext cx="5715000" cy="227647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6245860" y="2506980"/>
            <a:ext cx="5836285" cy="2400300"/>
            <a:chOff x="9836" y="3914"/>
            <a:chExt cx="9191" cy="4281"/>
          </a:xfrm>
        </p:grpSpPr>
        <p:sp>
          <p:nvSpPr>
            <p:cNvPr id="10" name="矩形 9"/>
            <p:cNvSpPr/>
            <p:nvPr/>
          </p:nvSpPr>
          <p:spPr>
            <a:xfrm>
              <a:off x="9836" y="3914"/>
              <a:ext cx="9191" cy="4281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10011" y="4174"/>
                  <a:ext cx="8926" cy="37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342900" indent="-342900">
                    <a:buFont typeface="+mj-lt"/>
                    <a:buAutoNum type="arabicPeriod"/>
                  </a:pPr>
                  <a:r>
                    <a:rPr lang="zh-CN" altLang="en-US">
                      <a:solidFill>
                        <a:schemeClr val="bg1"/>
                      </a:solidFill>
                    </a:rPr>
                    <a:t>对出现在</a:t>
                  </a:r>
                  <a:r>
                    <a:rPr lang="en-US" altLang="zh-CN">
                      <a:solidFill>
                        <a:schemeClr val="bg1"/>
                      </a:solidFill>
                    </a:rPr>
                    <a:t>WAN</a:t>
                  </a:r>
                  <a:r>
                    <a:rPr lang="zh-CN" altLang="en-US">
                      <a:solidFill>
                        <a:schemeClr val="bg1"/>
                      </a:solidFill>
                    </a:rPr>
                    <a:t>或</a:t>
                  </a:r>
                  <a:r>
                    <a:rPr lang="en-US" altLang="zh-CN">
                      <a:solidFill>
                        <a:schemeClr val="bg1"/>
                      </a:solidFill>
                    </a:rPr>
                    <a:t>DCN</a:t>
                  </a:r>
                  <a:r>
                    <a:rPr lang="zh-CN" altLang="en-US">
                      <a:solidFill>
                        <a:schemeClr val="bg1"/>
                      </a:solidFill>
                    </a:rPr>
                    <a:t>里的拥塞采取不同的拥塞控制策略。</a:t>
                  </a:r>
                  <a:endParaRPr lang="zh-CN" altLang="en-US">
                    <a:solidFill>
                      <a:schemeClr val="bg1"/>
                    </a:solidFill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zh-CN" altLang="en-US">
                      <a:solidFill>
                        <a:schemeClr val="bg1"/>
                      </a:solidFill>
                    </a:rPr>
                    <a:t>窗口减小计算：</a:t>
                  </a:r>
                  <a:endParaRPr lang="zh-CN" altLang="en-US">
                    <a:solidFill>
                      <a:schemeClr val="bg1"/>
                    </a:solidFill>
                  </a:endParaRPr>
                </a:p>
                <a:p>
                  <a:pPr lvl="1" indent="0">
                    <a:lnSpc>
                      <a:spcPct val="140000"/>
                    </a:lnSpc>
                    <a:buFont typeface="+mj-lt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𝐶𝑊𝑁𝐷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𝐶𝑊𝑁𝐷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×(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𝑚𝑎𝑥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_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𝑑𝑐𝑛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, 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𝑓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_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𝑤𝑎𝑛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zh-CN" altLang="en-US">
                    <a:solidFill>
                      <a:schemeClr val="bg1"/>
                    </a:solidFill>
                  </a:endParaRPr>
                </a:p>
                <a:p>
                  <a:pPr marL="342900" indent="-342900">
                    <a:buFont typeface="+mj-lt"/>
                    <a:buAutoNum type="arabicPeriod"/>
                  </a:pPr>
                  <a:r>
                    <a:rPr lang="zh-CN" altLang="en-US">
                      <a:solidFill>
                        <a:schemeClr val="bg1"/>
                      </a:solidFill>
                    </a:rPr>
                    <a:t>窗口增加计算：</a:t>
                  </a:r>
                  <a:endParaRPr lang="zh-CN" altLang="en-US">
                    <a:solidFill>
                      <a:schemeClr val="bg1"/>
                    </a:solidFill>
                  </a:endParaRPr>
                </a:p>
                <a:p>
                  <a:pPr lvl="1" indent="0">
                    <a:buFont typeface="+mj-lt"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𝐶𝑊𝑁𝐷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𝐶𝑊𝑁𝐷</m:t>
                        </m:r>
                        <m:r>
                          <a:rPr lang="en-US" altLang="zh-CN" i="1">
                            <a:solidFill>
                              <a:schemeClr val="bg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</m:t>
                            </m:r>
                          </m:num>
                          <m:den>
                            <m:r>
                              <a:rPr lang="en-US" altLang="zh-CN" i="1">
                                <a:solidFill>
                                  <a:schemeClr val="bg1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𝐶𝑊𝑁𝐷</m:t>
                            </m:r>
                          </m:den>
                        </m:f>
                      </m:oMath>
                    </m:oMathPara>
                  </a14:m>
                  <a:endParaRPr lang="en-US" altLang="zh-CN" i="1">
                    <a:solidFill>
                      <a:schemeClr val="bg1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1" y="4174"/>
                  <a:ext cx="8926" cy="3759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文本框 7"/>
          <p:cNvSpPr txBox="1"/>
          <p:nvPr/>
        </p:nvSpPr>
        <p:spPr>
          <a:xfrm>
            <a:off x="236855" y="925830"/>
            <a:ext cx="2526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WAN</a:t>
            </a:r>
            <a:r>
              <a:rPr lang="zh-CN" altLang="en-US" b="1">
                <a:solidFill>
                  <a:schemeClr val="accent1"/>
                </a:solidFill>
              </a:rPr>
              <a:t>里的拥塞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437515" y="1362710"/>
                <a:ext cx="5665470" cy="2305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WAN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中，交换机缓冲区大，相比于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DCN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更容易维持高吞吐量。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像标准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TCP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协议那种基于固定常数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的窗口缩减机制足以维持高吞吐量（常数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的设置后面参数设置中会讲）。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1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当拥塞发生在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WAN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时，窗口缩减幅度调整为：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lvl="1" indent="0">
                  <a:lnSpc>
                    <a:spcPct val="140000"/>
                  </a:lnSpc>
                  <a:buFont typeface="Wingdings" panose="05000000000000000000" charset="0"/>
                  <a:buNone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             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𝑓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_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𝑤𝑎𝑛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15" y="1362710"/>
                <a:ext cx="5665470" cy="230568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489585" y="4039235"/>
            <a:ext cx="54063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2"/>
                </a:solidFill>
                <a:latin typeface="Cambria Math" panose="02040503050406030204" charset="0"/>
                <a:cs typeface="Cambria Math" panose="02040503050406030204" charset="0"/>
              </a:rPr>
              <a:t>每个</a:t>
            </a:r>
            <a:r>
              <a:rPr lang="en-US" altLang="zh-CN">
                <a:solidFill>
                  <a:schemeClr val="accent2"/>
                </a:solidFill>
                <a:latin typeface="Cambria Math" panose="02040503050406030204" charset="0"/>
                <a:cs typeface="Cambria Math" panose="02040503050406030204" charset="0"/>
              </a:rPr>
              <a:t>RTT</a:t>
            </a:r>
            <a:r>
              <a:rPr lang="zh-CN" altLang="en-US">
                <a:solidFill>
                  <a:schemeClr val="accent2"/>
                </a:solidFill>
                <a:latin typeface="Cambria Math" panose="02040503050406030204" charset="0"/>
                <a:cs typeface="Cambria Math" panose="02040503050406030204" charset="0"/>
              </a:rPr>
              <a:t>窗口最多缩减一次，</a:t>
            </a:r>
            <a:r>
              <a:rPr lang="en-US" altLang="zh-CN">
                <a:solidFill>
                  <a:schemeClr val="accent2"/>
                </a:solidFill>
                <a:latin typeface="Cambria Math" panose="02040503050406030204" charset="0"/>
                <a:cs typeface="Cambria Math" panose="02040503050406030204" charset="0"/>
              </a:rPr>
              <a:t>RTT</a:t>
            </a:r>
            <a:r>
              <a:rPr lang="zh-CN" altLang="en-US">
                <a:solidFill>
                  <a:schemeClr val="accent2"/>
                </a:solidFill>
                <a:latin typeface="Cambria Math" panose="02040503050406030204" charset="0"/>
                <a:cs typeface="Cambria Math" panose="02040503050406030204" charset="0"/>
              </a:rPr>
              <a:t>是新发送的网络速率得到反馈的最短时间。</a:t>
            </a:r>
            <a:endParaRPr lang="zh-CN" altLang="en-US">
              <a:solidFill>
                <a:schemeClr val="accent2"/>
              </a:solidFill>
              <a:latin typeface="Cambria Math" panose="02040503050406030204" charset="0"/>
              <a:cs typeface="Cambria Math" panose="02040503050406030204" charset="0"/>
            </a:endParaRPr>
          </a:p>
          <a:p>
            <a:endParaRPr lang="zh-CN" altLang="en-US">
              <a:solidFill>
                <a:schemeClr val="accent2"/>
              </a:solidFill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0385" y="5332095"/>
            <a:ext cx="6569710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尽管</a:t>
            </a:r>
            <a:r>
              <a:rPr lang="en-US" altLang="zh-CN"/>
              <a:t>ECN</a:t>
            </a:r>
            <a:r>
              <a:rPr lang="zh-CN" altLang="en-US"/>
              <a:t>和</a:t>
            </a:r>
            <a:r>
              <a:rPr lang="en-US" altLang="zh-CN"/>
              <a:t>Delay</a:t>
            </a:r>
            <a:r>
              <a:rPr lang="zh-CN" altLang="en-US"/>
              <a:t>能检测到拥塞，但丢包和超时依然存在，需要用</a:t>
            </a:r>
            <a:r>
              <a:rPr lang="en-US" altLang="zh-CN"/>
              <a:t>TCP</a:t>
            </a:r>
            <a:r>
              <a:rPr lang="zh-CN" altLang="en-US"/>
              <a:t>原有的快速恢复和快速重传机制来解决这个问题。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065" y="170180"/>
            <a:ext cx="610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Gemini</a:t>
            </a:r>
            <a:r>
              <a:rPr lang="zh-CN" altLang="en-US" sz="2400"/>
              <a:t>算法</a:t>
            </a:r>
            <a:r>
              <a:rPr lang="en-US" altLang="zh-CN" sz="2400"/>
              <a:t>——</a:t>
            </a:r>
            <a:r>
              <a:rPr lang="zh-CN" altLang="en-US" sz="2400"/>
              <a:t>窗口增加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39065" y="660400"/>
            <a:ext cx="512000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07035" y="861695"/>
            <a:ext cx="10695940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调节窗口增长与</a:t>
            </a:r>
            <a:r>
              <a:rPr lang="en-US" altLang="zh-CN"/>
              <a:t>BDP</a:t>
            </a:r>
            <a:r>
              <a:rPr lang="zh-CN" altLang="en-US"/>
              <a:t>成正比来应对</a:t>
            </a:r>
            <a:r>
              <a:rPr lang="en-US" altLang="zh-CN"/>
              <a:t>RTT</a:t>
            </a:r>
            <a:r>
              <a:rPr lang="zh-CN" altLang="en-US"/>
              <a:t>变化，同时也解决</a:t>
            </a:r>
            <a:r>
              <a:rPr lang="en-US" altLang="zh-CN"/>
              <a:t>RTT</a:t>
            </a:r>
            <a:r>
              <a:rPr lang="zh-CN" altLang="en-US"/>
              <a:t>导致的不公平问题。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使用一个自适应拥塞窗口增长参数</a:t>
            </a:r>
            <a:r>
              <a:rPr lang="en-US" altLang="zh-CN"/>
              <a:t>h</a:t>
            </a:r>
            <a:r>
              <a:rPr lang="zh-CN" altLang="en-US"/>
              <a:t>，当没有检测到拥塞时，</a:t>
            </a:r>
            <a:r>
              <a:rPr lang="zh-CN" altLang="en-US" b="1"/>
              <a:t>对于每一个</a:t>
            </a:r>
            <a:r>
              <a:rPr lang="en-US" altLang="zh-CN" b="1"/>
              <a:t>ACK</a:t>
            </a:r>
            <a:r>
              <a:rPr lang="zh-CN" altLang="en-US" b="1"/>
              <a:t>：</a:t>
            </a:r>
            <a:endParaRPr lang="zh-CN" altLang="en-US" b="1"/>
          </a:p>
          <a:p>
            <a:pPr indent="457200">
              <a:lnSpc>
                <a:spcPct val="130000"/>
              </a:lnSpc>
              <a:buFont typeface="Wingdings" panose="05000000000000000000" charset="0"/>
              <a:buNone/>
            </a:pPr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976630" y="1891030"/>
                <a:ext cx="4807585" cy="1405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457200">
                  <a:lnSpc>
                    <a:spcPct val="130000"/>
                  </a:lnSpc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𝐶𝑊𝑁𝐷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𝐶𝑊𝑁𝐷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𝐶𝑊𝑁𝐷</m:t>
                          </m:r>
                        </m:den>
                      </m:f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457200">
                  <a:lnSpc>
                    <a:spcPct val="130000"/>
                  </a:lnSpc>
                  <a:buFont typeface="Wingdings" panose="05000000000000000000" charset="0"/>
                  <a:buNone/>
                </a:pPr>
                <a:endParaRPr lang="zh-CN" altLang="en-US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ℎ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𝑅𝑇𝑇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630" y="1891030"/>
                <a:ext cx="4807585" cy="140589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6095365" y="1891030"/>
            <a:ext cx="5347970" cy="15379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/>
              <a:t>CWND</a:t>
            </a:r>
            <a:r>
              <a:rPr lang="zh-CN" altLang="en-US"/>
              <a:t>理解成在稳定状态下，每个</a:t>
            </a:r>
            <a:r>
              <a:rPr lang="en-US" altLang="zh-CN"/>
              <a:t>RTT</a:t>
            </a:r>
            <a:r>
              <a:rPr lang="zh-CN" altLang="en-US"/>
              <a:t>内，发送方能够传输的数据包数量。</a:t>
            </a:r>
            <a:endParaRPr lang="zh-CN" altLang="en-US"/>
          </a:p>
          <a:p>
            <a:pPr marL="285750" indent="-285750" algn="l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/>
              <a:t>h</a:t>
            </a:r>
            <a:r>
              <a:rPr lang="zh-CN" altLang="en-US"/>
              <a:t>理解成无拥塞时，经过一个</a:t>
            </a:r>
            <a:r>
              <a:rPr lang="en-US" altLang="zh-CN"/>
              <a:t>RTT</a:t>
            </a:r>
            <a:r>
              <a:rPr lang="zh-CN" altLang="en-US"/>
              <a:t>，窗口大小增加</a:t>
            </a:r>
            <a:r>
              <a:rPr lang="en-US" altLang="zh-CN"/>
              <a:t>h</a:t>
            </a:r>
            <a:r>
              <a:rPr lang="zh-CN" altLang="en-US"/>
              <a:t>个数据包。</a:t>
            </a:r>
            <a:r>
              <a:rPr lang="en-US" altLang="zh-CN"/>
              <a:t>H</a:t>
            </a:r>
            <a:r>
              <a:rPr lang="zh-CN" altLang="en-US"/>
              <a:t>是一个常数。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8340" y="4105910"/>
            <a:ext cx="10636250" cy="14204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60000"/>
              </a:lnSpc>
            </a:pPr>
            <a:r>
              <a:rPr lang="zh-CN" altLang="en-US" b="1">
                <a:solidFill>
                  <a:schemeClr val="accent2"/>
                </a:solidFill>
              </a:rPr>
              <a:t>文章在附录里证明了：</a:t>
            </a:r>
            <a:endParaRPr lang="zh-CN" altLang="en-US" b="1">
              <a:solidFill>
                <a:schemeClr val="accent2"/>
              </a:solidFill>
            </a:endParaRPr>
          </a:p>
          <a:p>
            <a:pPr>
              <a:lnSpc>
                <a:spcPct val="16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F</a:t>
            </a:r>
            <a:r>
              <a:rPr lang="zh-CN" altLang="en-US"/>
              <a:t>保证了有限缓存或小</a:t>
            </a:r>
            <a:r>
              <a:rPr lang="en-US" altLang="zh-CN"/>
              <a:t>ECN</a:t>
            </a:r>
            <a:r>
              <a:rPr lang="zh-CN" altLang="en-US"/>
              <a:t>阈值下的满吞吐量（窗口缩减不会让队列排空）。</a:t>
            </a:r>
            <a:endParaRPr lang="zh-CN" altLang="en-US"/>
          </a:p>
          <a:p>
            <a:pPr>
              <a:lnSpc>
                <a:spcPct val="16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）还证明了</a:t>
            </a:r>
            <a:r>
              <a:rPr lang="en-US" altLang="zh-CN"/>
              <a:t>h</a:t>
            </a:r>
            <a:r>
              <a:rPr lang="zh-CN" altLang="en-US"/>
              <a:t>和</a:t>
            </a:r>
            <a:r>
              <a:rPr lang="en-US" altLang="zh-CN"/>
              <a:t>F</a:t>
            </a:r>
            <a:r>
              <a:rPr lang="zh-CN" altLang="en-US"/>
              <a:t>的设置共同保证了带宽的公平共享（相同时间内发送的</a:t>
            </a:r>
            <a:r>
              <a:rPr lang="en-US" altLang="zh-CN"/>
              <a:t>DC</a:t>
            </a:r>
            <a:r>
              <a:rPr lang="zh-CN" altLang="en-US"/>
              <a:t>内</a:t>
            </a:r>
            <a:r>
              <a:rPr lang="en-US" altLang="zh-CN"/>
              <a:t>DC</a:t>
            </a:r>
            <a:r>
              <a:rPr lang="zh-CN" altLang="en-US"/>
              <a:t>间数据量相同）。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065" y="170180"/>
            <a:ext cx="610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Gemini</a:t>
            </a:r>
            <a:r>
              <a:rPr lang="zh-CN" altLang="en-US" sz="2400"/>
              <a:t>参数设置指导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39065" y="660400"/>
            <a:ext cx="512000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8917940" y="2205355"/>
            <a:ext cx="1621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默认参数设置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9940" y="538480"/>
            <a:ext cx="5000625" cy="16668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5755" y="920750"/>
            <a:ext cx="3658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ECN</a:t>
            </a:r>
            <a:r>
              <a:rPr lang="zh-CN" altLang="en-US" b="1">
                <a:solidFill>
                  <a:schemeClr val="accent1"/>
                </a:solidFill>
              </a:rPr>
              <a:t>标记阈值</a:t>
            </a:r>
            <a:r>
              <a:rPr lang="en-US" altLang="zh-CN" b="1">
                <a:solidFill>
                  <a:schemeClr val="accent1"/>
                </a:solidFill>
              </a:rPr>
              <a:t>K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3735" y="1300480"/>
            <a:ext cx="65773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K</a:t>
            </a:r>
            <a:r>
              <a:rPr lang="zh-CN" altLang="en-US"/>
              <a:t>为</a:t>
            </a:r>
            <a:r>
              <a:rPr lang="en-US" altLang="zh-CN"/>
              <a:t>ECN</a:t>
            </a:r>
            <a:r>
              <a:rPr lang="zh-CN" altLang="en-US"/>
              <a:t>的标记阈值，</a:t>
            </a:r>
            <a:r>
              <a:rPr lang="en-US" altLang="zh-CN"/>
              <a:t>K</a:t>
            </a:r>
            <a:r>
              <a:rPr lang="zh-CN" altLang="en-US"/>
              <a:t>越小，在</a:t>
            </a:r>
            <a:r>
              <a:rPr lang="en-US" altLang="zh-CN"/>
              <a:t>DC</a:t>
            </a:r>
            <a:r>
              <a:rPr lang="zh-CN" altLang="en-US"/>
              <a:t>内排队越短，丢包率越低。（</a:t>
            </a:r>
            <a:r>
              <a:rPr lang="en-US" altLang="zh-CN"/>
              <a:t>2</a:t>
            </a:r>
            <a:r>
              <a:rPr lang="zh-CN" altLang="en-US"/>
              <a:t>）但存在一个权衡，</a:t>
            </a:r>
            <a:r>
              <a:rPr lang="en-US" altLang="zh-CN"/>
              <a:t>K</a:t>
            </a:r>
            <a:r>
              <a:rPr lang="zh-CN" altLang="en-US"/>
              <a:t>小则</a:t>
            </a:r>
            <a:r>
              <a:rPr lang="en-US" altLang="zh-CN"/>
              <a:t>F</a:t>
            </a:r>
            <a:r>
              <a:rPr lang="zh-CN" altLang="en-US"/>
              <a:t>小，流窗口减小速度慢，收敛慢。</a:t>
            </a:r>
            <a:r>
              <a:rPr lang="zh-CN" altLang="en-US">
                <a:solidFill>
                  <a:srgbClr val="FF0000"/>
                </a:solidFill>
              </a:rPr>
              <a:t>（选取一个中等偏小的值</a:t>
            </a:r>
            <a:r>
              <a:rPr lang="en-US" altLang="zh-CN">
                <a:solidFill>
                  <a:srgbClr val="FF0000"/>
                </a:solidFill>
              </a:rPr>
              <a:t> K=50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325755" y="2386330"/>
            <a:ext cx="3658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</a:t>
            </a:r>
            <a:r>
              <a:rPr lang="zh-CN" altLang="en-US" b="1">
                <a:solidFill>
                  <a:schemeClr val="accent1"/>
                </a:solidFill>
              </a:rPr>
              <a:t>排队时延阈值</a:t>
            </a:r>
            <a:r>
              <a:rPr lang="en-US" altLang="zh-CN" b="1">
                <a:solidFill>
                  <a:schemeClr val="accent1"/>
                </a:solidFill>
              </a:rPr>
              <a:t>T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570230" y="2745105"/>
            <a:ext cx="1091628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T</a:t>
            </a:r>
            <a:r>
              <a:rPr lang="zh-CN" altLang="en-US"/>
              <a:t>应该设置足够大来实现跨</a:t>
            </a:r>
            <a:r>
              <a:rPr lang="en-US" altLang="zh-CN"/>
              <a:t>DC</a:t>
            </a:r>
            <a:r>
              <a:rPr lang="zh-CN" altLang="en-US"/>
              <a:t>管道的高吞吐量。（</a:t>
            </a:r>
            <a:r>
              <a:rPr lang="en-US" altLang="zh-CN"/>
              <a:t>2</a:t>
            </a:r>
            <a:r>
              <a:rPr lang="zh-CN" altLang="en-US"/>
              <a:t>）同时要有足够的空间来过滤</a:t>
            </a:r>
            <a:r>
              <a:rPr lang="en-US" altLang="zh-CN"/>
              <a:t>DCN</a:t>
            </a:r>
            <a:r>
              <a:rPr lang="zh-CN" altLang="en-US"/>
              <a:t>排队的干扰。</a:t>
            </a:r>
            <a:r>
              <a:rPr lang="zh-CN" altLang="en-US">
                <a:solidFill>
                  <a:srgbClr val="FF0000"/>
                </a:solidFill>
              </a:rPr>
              <a:t>（实践中</a:t>
            </a:r>
            <a:r>
              <a:rPr lang="en-US" altLang="zh-CN">
                <a:solidFill>
                  <a:srgbClr val="FF0000"/>
                </a:solidFill>
              </a:rPr>
              <a:t>DCN</a:t>
            </a:r>
            <a:r>
              <a:rPr lang="zh-CN" altLang="en-US">
                <a:solidFill>
                  <a:srgbClr val="FF0000"/>
                </a:solidFill>
              </a:rPr>
              <a:t>的</a:t>
            </a:r>
            <a:r>
              <a:rPr lang="en-US" altLang="zh-CN">
                <a:solidFill>
                  <a:srgbClr val="FF0000"/>
                </a:solidFill>
              </a:rPr>
              <a:t>RTT&lt;1ms</a:t>
            </a:r>
            <a:r>
              <a:rPr lang="zh-CN" altLang="en-US">
                <a:solidFill>
                  <a:srgbClr val="FF0000"/>
                </a:solidFill>
              </a:rPr>
              <a:t>，这里设置</a:t>
            </a:r>
            <a:r>
              <a:rPr lang="en-US" altLang="zh-CN">
                <a:solidFill>
                  <a:srgbClr val="FF0000"/>
                </a:solidFill>
              </a:rPr>
              <a:t>T=5ms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zh-CN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70205" y="3581400"/>
                <a:ext cx="365887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>
                    <a:solidFill>
                      <a:schemeClr val="accent1"/>
                    </a:solidFill>
                  </a:rPr>
                  <a:t>3. </a:t>
                </a:r>
                <a:r>
                  <a:rPr lang="zh-CN" altLang="en-US" b="1">
                    <a:solidFill>
                      <a:schemeClr val="accent1"/>
                    </a:solidFill>
                  </a:rPr>
                  <a:t>窗口缩减参数</a:t>
                </a:r>
                <a14:m>
                  <m:oMath xmlns:m="http://schemas.openxmlformats.org/officeDocument/2006/math">
                    <m:r>
                      <a:rPr lang="zh-CN" altLang="en-US" b="1">
                        <a:solidFill>
                          <a:schemeClr val="accent1"/>
                        </a:solidFill>
                      </a:rPr>
                      <m:t>𝛽</m:t>
                    </m:r>
                  </m:oMath>
                </a14:m>
                <a:endParaRPr lang="zh-CN" altLang="en-US" b="1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370205" y="3581400"/>
                <a:ext cx="365887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55015" y="4091305"/>
                <a:ext cx="10658475" cy="800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当检测到</a:t>
                </a:r>
                <a:r>
                  <a:rPr lang="en-US" altLang="zh-CN"/>
                  <a:t>WAN</a:t>
                </a:r>
                <a:r>
                  <a:rPr lang="zh-CN" altLang="en-US"/>
                  <a:t>里拥塞时，</a:t>
                </a:r>
                <a:r>
                  <a:rPr lang="en-US" altLang="zh-CN"/>
                  <a:t>Gemini</a:t>
                </a:r>
                <a:r>
                  <a:rPr lang="zh-CN" altLang="en-US"/>
                  <a:t>通过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来乘性减小窗口。为了避免带宽利用不足，需要队列空间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𝛽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𝛽</m:t>
                        </m:r>
                      </m:den>
                    </m:f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𝑅𝑇𝑇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。如果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T=5ms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RTT=10ms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，那么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33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（这里设置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Cubic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Vegas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这么设置）</a:t>
                </a:r>
                <a:endParaRPr lang="zh-CN" altLang="en-US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755015" y="4091305"/>
                <a:ext cx="10658475" cy="80010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圆角矩形 11"/>
              <p:cNvSpPr/>
              <p:nvPr/>
            </p:nvSpPr>
            <p:spPr>
              <a:xfrm>
                <a:off x="5259070" y="3268345"/>
                <a:ext cx="5948045" cy="748665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/>
                  <a:t>（</a:t>
                </a:r>
                <a:r>
                  <a:rPr lang="en-US" altLang="zh-CN"/>
                  <a:t>1-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zh-CN" altLang="en-US"/>
                  <a:t>）</a:t>
                </a:r>
                <a:r>
                  <a:rPr lang="en-US" altLang="zh-CN"/>
                  <a:t>CWND</a:t>
                </a:r>
                <a:r>
                  <a:rPr lang="zh-CN" altLang="en-US"/>
                  <a:t>可以理解成当前排出的速度，那正在排队的队列长度为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𝐶𝑊𝑁𝐷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，这些队列不能被排空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圆角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070" y="3268345"/>
                <a:ext cx="5948045" cy="748665"/>
              </a:xfrm>
              <a:prstGeom prst="roundRect">
                <a:avLst/>
              </a:prstGeom>
              <a:blipFill rotWithShape="1">
                <a:blip r:embed="rId10"/>
                <a:stretch>
                  <a:fillRect l="-107" t="-848" r="-107" b="-848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370205" y="4956810"/>
            <a:ext cx="3658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4. </a:t>
            </a:r>
            <a:r>
              <a:rPr lang="zh-CN" altLang="en-US" b="1">
                <a:solidFill>
                  <a:schemeClr val="accent1"/>
                </a:solidFill>
              </a:rPr>
              <a:t>窗口增长参数</a:t>
            </a:r>
            <a:r>
              <a:rPr lang="en-US" altLang="zh-CN" b="1">
                <a:solidFill>
                  <a:schemeClr val="accent1"/>
                </a:solidFill>
              </a:rPr>
              <a:t>H</a:t>
            </a:r>
            <a:endParaRPr lang="en-US" altLang="zh-CN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673735" y="5334000"/>
                <a:ext cx="10540365" cy="101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10000"/>
                  </a:lnSpc>
                </a:pPr>
                <a:r>
                  <a:rPr lang="zh-CN" altLang="en-US"/>
                  <a:t>（</a:t>
                </a:r>
                <a:r>
                  <a:rPr lang="en-US" altLang="zh-CN"/>
                  <a:t>1</a:t>
                </a:r>
                <a:r>
                  <a:rPr lang="zh-CN" altLang="en-US"/>
                  <a:t>）如果没有拥塞，那么每个</a:t>
                </a:r>
                <a:r>
                  <a:rPr lang="en-US" altLang="zh-CN"/>
                  <a:t>RTT</a:t>
                </a:r>
                <a:r>
                  <a:rPr lang="zh-CN" altLang="en-US"/>
                  <a:t>，拥塞窗口增加</a:t>
                </a:r>
                <a:r>
                  <a:rPr lang="en-US" altLang="zh-CN"/>
                  <a:t>h</a:t>
                </a:r>
                <a:r>
                  <a:rPr lang="zh-CN" altLang="en-US"/>
                  <a:t>个</a:t>
                </a:r>
                <a:r>
                  <a:rPr lang="en-US" altLang="zh-CN"/>
                  <a:t>MSS</a:t>
                </a:r>
                <a:r>
                  <a:rPr lang="zh-CN" altLang="en-US"/>
                  <a:t>大小。（</a:t>
                </a:r>
                <a:r>
                  <a:rPr lang="en-US" altLang="zh-CN"/>
                  <a:t>2</a:t>
                </a:r>
                <a:r>
                  <a:rPr lang="zh-CN" altLang="en-US"/>
                  <a:t>）</a:t>
                </a:r>
                <a:r>
                  <a:rPr lang="en-US" altLang="zh-CN"/>
                  <a:t>h</a:t>
                </a:r>
                <a:r>
                  <a:rPr lang="zh-CN" altLang="en-US"/>
                  <a:t>值根据</a:t>
                </a:r>
                <a:r>
                  <a:rPr lang="en-US" altLang="zh-CN"/>
                  <a:t>BDP</a:t>
                </a:r>
                <a:r>
                  <a:rPr lang="zh-CN" altLang="en-US"/>
                  <a:t>进行比例缩放。在一个中间状态</a:t>
                </a:r>
                <a:r>
                  <a:rPr lang="en-US" altLang="zh-CN"/>
                  <a:t>C=1Gbps</a:t>
                </a:r>
                <a:r>
                  <a:rPr lang="zh-CN" altLang="en-US"/>
                  <a:t>，</a:t>
                </a:r>
                <a:r>
                  <a:rPr lang="en-US" altLang="zh-CN"/>
                  <a:t>RTT=8ms</a:t>
                </a:r>
                <a:r>
                  <a:rPr lang="zh-CN" altLang="en-US"/>
                  <a:t>，令</a:t>
                </a:r>
                <a:r>
                  <a:rPr lang="en-US" altLang="zh-CN"/>
                  <a:t>h=1</a:t>
                </a:r>
                <a:r>
                  <a:rPr lang="zh-CN" altLang="en-US"/>
                  <a:t>，可得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𝐻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（设置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𝐻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1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2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10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，同时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h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的最大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/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最小增速设为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0.5/1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）</a:t>
                </a:r>
                <a:endParaRPr lang="zh-CN" altLang="en-US">
                  <a:solidFill>
                    <a:srgbClr val="FF0000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35" y="5334000"/>
                <a:ext cx="10540365" cy="101600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9065" y="170180"/>
            <a:ext cx="61067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其他替代方案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39065" y="660400"/>
            <a:ext cx="5120005" cy="2921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295910" y="883920"/>
            <a:ext cx="3844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1. </a:t>
            </a:r>
            <a:r>
              <a:rPr lang="zh-CN" altLang="en-US" b="1">
                <a:solidFill>
                  <a:schemeClr val="accent1"/>
                </a:solidFill>
              </a:rPr>
              <a:t>多队列</a:t>
            </a:r>
            <a:r>
              <a:rPr lang="en-US" altLang="zh-CN" b="1">
                <a:solidFill>
                  <a:schemeClr val="accent1"/>
                </a:solidFill>
              </a:rPr>
              <a:t>+</a:t>
            </a:r>
            <a:r>
              <a:rPr lang="zh-CN" altLang="en-US" b="1">
                <a:solidFill>
                  <a:schemeClr val="accent1"/>
                </a:solidFill>
              </a:rPr>
              <a:t>不同协议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360" y="3752850"/>
            <a:ext cx="3844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2. </a:t>
            </a:r>
            <a:r>
              <a:rPr lang="en-US" b="1">
                <a:solidFill>
                  <a:schemeClr val="accent1"/>
                </a:solidFill>
              </a:rPr>
              <a:t>TCP</a:t>
            </a:r>
            <a:r>
              <a:rPr lang="zh-CN" altLang="en-US" b="1">
                <a:solidFill>
                  <a:schemeClr val="accent1"/>
                </a:solidFill>
              </a:rPr>
              <a:t>代理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9465" y="1276350"/>
            <a:ext cx="10459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6"/>
                </a:solidFill>
              </a:rPr>
              <a:t>跨</a:t>
            </a:r>
            <a:r>
              <a:rPr lang="en-US" altLang="zh-CN">
                <a:solidFill>
                  <a:schemeClr val="accent6"/>
                </a:solidFill>
              </a:rPr>
              <a:t>DC</a:t>
            </a:r>
            <a:r>
              <a:rPr lang="zh-CN" altLang="en-US">
                <a:solidFill>
                  <a:schemeClr val="accent6"/>
                </a:solidFill>
              </a:rPr>
              <a:t>网络中对</a:t>
            </a:r>
            <a:r>
              <a:rPr lang="en-US" altLang="zh-CN">
                <a:solidFill>
                  <a:schemeClr val="accent6"/>
                </a:solidFill>
              </a:rPr>
              <a:t>DC</a:t>
            </a:r>
            <a:r>
              <a:rPr lang="zh-CN" altLang="en-US">
                <a:solidFill>
                  <a:schemeClr val="accent6"/>
                </a:solidFill>
              </a:rPr>
              <a:t>内流和</a:t>
            </a:r>
            <a:r>
              <a:rPr lang="en-US" altLang="zh-CN">
                <a:solidFill>
                  <a:schemeClr val="accent6"/>
                </a:solidFill>
              </a:rPr>
              <a:t>DC</a:t>
            </a:r>
            <a:r>
              <a:rPr lang="zh-CN" altLang="en-US">
                <a:solidFill>
                  <a:schemeClr val="accent6"/>
                </a:solidFill>
              </a:rPr>
              <a:t>间流采取不同的协议</a:t>
            </a:r>
            <a:r>
              <a:rPr lang="zh-CN" altLang="en-US"/>
              <a:t>，一些基础设施供应商</a:t>
            </a:r>
            <a:r>
              <a:rPr lang="en-US" altLang="zh-CN"/>
              <a:t>Google/Microsoft</a:t>
            </a:r>
            <a:r>
              <a:rPr lang="zh-CN" altLang="en-US"/>
              <a:t>采用这种方案。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66775" y="1668780"/>
            <a:ext cx="10036175" cy="1918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）根据</a:t>
            </a:r>
            <a:r>
              <a:rPr lang="en-US" altLang="zh-CN" b="1"/>
              <a:t>IP</a:t>
            </a:r>
            <a:r>
              <a:rPr lang="zh-CN" altLang="en-US" b="1"/>
              <a:t>区分</a:t>
            </a:r>
            <a:r>
              <a:rPr lang="en-US" altLang="zh-CN" b="1"/>
              <a:t>DC</a:t>
            </a:r>
            <a:r>
              <a:rPr lang="zh-CN" altLang="en-US" b="1"/>
              <a:t>内还是</a:t>
            </a:r>
            <a:r>
              <a:rPr lang="en-US" altLang="zh-CN" b="1"/>
              <a:t>DC</a:t>
            </a:r>
            <a:r>
              <a:rPr lang="zh-CN" altLang="en-US" b="1"/>
              <a:t>间</a:t>
            </a:r>
            <a:r>
              <a:rPr lang="zh-CN" altLang="en-US"/>
              <a:t>并不容易。因为在云网络中，虚拟子网跨数据中心进行扩展，为便于管理将</a:t>
            </a:r>
            <a:r>
              <a:rPr lang="en-US" altLang="zh-CN"/>
              <a:t>IP</a:t>
            </a:r>
            <a:r>
              <a:rPr lang="zh-CN" altLang="en-US"/>
              <a:t>与</a:t>
            </a:r>
            <a:r>
              <a:rPr lang="en-US" altLang="zh-CN"/>
              <a:t>DC</a:t>
            </a:r>
            <a:r>
              <a:rPr lang="zh-CN" altLang="en-US"/>
              <a:t>位置解耦，但是这要维护大量映射表。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）不同的传输协议不能</a:t>
            </a:r>
            <a:r>
              <a:rPr lang="zh-CN" altLang="en-US" b="1"/>
              <a:t>公平共享网络带宽</a:t>
            </a:r>
            <a:r>
              <a:rPr lang="zh-CN" altLang="en-US"/>
              <a:t>，而且需要交换机分配不同队列，普通云用户没有这种灵活性。</a:t>
            </a:r>
            <a:endParaRPr lang="zh-CN" altLang="en-US"/>
          </a:p>
          <a:p>
            <a:pPr>
              <a:lnSpc>
                <a:spcPct val="110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）即使解决了上面问题，但</a:t>
            </a:r>
            <a:r>
              <a:rPr lang="en-US" altLang="zh-CN"/>
              <a:t>DC</a:t>
            </a:r>
            <a:r>
              <a:rPr lang="zh-CN" altLang="en-US"/>
              <a:t>间流的</a:t>
            </a:r>
            <a:r>
              <a:rPr lang="zh-CN" altLang="en-US" b="1"/>
              <a:t>拥塞位置可能</a:t>
            </a:r>
            <a:r>
              <a:rPr lang="en-US" altLang="zh-CN" b="1"/>
              <a:t>DC</a:t>
            </a:r>
            <a:r>
              <a:rPr lang="zh-CN" altLang="en-US" b="1"/>
              <a:t>内或</a:t>
            </a:r>
            <a:r>
              <a:rPr lang="en-US" altLang="zh-CN" b="1"/>
              <a:t>DC</a:t>
            </a:r>
            <a:r>
              <a:rPr lang="zh-CN" altLang="en-US" b="1"/>
              <a:t>间</a:t>
            </a:r>
            <a:r>
              <a:rPr lang="zh-CN" altLang="en-US"/>
              <a:t>，如果</a:t>
            </a:r>
            <a:r>
              <a:rPr lang="en-US" altLang="zh-CN"/>
              <a:t>DC</a:t>
            </a:r>
            <a:r>
              <a:rPr lang="zh-CN" altLang="en-US"/>
              <a:t>间流在</a:t>
            </a:r>
            <a:r>
              <a:rPr lang="en-US" altLang="zh-CN"/>
              <a:t>DC</a:t>
            </a:r>
            <a:r>
              <a:rPr lang="zh-CN" altLang="en-US"/>
              <a:t>内拥塞，那会协议不匹配，造成吞吐量下降，丢包率上升。</a:t>
            </a:r>
            <a:r>
              <a:rPr lang="en-US" altLang="zh-CN"/>
              <a:t> 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799465" y="4180205"/>
            <a:ext cx="9940290" cy="7004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>
                <a:solidFill>
                  <a:schemeClr val="accent6"/>
                </a:solidFill>
              </a:rPr>
              <a:t>在网络边界处使用代理终止并中继</a:t>
            </a:r>
            <a:r>
              <a:rPr lang="en-US" altLang="zh-CN">
                <a:solidFill>
                  <a:schemeClr val="accent6"/>
                </a:solidFill>
              </a:rPr>
              <a:t>TCP</a:t>
            </a:r>
            <a:r>
              <a:rPr lang="zh-CN" altLang="en-US">
                <a:solidFill>
                  <a:schemeClr val="accent6"/>
                </a:solidFill>
              </a:rPr>
              <a:t>流，通过分段</a:t>
            </a:r>
            <a:r>
              <a:rPr lang="en-US" altLang="zh-CN">
                <a:solidFill>
                  <a:schemeClr val="accent6"/>
                </a:solidFill>
              </a:rPr>
              <a:t>TCP(Split-TCP)</a:t>
            </a:r>
            <a:r>
              <a:rPr lang="zh-CN" altLang="en-US"/>
              <a:t>，流量可以使用最合适每个网络的协议进行传输。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3915" y="4912995"/>
            <a:ext cx="1046607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）中间代理增加延迟，延迟会降低性能，特别是对一个</a:t>
            </a:r>
            <a:r>
              <a:rPr lang="en-US" altLang="zh-CN"/>
              <a:t>RTT</a:t>
            </a:r>
            <a:r>
              <a:rPr lang="zh-CN" altLang="en-US"/>
              <a:t>就完成的短流。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）为每个</a:t>
            </a:r>
            <a:r>
              <a:rPr lang="en-US" altLang="zh-CN"/>
              <a:t>DC</a:t>
            </a:r>
            <a:r>
              <a:rPr lang="zh-CN" altLang="en-US"/>
              <a:t>间流配制中继不现实，</a:t>
            </a:r>
            <a:r>
              <a:rPr lang="en-US" altLang="zh-CN"/>
              <a:t>Google</a:t>
            </a:r>
            <a:r>
              <a:rPr lang="zh-CN" altLang="en-US"/>
              <a:t>将</a:t>
            </a:r>
            <a:r>
              <a:rPr lang="en-US" altLang="zh-CN"/>
              <a:t>DC</a:t>
            </a:r>
            <a:r>
              <a:rPr lang="zh-CN" altLang="en-US"/>
              <a:t>内聚合带宽的</a:t>
            </a:r>
            <a:r>
              <a:rPr lang="en-US" altLang="zh-CN"/>
              <a:t>10%</a:t>
            </a:r>
            <a:r>
              <a:rPr lang="zh-CN" altLang="en-US"/>
              <a:t>分配给外部连接。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）配制和管理代理复杂易出错，中继故障破坏通信。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5" grpId="1"/>
      <p:bldP spid="8" grpId="1"/>
      <p:bldP spid="9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209.35,&quot;left&quot;:25.65,&quot;top&quot;:194.45,&quot;width&quot;:878.8}"/>
</p:tagLst>
</file>

<file path=ppt/tags/tag2.xml><?xml version="1.0" encoding="utf-8"?>
<p:tagLst xmlns:p="http://schemas.openxmlformats.org/presentationml/2006/main">
  <p:tag name="KSO_WM_DIAGRAM_VIRTUALLY_FRAME" val="{&quot;height&quot;:209.35,&quot;left&quot;:25.65,&quot;top&quot;:194.45,&quot;width&quot;:878.8}"/>
</p:tagLst>
</file>

<file path=ppt/tags/tag3.xml><?xml version="1.0" encoding="utf-8"?>
<p:tagLst xmlns:p="http://schemas.openxmlformats.org/presentationml/2006/main">
  <p:tag name="KSO_WM_DIAGRAM_VIRTUALLY_FRAME" val="{&quot;height&quot;:209.35,&quot;left&quot;:25.65,&quot;top&quot;:194.45,&quot;width&quot;:878.8}"/>
</p:tagLst>
</file>

<file path=ppt/tags/tag4.xml><?xml version="1.0" encoding="utf-8"?>
<p:tagLst xmlns:p="http://schemas.openxmlformats.org/presentationml/2006/main">
  <p:tag name="KSO_WM_DIAGRAM_VIRTUALLY_FRAME" val="{&quot;height&quot;:209.35,&quot;left&quot;:25.65,&quot;top&quot;:194.45,&quot;width&quot;:878.8}"/>
</p:tagLst>
</file>

<file path=ppt/tags/tag5.xml><?xml version="1.0" encoding="utf-8"?>
<p:tagLst xmlns:p="http://schemas.openxmlformats.org/presentationml/2006/main">
  <p:tag name="KSO_WM_DIAGRAM_VIRTUALLY_FRAME" val="{&quot;height&quot;:209.35,&quot;left&quot;:25.65,&quot;top&quot;:194.45,&quot;width&quot;:878.8}"/>
</p:tagLst>
</file>

<file path=ppt/tags/tag6.xml><?xml version="1.0" encoding="utf-8"?>
<p:tagLst xmlns:p="http://schemas.openxmlformats.org/presentationml/2006/main">
  <p:tag name="KSO_WM_DIAGRAM_VIRTUALLY_FRAME" val="{&quot;height&quot;:209.35,&quot;left&quot;:25.65,&quot;top&quot;:194.45,&quot;width&quot;:878.8}"/>
</p:tagLst>
</file>

<file path=ppt/tags/tag7.xml><?xml version="1.0" encoding="utf-8"?>
<p:tagLst xmlns:p="http://schemas.openxmlformats.org/presentationml/2006/main">
  <p:tag name="KSO_WM_DIAGRAM_VIRTUALLY_FRAME" val="{&quot;height&quot;:209.35,&quot;left&quot;:25.65,&quot;top&quot;:194.45,&quot;width&quot;:878.8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3496</Words>
  <Application>WPS 演示</Application>
  <PresentationFormat>宽屏</PresentationFormat>
  <Paragraphs>184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10</cp:revision>
  <dcterms:created xsi:type="dcterms:W3CDTF">2023-08-09T12:44:00Z</dcterms:created>
  <dcterms:modified xsi:type="dcterms:W3CDTF">2025-10-10T13:39:19Z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