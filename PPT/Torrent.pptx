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125" y="702945"/>
            <a:ext cx="9989185" cy="17659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76400" y="3135630"/>
            <a:ext cx="8838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Torrent: </a:t>
            </a:r>
            <a:r>
              <a:rPr lang="zh-CN" altLang="en-US" sz="2400" b="1"/>
              <a:t>在可靠连接（</a:t>
            </a:r>
            <a:r>
              <a:rPr lang="en-US" altLang="zh-CN" sz="2400" b="1"/>
              <a:t>RC</a:t>
            </a:r>
            <a:r>
              <a:rPr lang="zh-CN" altLang="en-US" sz="2400" b="1"/>
              <a:t>）下的跨数据中心</a:t>
            </a:r>
            <a:r>
              <a:rPr lang="en-US" altLang="zh-CN" sz="2400" b="1"/>
              <a:t>RDMA</a:t>
            </a:r>
            <a:r>
              <a:rPr lang="zh-CN" altLang="en-US" sz="2400" b="1"/>
              <a:t>网络传输框架</a:t>
            </a:r>
            <a:endParaRPr lang="zh-CN" altLang="en-US" sz="2400" b="1"/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403860" y="4600575"/>
            <a:ext cx="3627120" cy="11239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DC</a:t>
            </a:r>
            <a:r>
              <a:rPr lang="zh-CN" altLang="en-US"/>
              <a:t>内和</a:t>
            </a:r>
            <a:r>
              <a:rPr lang="en-US" altLang="zh-CN"/>
              <a:t>DC</a:t>
            </a:r>
            <a:r>
              <a:rPr lang="zh-CN" altLang="en-US"/>
              <a:t>间流量混合，处理流量增多，网卡资源不足；长距离传输时延太大，网络拥塞恢复慢</a:t>
            </a:r>
            <a:endParaRPr lang="en-US" altLang="zh-CN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4462145" y="4606925"/>
            <a:ext cx="3554730" cy="110299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将跨</a:t>
            </a:r>
            <a:r>
              <a:rPr lang="en-US" altLang="zh-CN"/>
              <a:t>DC</a:t>
            </a:r>
            <a:r>
              <a:rPr lang="zh-CN" altLang="en-US"/>
              <a:t>网络分成四个虚拟节点和三个控制回路，通过</a:t>
            </a:r>
            <a:r>
              <a:rPr lang="en-US" altLang="zh-CN"/>
              <a:t>DCI</a:t>
            </a:r>
            <a:r>
              <a:rPr lang="zh-CN" altLang="en-US"/>
              <a:t>交换机隔离</a:t>
            </a:r>
            <a:r>
              <a:rPr lang="en-US" altLang="zh-CN"/>
              <a:t>DC</a:t>
            </a:r>
            <a:r>
              <a:rPr lang="zh-CN" altLang="en-US"/>
              <a:t>内和</a:t>
            </a:r>
            <a:r>
              <a:rPr lang="en-US" altLang="zh-CN"/>
              <a:t>DC</a:t>
            </a:r>
            <a:r>
              <a:rPr lang="zh-CN" altLang="en-US"/>
              <a:t>间流量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8448040" y="4592320"/>
            <a:ext cx="3295015" cy="11176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Torrent</a:t>
            </a:r>
            <a:r>
              <a:rPr lang="zh-CN" altLang="en-US"/>
              <a:t>按流的拥塞程度划分队列进行调度，使用</a:t>
            </a:r>
            <a:r>
              <a:rPr lang="en-US" altLang="zh-CN"/>
              <a:t>DCI</a:t>
            </a:r>
            <a:r>
              <a:rPr lang="zh-CN" altLang="en-US"/>
              <a:t>交换机生成</a:t>
            </a:r>
            <a:r>
              <a:rPr lang="en-US" altLang="zh-CN"/>
              <a:t>ACK/NACK</a:t>
            </a:r>
            <a:r>
              <a:rPr lang="zh-CN" altLang="en-US"/>
              <a:t>，实现</a:t>
            </a:r>
            <a:r>
              <a:rPr lang="en-US" altLang="zh-CN"/>
              <a:t>CPU</a:t>
            </a:r>
            <a:r>
              <a:rPr lang="zh-CN" altLang="en-US"/>
              <a:t>卸载</a:t>
            </a:r>
            <a:endParaRPr lang="zh-CN" altLang="en-US"/>
          </a:p>
        </p:txBody>
      </p:sp>
      <p:sp>
        <p:nvSpPr>
          <p:cNvPr id="9" name="右箭头 8"/>
          <p:cNvSpPr/>
          <p:nvPr>
            <p:custDataLst>
              <p:tags r:id="rId4"/>
            </p:custDataLst>
          </p:nvPr>
        </p:nvSpPr>
        <p:spPr>
          <a:xfrm>
            <a:off x="4159250" y="5017770"/>
            <a:ext cx="209550" cy="2019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右箭头 9"/>
          <p:cNvSpPr/>
          <p:nvPr>
            <p:custDataLst>
              <p:tags r:id="rId5"/>
            </p:custDataLst>
          </p:nvPr>
        </p:nvSpPr>
        <p:spPr>
          <a:xfrm>
            <a:off x="8110220" y="5017770"/>
            <a:ext cx="209550" cy="20193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1448435" y="5861685"/>
            <a:ext cx="1160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问题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5965825" y="5803900"/>
            <a:ext cx="750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解决</a:t>
            </a:r>
            <a:endParaRPr lang="zh-CN" altLang="en-US" b="1">
              <a:solidFill>
                <a:schemeClr val="accent4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13265" y="5803900"/>
            <a:ext cx="90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创新点</a:t>
            </a:r>
            <a:endParaRPr lang="zh-CN" altLang="en-US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60020" y="155575"/>
            <a:ext cx="5134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当前跨</a:t>
            </a:r>
            <a:r>
              <a:rPr lang="en-US" altLang="zh-CN" sz="2000"/>
              <a:t>DC</a:t>
            </a:r>
            <a:r>
              <a:rPr lang="zh-CN" altLang="en-US" sz="2000"/>
              <a:t>面临的问题</a:t>
            </a:r>
            <a:endParaRPr lang="zh-CN" altLang="en-US" sz="2000"/>
          </a:p>
        </p:txBody>
      </p:sp>
      <p:cxnSp>
        <p:nvCxnSpPr>
          <p:cNvPr id="5" name="直接连接符 4"/>
          <p:cNvCxnSpPr/>
          <p:nvPr/>
        </p:nvCxnSpPr>
        <p:spPr>
          <a:xfrm>
            <a:off x="86995" y="587375"/>
            <a:ext cx="4812665" cy="292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47650" y="770255"/>
            <a:ext cx="2055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WQE</a:t>
            </a:r>
            <a:r>
              <a:rPr lang="zh-CN" altLang="en-US" b="1">
                <a:solidFill>
                  <a:schemeClr val="accent1"/>
                </a:solidFill>
              </a:rPr>
              <a:t>缓存不足</a:t>
            </a:r>
            <a:endParaRPr lang="zh-CN" altLang="en-US" b="1">
              <a:solidFill>
                <a:schemeClr val="accent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0650" y="470535"/>
            <a:ext cx="2933700" cy="50387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7350" y="1248410"/>
            <a:ext cx="8190865" cy="24161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实验发现，当</a:t>
            </a:r>
            <a:r>
              <a:rPr lang="zh-CN" altLang="en-US" b="1"/>
              <a:t>发送小的数据包</a:t>
            </a:r>
            <a:r>
              <a:rPr lang="zh-CN" altLang="en-US"/>
              <a:t>时，链路吞吐量会急剧下降；随着</a:t>
            </a:r>
            <a:r>
              <a:rPr lang="zh-CN" altLang="en-US" b="1"/>
              <a:t>距离的增加</a:t>
            </a:r>
            <a:r>
              <a:rPr lang="zh-CN" altLang="en-US"/>
              <a:t>，链路吞吐量下降明显。其中一个原因是</a:t>
            </a:r>
            <a:r>
              <a:rPr lang="en-US" altLang="zh-CN"/>
              <a:t>WQE</a:t>
            </a:r>
            <a:r>
              <a:rPr lang="zh-CN" altLang="en-US"/>
              <a:t>缓存不足，每一轮只能抓取并发送少量的流，流很快就发送完毕，然后链路空闲。</a:t>
            </a:r>
            <a:endParaRPr lang="zh-CN" altLang="en-US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/>
              <a:t>如果发送的数据包小，那在</a:t>
            </a:r>
            <a:r>
              <a:rPr lang="en-US" altLang="zh-CN"/>
              <a:t>WQE</a:t>
            </a:r>
            <a:r>
              <a:rPr lang="zh-CN" altLang="en-US"/>
              <a:t>缓存里面的流很快发送完毕，链路空闲时间增加，吞吐量下降。</a:t>
            </a:r>
            <a:endParaRPr lang="zh-CN" altLang="en-US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/>
              <a:t>如果发送的距离增长，端到端</a:t>
            </a:r>
            <a:r>
              <a:rPr lang="en-US" altLang="zh-CN"/>
              <a:t>RTT</a:t>
            </a:r>
            <a:r>
              <a:rPr lang="zh-CN" altLang="en-US"/>
              <a:t>变长。只有</a:t>
            </a:r>
            <a:r>
              <a:rPr lang="en-US" altLang="zh-CN"/>
              <a:t>WQE</a:t>
            </a:r>
            <a:r>
              <a:rPr lang="zh-CN" altLang="en-US"/>
              <a:t>任务收到接收方回复，</a:t>
            </a:r>
            <a:r>
              <a:rPr lang="en-US" altLang="zh-CN"/>
              <a:t>WQE</a:t>
            </a:r>
            <a:r>
              <a:rPr lang="zh-CN" altLang="en-US"/>
              <a:t>才能从网卡里消除。相同任务下，</a:t>
            </a:r>
            <a:r>
              <a:rPr lang="en-US" altLang="zh-CN"/>
              <a:t>WQE</a:t>
            </a:r>
            <a:r>
              <a:rPr lang="zh-CN" altLang="en-US"/>
              <a:t>周期变长，吞吐量下降。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74650" y="3888740"/>
            <a:ext cx="2055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b="1">
                <a:solidFill>
                  <a:schemeClr val="accent1"/>
                </a:solidFill>
              </a:rPr>
              <a:t>低效的拥塞控制</a:t>
            </a:r>
            <a:endParaRPr lang="zh-CN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87350" y="4448810"/>
            <a:ext cx="8550275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/>
              <a:t>接收方不能区分流量是</a:t>
            </a:r>
            <a:r>
              <a:rPr lang="en-US" altLang="zh-CN"/>
              <a:t>DC</a:t>
            </a:r>
            <a:r>
              <a:rPr lang="zh-CN" altLang="en-US"/>
              <a:t>内还是</a:t>
            </a:r>
            <a:r>
              <a:rPr lang="en-US" altLang="zh-CN"/>
              <a:t>DC</a:t>
            </a:r>
            <a:r>
              <a:rPr lang="zh-CN" altLang="en-US"/>
              <a:t>间，盲目的给相应的源发送拥塞控制信号，但是</a:t>
            </a:r>
            <a:r>
              <a:rPr lang="en-US" altLang="zh-CN"/>
              <a:t>DC</a:t>
            </a:r>
            <a:r>
              <a:rPr lang="zh-CN" altLang="en-US"/>
              <a:t>间控制信号时延长，这些流不能</a:t>
            </a:r>
            <a:r>
              <a:rPr lang="zh-CN" altLang="en-US" b="1"/>
              <a:t>同步进行速率调整</a:t>
            </a:r>
            <a:r>
              <a:rPr lang="zh-CN" altLang="en-US"/>
              <a:t>。</a:t>
            </a:r>
            <a:endParaRPr lang="zh-CN" altLang="en-US"/>
          </a:p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r>
              <a:rPr lang="en-US" altLang="zh-CN"/>
              <a:t>DC</a:t>
            </a:r>
            <a:r>
              <a:rPr lang="zh-CN" altLang="en-US"/>
              <a:t>内和</a:t>
            </a:r>
            <a:r>
              <a:rPr lang="en-US" altLang="zh-CN"/>
              <a:t>DC</a:t>
            </a:r>
            <a:r>
              <a:rPr lang="zh-CN" altLang="en-US"/>
              <a:t>间流的需求不同增加了部署的复杂度。</a:t>
            </a:r>
            <a:r>
              <a:rPr lang="en-US" altLang="zh-CN"/>
              <a:t>DC</a:t>
            </a:r>
            <a:r>
              <a:rPr lang="zh-CN" altLang="en-US"/>
              <a:t>间流需要高吞吐量，深缓存来容纳飞行包；</a:t>
            </a:r>
            <a:r>
              <a:rPr lang="en-US" altLang="zh-CN"/>
              <a:t>DC</a:t>
            </a:r>
            <a:r>
              <a:rPr lang="zh-CN" altLang="en-US"/>
              <a:t>内流量需要最小排队时间来降低</a:t>
            </a:r>
            <a:r>
              <a:rPr lang="en-US" altLang="zh-CN"/>
              <a:t>FCT</a:t>
            </a:r>
            <a:r>
              <a:rPr lang="zh-CN" altLang="en-US"/>
              <a:t>（</a:t>
            </a:r>
            <a:r>
              <a:rPr lang="en-US" altLang="zh-CN"/>
              <a:t>flow completion time</a:t>
            </a:r>
            <a:r>
              <a:rPr lang="zh-CN" altLang="en-US"/>
              <a:t>）。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9" grpId="1"/>
      <p:bldP spid="1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圆角矩形 8"/>
          <p:cNvSpPr/>
          <p:nvPr/>
        </p:nvSpPr>
        <p:spPr>
          <a:xfrm>
            <a:off x="803275" y="6028690"/>
            <a:ext cx="10926445" cy="7677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0020" y="155575"/>
            <a:ext cx="5134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Tassel</a:t>
            </a:r>
            <a:r>
              <a:rPr lang="zh-CN" altLang="en-US" sz="2000"/>
              <a:t>设计</a:t>
            </a:r>
            <a:endParaRPr lang="zh-CN" altLang="en-US" sz="2000"/>
          </a:p>
        </p:txBody>
      </p:sp>
      <p:cxnSp>
        <p:nvCxnSpPr>
          <p:cNvPr id="5" name="直接连接符 4"/>
          <p:cNvCxnSpPr/>
          <p:nvPr/>
        </p:nvCxnSpPr>
        <p:spPr>
          <a:xfrm>
            <a:off x="86995" y="587375"/>
            <a:ext cx="4812665" cy="292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360" y="919480"/>
            <a:ext cx="9036050" cy="166306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23545" y="2507615"/>
            <a:ext cx="2720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上游</a:t>
            </a:r>
            <a:r>
              <a:rPr lang="en-US" altLang="zh-CN" b="1">
                <a:solidFill>
                  <a:schemeClr val="accent1"/>
                </a:solidFill>
              </a:rPr>
              <a:t>DCI</a:t>
            </a:r>
            <a:r>
              <a:rPr lang="zh-CN" altLang="en-US" b="1">
                <a:solidFill>
                  <a:schemeClr val="accent1"/>
                </a:solidFill>
              </a:rPr>
              <a:t>交换机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42695" y="2872105"/>
            <a:ext cx="10406380" cy="10045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/>
              <a:t>1</a:t>
            </a:r>
            <a:r>
              <a:rPr lang="zh-CN" altLang="en-US"/>
              <a:t>）上游</a:t>
            </a:r>
            <a:r>
              <a:rPr lang="en-US" altLang="zh-CN"/>
              <a:t>DC</a:t>
            </a:r>
            <a:r>
              <a:rPr lang="zh-CN" altLang="en-US"/>
              <a:t>丢包，那么上游</a:t>
            </a:r>
            <a:r>
              <a:rPr lang="en-US" altLang="zh-CN"/>
              <a:t>DCI</a:t>
            </a:r>
            <a:r>
              <a:rPr lang="zh-CN" altLang="en-US"/>
              <a:t>交换机直接给发送方</a:t>
            </a:r>
            <a:r>
              <a:rPr lang="zh-CN" altLang="en-US" b="1"/>
              <a:t>返回</a:t>
            </a:r>
            <a:r>
              <a:rPr lang="en-US" altLang="zh-CN" b="1"/>
              <a:t>NACK</a:t>
            </a:r>
            <a:r>
              <a:rPr lang="zh-CN" altLang="en-US"/>
              <a:t>，并过滤掉后续包。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2</a:t>
            </a:r>
            <a:r>
              <a:rPr lang="zh-CN" altLang="en-US"/>
              <a:t>）上游</a:t>
            </a:r>
            <a:r>
              <a:rPr lang="en-US" altLang="zh-CN"/>
              <a:t>DC</a:t>
            </a:r>
            <a:r>
              <a:rPr lang="zh-CN" altLang="en-US"/>
              <a:t>内发生拥塞，上游</a:t>
            </a:r>
            <a:r>
              <a:rPr lang="en-US" altLang="zh-CN"/>
              <a:t>DCI</a:t>
            </a:r>
            <a:r>
              <a:rPr lang="zh-CN" altLang="en-US"/>
              <a:t>交换机生成对应拥塞控制算法的</a:t>
            </a:r>
            <a:r>
              <a:rPr lang="en-US" altLang="zh-CN" b="1"/>
              <a:t>Feedback</a:t>
            </a:r>
            <a:r>
              <a:rPr lang="zh-CN" altLang="en-US"/>
              <a:t>，并返回给发送方。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en-US" altLang="zh-CN"/>
              <a:t>3</a:t>
            </a:r>
            <a:r>
              <a:rPr lang="zh-CN" altLang="en-US"/>
              <a:t>）上游数据包正常传输到下游，上游交换机</a:t>
            </a:r>
            <a:r>
              <a:rPr lang="zh-CN" altLang="en-US" b="1"/>
              <a:t>直接返回一个</a:t>
            </a:r>
            <a:r>
              <a:rPr lang="en-US" altLang="zh-CN" b="1"/>
              <a:t>ACK</a:t>
            </a:r>
            <a:r>
              <a:rPr lang="zh-CN" altLang="en-US"/>
              <a:t>，消耗掉</a:t>
            </a:r>
            <a:r>
              <a:rPr lang="en-US" altLang="zh-CN"/>
              <a:t>WQE</a:t>
            </a:r>
            <a:r>
              <a:rPr lang="zh-CN" altLang="en-US"/>
              <a:t>，实现数据流水线传输。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77520" y="4019550"/>
            <a:ext cx="2720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下游</a:t>
            </a:r>
            <a:r>
              <a:rPr lang="en-US" altLang="zh-CN" b="1">
                <a:solidFill>
                  <a:schemeClr val="accent1"/>
                </a:solidFill>
              </a:rPr>
              <a:t>DCI</a:t>
            </a:r>
            <a:r>
              <a:rPr lang="zh-CN" altLang="en-US" b="1">
                <a:solidFill>
                  <a:schemeClr val="accent1"/>
                </a:solidFill>
              </a:rPr>
              <a:t>交换机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42695" y="4474210"/>
            <a:ext cx="93541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en-US" altLang="zh-CN"/>
              <a:t>1</a:t>
            </a:r>
            <a:r>
              <a:rPr lang="zh-CN" altLang="en-US"/>
              <a:t>）上游数据包正常到达，下游</a:t>
            </a:r>
            <a:r>
              <a:rPr lang="en-US" altLang="zh-CN"/>
              <a:t>DCI</a:t>
            </a:r>
            <a:r>
              <a:rPr lang="zh-CN" altLang="en-US"/>
              <a:t>交换机根据其</a:t>
            </a:r>
            <a:r>
              <a:rPr lang="zh-CN" altLang="en-US" b="1"/>
              <a:t>拥塞表</a:t>
            </a:r>
            <a:r>
              <a:rPr lang="zh-CN" altLang="en-US"/>
              <a:t>控制数据包到下游的速率。</a:t>
            </a:r>
            <a:endParaRPr lang="zh-CN" altLang="en-US"/>
          </a:p>
          <a:p>
            <a:pPr>
              <a:lnSpc>
                <a:spcPct val="100000"/>
              </a:lnSpc>
            </a:pPr>
            <a:r>
              <a:rPr lang="en-US" altLang="zh-CN"/>
              <a:t>2</a:t>
            </a:r>
            <a:r>
              <a:rPr lang="zh-CN" altLang="en-US"/>
              <a:t>）包到达下游后，下游返回的</a:t>
            </a:r>
            <a:r>
              <a:rPr lang="en-US" altLang="zh-CN"/>
              <a:t>ACK</a:t>
            </a:r>
            <a:r>
              <a:rPr lang="zh-CN" altLang="en-US"/>
              <a:t>包里面有拥塞标记</a:t>
            </a:r>
            <a:r>
              <a:rPr lang="en-US" altLang="zh-CN"/>
              <a:t>         </a:t>
            </a:r>
            <a:r>
              <a:rPr lang="zh-CN" altLang="en-US"/>
              <a:t>下游</a:t>
            </a:r>
            <a:r>
              <a:rPr lang="en-US" altLang="zh-CN"/>
              <a:t>DCI</a:t>
            </a:r>
            <a:r>
              <a:rPr lang="zh-CN" altLang="en-US"/>
              <a:t>交换机</a:t>
            </a:r>
            <a:r>
              <a:rPr lang="zh-CN" altLang="en-US" b="1"/>
              <a:t>更新</a:t>
            </a:r>
            <a:r>
              <a:rPr lang="zh-CN" altLang="en-US"/>
              <a:t>拥塞表，并过滤掉所有</a:t>
            </a:r>
            <a:r>
              <a:rPr lang="en-US" altLang="zh-CN"/>
              <a:t>ACK</a:t>
            </a:r>
            <a:r>
              <a:rPr lang="zh-CN" altLang="en-US"/>
              <a:t>数据包。</a:t>
            </a:r>
            <a:endParaRPr lang="zh-CN" altLang="en-US"/>
          </a:p>
          <a:p>
            <a:pPr>
              <a:lnSpc>
                <a:spcPct val="100000"/>
              </a:lnSpc>
            </a:pPr>
            <a:r>
              <a:rPr lang="en-US" altLang="zh-CN"/>
              <a:t>3</a:t>
            </a:r>
            <a:r>
              <a:rPr lang="zh-CN" altLang="en-US"/>
              <a:t>）包到达下游后，下游发生了包乱序</a:t>
            </a:r>
            <a:r>
              <a:rPr lang="en-US" altLang="zh-CN"/>
              <a:t>/</a:t>
            </a:r>
            <a:r>
              <a:rPr lang="zh-CN" altLang="en-US"/>
              <a:t>丢失，下游返回了</a:t>
            </a:r>
            <a:r>
              <a:rPr lang="en-US" altLang="zh-CN"/>
              <a:t>NACK</a:t>
            </a:r>
            <a:r>
              <a:rPr lang="zh-CN" altLang="en-US"/>
              <a:t>包</a:t>
            </a:r>
            <a:r>
              <a:rPr lang="en-US" altLang="zh-CN"/>
              <a:t>         </a:t>
            </a:r>
            <a:r>
              <a:rPr lang="zh-CN" altLang="en-US"/>
              <a:t>下游</a:t>
            </a:r>
            <a:r>
              <a:rPr lang="en-US" altLang="zh-CN"/>
              <a:t>DCI</a:t>
            </a:r>
            <a:r>
              <a:rPr lang="zh-CN" altLang="en-US"/>
              <a:t>交换机将</a:t>
            </a:r>
            <a:r>
              <a:rPr lang="en-US" altLang="zh-CN"/>
              <a:t>NACK</a:t>
            </a:r>
            <a:r>
              <a:rPr lang="zh-CN" altLang="en-US"/>
              <a:t>数据包转化为</a:t>
            </a:r>
            <a:r>
              <a:rPr lang="en-US" altLang="zh-CN" b="1"/>
              <a:t>TCP</a:t>
            </a:r>
            <a:r>
              <a:rPr lang="zh-CN" altLang="en-US" b="1"/>
              <a:t>终止信号</a:t>
            </a:r>
            <a:r>
              <a:rPr lang="zh-CN" altLang="en-US"/>
              <a:t>，从应用层重传该流。</a:t>
            </a:r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6706235" y="4912360"/>
            <a:ext cx="299720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7856855" y="5468620"/>
            <a:ext cx="299720" cy="755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5243830" y="263525"/>
            <a:ext cx="6828790" cy="6565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RoCE</a:t>
            </a:r>
            <a:r>
              <a:rPr lang="zh-CN" altLang="en-US"/>
              <a:t>连接三个阶段：连接建立，数据传输，连接终止。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RoCEv2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RC</a:t>
            </a:r>
            <a:r>
              <a:rPr lang="zh-CN" altLang="en-US">
                <a:sym typeface="+mn-ea"/>
              </a:rPr>
              <a:t>模式下，连接建立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终止使用</a:t>
            </a:r>
            <a:r>
              <a:rPr lang="en-US" altLang="zh-CN">
                <a:sym typeface="+mn-ea"/>
              </a:rPr>
              <a:t>TCP</a:t>
            </a:r>
            <a:r>
              <a:rPr lang="zh-CN" altLang="en-US">
                <a:sym typeface="+mn-ea"/>
              </a:rPr>
              <a:t>，数据传输用</a:t>
            </a:r>
            <a:r>
              <a:rPr lang="en-US" altLang="zh-CN">
                <a:sym typeface="+mn-ea"/>
              </a:rPr>
              <a:t>RoCEv2</a:t>
            </a:r>
            <a:r>
              <a:rPr lang="zh-CN" altLang="en-US">
                <a:sym typeface="+mn-ea"/>
              </a:rPr>
              <a:t>协议。</a:t>
            </a:r>
            <a:endParaRPr lang="zh-CN" altLang="en-US">
              <a:sym typeface="+mn-ea"/>
            </a:endParaRPr>
          </a:p>
        </p:txBody>
      </p:sp>
      <p:sp>
        <p:nvSpPr>
          <p:cNvPr id="6" name="上箭头标注 5"/>
          <p:cNvSpPr/>
          <p:nvPr/>
        </p:nvSpPr>
        <p:spPr>
          <a:xfrm>
            <a:off x="5521325" y="3836670"/>
            <a:ext cx="5229225" cy="624205"/>
          </a:xfrm>
          <a:prstGeom prst="upArrowCallout">
            <a:avLst>
              <a:gd name="adj1" fmla="val 20195"/>
              <a:gd name="adj2" fmla="val 25000"/>
              <a:gd name="adj3" fmla="val 25000"/>
              <a:gd name="adj4" fmla="val 75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存在的问题是如果下游丢包了，上游不知道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38225" y="6094095"/>
            <a:ext cx="104584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通过</a:t>
            </a:r>
            <a:r>
              <a:rPr lang="en-US" altLang="zh-CN">
                <a:solidFill>
                  <a:schemeClr val="bg1"/>
                </a:solidFill>
              </a:rPr>
              <a:t>TCP</a:t>
            </a:r>
            <a:r>
              <a:rPr lang="zh-CN" altLang="en-US">
                <a:solidFill>
                  <a:schemeClr val="bg1"/>
                </a:solidFill>
              </a:rPr>
              <a:t>终止信号来让上游重新发送该流。原有的</a:t>
            </a:r>
            <a:r>
              <a:rPr lang="en-US" altLang="zh-CN">
                <a:solidFill>
                  <a:schemeClr val="bg1"/>
                </a:solidFill>
              </a:rPr>
              <a:t>go-back-n</a:t>
            </a:r>
            <a:r>
              <a:rPr lang="zh-CN" altLang="en-US">
                <a:solidFill>
                  <a:schemeClr val="bg1"/>
                </a:solidFill>
              </a:rPr>
              <a:t>发生丢包时，会浪费一个</a:t>
            </a:r>
            <a:r>
              <a:rPr lang="en-US" altLang="zh-CN">
                <a:solidFill>
                  <a:schemeClr val="bg1"/>
                </a:solidFill>
              </a:rPr>
              <a:t>BDP</a:t>
            </a:r>
            <a:r>
              <a:rPr lang="zh-CN" altLang="en-US">
                <a:solidFill>
                  <a:schemeClr val="bg1"/>
                </a:solidFill>
              </a:rPr>
              <a:t>带宽；</a:t>
            </a:r>
            <a:r>
              <a:rPr lang="en-US" altLang="zh-CN">
                <a:solidFill>
                  <a:schemeClr val="bg1"/>
                </a:solidFill>
              </a:rPr>
              <a:t>TCP</a:t>
            </a:r>
            <a:r>
              <a:rPr lang="zh-CN" altLang="en-US">
                <a:solidFill>
                  <a:schemeClr val="bg1"/>
                </a:solidFill>
              </a:rPr>
              <a:t>终止造成的流重传，如果流大小大于一个</a:t>
            </a:r>
            <a:r>
              <a:rPr lang="en-US" altLang="zh-CN">
                <a:solidFill>
                  <a:schemeClr val="bg1"/>
                </a:solidFill>
              </a:rPr>
              <a:t>BDP</a:t>
            </a:r>
            <a:r>
              <a:rPr lang="zh-CN" altLang="en-US">
                <a:solidFill>
                  <a:schemeClr val="bg1"/>
                </a:solidFill>
              </a:rPr>
              <a:t>，会加剧影响，但流不超过一个</a:t>
            </a:r>
            <a:r>
              <a:rPr lang="en-US" altLang="zh-CN">
                <a:solidFill>
                  <a:schemeClr val="bg1"/>
                </a:solidFill>
              </a:rPr>
              <a:t>BDP</a:t>
            </a:r>
            <a:r>
              <a:rPr lang="zh-CN" altLang="en-US">
                <a:solidFill>
                  <a:schemeClr val="bg1"/>
                </a:solidFill>
              </a:rPr>
              <a:t>，只会消耗一个</a:t>
            </a:r>
            <a:r>
              <a:rPr lang="en-US" altLang="zh-CN">
                <a:solidFill>
                  <a:schemeClr val="bg1"/>
                </a:solidFill>
              </a:rPr>
              <a:t>BDP</a:t>
            </a:r>
            <a:r>
              <a:rPr lang="zh-CN" altLang="en-US">
                <a:solidFill>
                  <a:schemeClr val="bg1"/>
                </a:solidFill>
              </a:rPr>
              <a:t>带宽。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右弧形箭头 9"/>
          <p:cNvSpPr/>
          <p:nvPr/>
        </p:nvSpPr>
        <p:spPr>
          <a:xfrm>
            <a:off x="10829925" y="4273550"/>
            <a:ext cx="409575" cy="1718310"/>
          </a:xfrm>
          <a:prstGeom prst="curved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436985" y="4858385"/>
            <a:ext cx="556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解决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1" grpId="0"/>
      <p:bldP spid="12" grpId="0"/>
      <p:bldP spid="11" grpId="1"/>
      <p:bldP spid="12" grpId="1"/>
      <p:bldP spid="6" grpId="0" animBg="1"/>
      <p:bldP spid="6" grpId="1" animBg="1"/>
      <p:bldP spid="13" grpId="0"/>
      <p:bldP spid="14" grpId="0"/>
      <p:bldP spid="15" grpId="0" animBg="1"/>
      <p:bldP spid="16" grpId="0" animBg="1"/>
      <p:bldP spid="13" grpId="1"/>
      <p:bldP spid="14" grpId="1"/>
      <p:bldP spid="15" grpId="1" animBg="1"/>
      <p:bldP spid="16" grpId="1" animBg="1"/>
      <p:bldP spid="10" grpId="0" animBg="1"/>
      <p:bldP spid="18" grpId="0"/>
      <p:bldP spid="8" grpId="0"/>
      <p:bldP spid="9" grpId="0" animBg="1"/>
      <p:bldP spid="10" grpId="1" animBg="1"/>
      <p:bldP spid="18" grpId="1"/>
      <p:bldP spid="8" grpId="1"/>
      <p:bldP spid="9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60020" y="155575"/>
            <a:ext cx="5134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Tassel</a:t>
            </a:r>
            <a:r>
              <a:rPr lang="zh-CN" altLang="en-US" sz="2000"/>
              <a:t>实现</a:t>
            </a:r>
            <a:endParaRPr lang="zh-CN" altLang="en-US" sz="2000"/>
          </a:p>
        </p:txBody>
      </p:sp>
      <p:cxnSp>
        <p:nvCxnSpPr>
          <p:cNvPr id="5" name="直接连接符 4"/>
          <p:cNvCxnSpPr/>
          <p:nvPr/>
        </p:nvCxnSpPr>
        <p:spPr>
          <a:xfrm>
            <a:off x="86995" y="587375"/>
            <a:ext cx="4812665" cy="292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00" y="958850"/>
            <a:ext cx="11325225" cy="202882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109845" y="494665"/>
            <a:ext cx="995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Tofino Native Architecture (TNA)</a:t>
            </a:r>
            <a:r>
              <a:rPr lang="zh-CN" altLang="en-US"/>
              <a:t>中实现的</a:t>
            </a:r>
            <a:r>
              <a:rPr lang="en-US" altLang="zh-CN"/>
              <a:t>Torrent</a:t>
            </a:r>
            <a:r>
              <a:rPr lang="zh-CN" altLang="en-US"/>
              <a:t>交换机管道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97230" y="3391535"/>
            <a:ext cx="10137775" cy="15862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10000"/>
              </a:lnSpc>
              <a:buFont typeface="+mj-ea"/>
              <a:buNone/>
            </a:pPr>
            <a:r>
              <a:rPr lang="zh-CN" altLang="en-US"/>
              <a:t>发送模块</a:t>
            </a:r>
            <a:r>
              <a:rPr lang="zh-CN" altLang="en-US">
                <a:latin typeface="Calibri" panose="020F0502020204030204" charset="0"/>
              </a:rPr>
              <a:t>①</a:t>
            </a:r>
            <a:r>
              <a:rPr lang="zh-CN" altLang="en-US"/>
              <a:t>：根据数据包头部的</a:t>
            </a:r>
            <a:r>
              <a:rPr lang="en-US" altLang="zh-CN"/>
              <a:t>IP</a:t>
            </a:r>
            <a:r>
              <a:rPr lang="zh-CN" altLang="en-US"/>
              <a:t>组统计出口端口。</a:t>
            </a:r>
            <a:endParaRPr lang="zh-CN" altLang="en-US"/>
          </a:p>
          <a:p>
            <a:pPr indent="0">
              <a:lnSpc>
                <a:spcPct val="110000"/>
              </a:lnSpc>
              <a:buFont typeface="+mj-ea"/>
              <a:buNone/>
            </a:pPr>
            <a:r>
              <a:rPr lang="zh-CN" altLang="en-US"/>
              <a:t>队列选择器</a:t>
            </a:r>
            <a:r>
              <a:rPr lang="zh-CN" altLang="en-US">
                <a:latin typeface="Calibri" panose="020F0502020204030204" charset="0"/>
              </a:rPr>
              <a:t>②</a:t>
            </a:r>
            <a:r>
              <a:rPr lang="zh-CN" altLang="en-US"/>
              <a:t>：根据拥塞表中记录的</a:t>
            </a:r>
            <a:r>
              <a:rPr lang="zh-CN" altLang="en-US" b="1"/>
              <a:t>拥塞程度</a:t>
            </a:r>
            <a:r>
              <a:rPr lang="zh-CN" altLang="en-US"/>
              <a:t>将包分配给一个特殊的</a:t>
            </a:r>
            <a:r>
              <a:rPr lang="en-US" altLang="zh-CN"/>
              <a:t>Traffic Manage(TM)</a:t>
            </a:r>
            <a:r>
              <a:rPr lang="zh-CN" altLang="en-US"/>
              <a:t>队列。</a:t>
            </a:r>
            <a:endParaRPr lang="zh-CN" altLang="en-US"/>
          </a:p>
          <a:p>
            <a:pPr indent="0">
              <a:lnSpc>
                <a:spcPct val="110000"/>
              </a:lnSpc>
              <a:buFont typeface="+mj-ea"/>
              <a:buNone/>
            </a:pPr>
            <a:r>
              <a:rPr lang="zh-CN" altLang="en-US"/>
              <a:t>包分类器</a:t>
            </a:r>
            <a:r>
              <a:rPr lang="zh-CN" altLang="en-US">
                <a:latin typeface="Calibri" panose="020F0502020204030204" charset="0"/>
              </a:rPr>
              <a:t>③</a:t>
            </a:r>
            <a:r>
              <a:rPr lang="zh-CN" altLang="en-US"/>
              <a:t>：识别数据包特征，并用</a:t>
            </a:r>
            <a:r>
              <a:rPr lang="en-US" altLang="zh-CN" b="1"/>
              <a:t>Pkt_Type</a:t>
            </a:r>
            <a:r>
              <a:rPr lang="zh-CN" altLang="en-US" b="1"/>
              <a:t>标记</a:t>
            </a:r>
            <a:r>
              <a:rPr lang="zh-CN" altLang="en-US"/>
              <a:t>桥接元数据。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</a:rPr>
              <a:t>因为不能改变数据包信息，通过桥接元数据把包的特征发送到出站流程。</a:t>
            </a:r>
            <a:endParaRPr lang="zh-CN" altLang="en-US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+mj-ea"/>
              <a:buAutoNum type="circleNumDbPlain"/>
            </a:pPr>
            <a:endParaRPr lang="zh-CN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66420" y="3005455"/>
            <a:ext cx="2712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入站流程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66420" y="4658360"/>
            <a:ext cx="1134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流量处理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65200" y="5026660"/>
            <a:ext cx="8605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使用</a:t>
            </a:r>
            <a:r>
              <a:rPr lang="en-US" altLang="zh-CN"/>
              <a:t>DWRR</a:t>
            </a:r>
            <a:r>
              <a:rPr lang="zh-CN" altLang="en-US"/>
              <a:t>，根据不同</a:t>
            </a:r>
            <a:r>
              <a:rPr lang="en-US" altLang="zh-CN"/>
              <a:t>TM</a:t>
            </a:r>
            <a:r>
              <a:rPr lang="zh-CN" altLang="en-US"/>
              <a:t>队列的不同权重调度队列，发送数据包。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66420" y="5394960"/>
            <a:ext cx="1134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出站流程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50265" y="5763260"/>
            <a:ext cx="10184130" cy="700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/>
              <a:t>出站流程通过解析桥接元数据获取包的类型，确定是应该（</a:t>
            </a:r>
            <a:r>
              <a:rPr lang="en-US" altLang="zh-CN"/>
              <a:t>i</a:t>
            </a:r>
            <a:r>
              <a:rPr lang="zh-CN" altLang="en-US"/>
              <a:t>）触发生成</a:t>
            </a:r>
            <a:r>
              <a:rPr lang="en-US" altLang="zh-CN"/>
              <a:t>ACK/NACK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④ (ii)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触发生成拥塞回复⑤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iii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）直接发送数据包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60020" y="155575"/>
            <a:ext cx="5134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Tassel</a:t>
            </a:r>
            <a:r>
              <a:rPr lang="zh-CN" altLang="en-US" sz="2000"/>
              <a:t>具体模块实现</a:t>
            </a:r>
            <a:endParaRPr lang="zh-CN" altLang="en-US" sz="2000"/>
          </a:p>
        </p:txBody>
      </p:sp>
      <p:cxnSp>
        <p:nvCxnSpPr>
          <p:cNvPr id="5" name="直接连接符 4"/>
          <p:cNvCxnSpPr/>
          <p:nvPr/>
        </p:nvCxnSpPr>
        <p:spPr>
          <a:xfrm>
            <a:off x="86995" y="587375"/>
            <a:ext cx="4812665" cy="292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94005" y="2773680"/>
            <a:ext cx="2712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</a:rPr>
              <a:t>队列选择器</a:t>
            </a:r>
            <a:r>
              <a:rPr lang="zh-CN" altLang="en-US" b="1">
                <a:latin typeface="Calibri" panose="020F0502020204030204" charset="0"/>
                <a:sym typeface="+mn-ea"/>
              </a:rPr>
              <a:t>②</a:t>
            </a:r>
            <a:endParaRPr lang="zh-CN" altLang="en-US" b="1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005" y="649605"/>
            <a:ext cx="11325225" cy="20288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96900" y="3286760"/>
            <a:ext cx="8958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74345" y="3141980"/>
            <a:ext cx="11556365" cy="1889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>
                <a:latin typeface="Calibri" panose="020F0502020204030204" charset="0"/>
              </a:rPr>
              <a:t>队列选择器负责</a:t>
            </a:r>
            <a:r>
              <a:rPr lang="zh-CN" altLang="en-US" b="1">
                <a:latin typeface="Calibri" panose="020F0502020204030204" charset="0"/>
              </a:rPr>
              <a:t>调整长距离入站流量的出队速率</a:t>
            </a:r>
            <a:r>
              <a:rPr lang="zh-CN" altLang="en-US">
                <a:latin typeface="Calibri" panose="020F0502020204030204" charset="0"/>
              </a:rPr>
              <a:t>。原来为了避免队头堵塞，会为每一条拥塞的流专门分配一个队列，但</a:t>
            </a:r>
            <a:r>
              <a:rPr lang="en-US" altLang="zh-CN">
                <a:latin typeface="Calibri" panose="020F0502020204030204" charset="0"/>
              </a:rPr>
              <a:t>DCI</a:t>
            </a:r>
            <a:r>
              <a:rPr lang="zh-CN" altLang="en-US">
                <a:latin typeface="Calibri" panose="020F0502020204030204" charset="0"/>
              </a:rPr>
              <a:t>交换机汇聚整个数据中心的流，没有那么多队列。因此，</a:t>
            </a:r>
            <a:r>
              <a:rPr lang="en-US" altLang="zh-CN">
                <a:latin typeface="Calibri" panose="020F0502020204030204" charset="0"/>
              </a:rPr>
              <a:t>Torrent</a:t>
            </a:r>
            <a:r>
              <a:rPr lang="zh-CN" altLang="en-US">
                <a:latin typeface="Calibri" panose="020F0502020204030204" charset="0"/>
              </a:rPr>
              <a:t>把有</a:t>
            </a:r>
            <a:r>
              <a:rPr lang="zh-CN" altLang="en-US" b="1">
                <a:latin typeface="Calibri" panose="020F0502020204030204" charset="0"/>
              </a:rPr>
              <a:t>相同拥塞程度的流放入一个队列</a:t>
            </a:r>
            <a:r>
              <a:rPr lang="zh-CN" altLang="en-US">
                <a:latin typeface="Calibri" panose="020F0502020204030204" charset="0"/>
              </a:rPr>
              <a:t>。</a:t>
            </a:r>
            <a:endParaRPr lang="zh-CN" altLang="en-US">
              <a:latin typeface="Calibri" panose="020F0502020204030204" charset="0"/>
            </a:endParaRPr>
          </a:p>
          <a:p>
            <a:pPr>
              <a:lnSpc>
                <a:spcPct val="130000"/>
              </a:lnSpc>
            </a:pPr>
            <a:r>
              <a:rPr lang="en-US" altLang="zh-CN" b="1">
                <a:solidFill>
                  <a:srgbClr val="00B050"/>
                </a:solidFill>
                <a:latin typeface="Calibri" panose="020F0502020204030204" charset="0"/>
              </a:rPr>
              <a:t>step1</a:t>
            </a:r>
            <a:r>
              <a:rPr lang="zh-CN" altLang="en-US">
                <a:solidFill>
                  <a:srgbClr val="00B050"/>
                </a:solidFill>
                <a:latin typeface="Calibri" panose="020F0502020204030204" charset="0"/>
              </a:rPr>
              <a:t>：</a:t>
            </a:r>
            <a:r>
              <a:rPr lang="en-US" altLang="zh-CN">
                <a:latin typeface="Calibri" panose="020F0502020204030204" charset="0"/>
              </a:rPr>
              <a:t>Queue Selector</a:t>
            </a:r>
            <a:r>
              <a:rPr lang="zh-CN" altLang="en-US">
                <a:latin typeface="Calibri" panose="020F0502020204030204" charset="0"/>
              </a:rPr>
              <a:t>从数据包的头部和</a:t>
            </a:r>
            <a:r>
              <a:rPr lang="en-US" altLang="zh-CN">
                <a:latin typeface="Calibri" panose="020F0502020204030204" charset="0"/>
              </a:rPr>
              <a:t>Congestion Table</a:t>
            </a:r>
            <a:r>
              <a:rPr lang="zh-CN" altLang="en-US">
                <a:latin typeface="Calibri" panose="020F0502020204030204" charset="0"/>
              </a:rPr>
              <a:t>里获得该包的拥塞信息</a:t>
            </a:r>
            <a:endParaRPr lang="zh-CN" altLang="en-US">
              <a:latin typeface="Calibri" panose="020F0502020204030204" charset="0"/>
            </a:endParaRPr>
          </a:p>
          <a:p>
            <a:pPr>
              <a:lnSpc>
                <a:spcPct val="130000"/>
              </a:lnSpc>
            </a:pPr>
            <a:r>
              <a:rPr lang="en-US" altLang="zh-CN" b="1">
                <a:solidFill>
                  <a:srgbClr val="00B050"/>
                </a:solidFill>
                <a:latin typeface="Calibri" panose="020F0502020204030204" charset="0"/>
              </a:rPr>
              <a:t>step2</a:t>
            </a:r>
            <a:r>
              <a:rPr lang="zh-CN" altLang="en-US">
                <a:solidFill>
                  <a:srgbClr val="00B050"/>
                </a:solidFill>
                <a:latin typeface="Calibri" panose="020F0502020204030204" charset="0"/>
              </a:rPr>
              <a:t>：</a:t>
            </a:r>
            <a:r>
              <a:rPr lang="zh-CN" altLang="en-US">
                <a:latin typeface="Calibri" panose="020F0502020204030204" charset="0"/>
              </a:rPr>
              <a:t>根据部署的拥塞控制算法计算该包的公平速率</a:t>
            </a:r>
            <a:endParaRPr lang="zh-CN" altLang="en-US">
              <a:latin typeface="Calibri" panose="020F0502020204030204" charset="0"/>
            </a:endParaRPr>
          </a:p>
          <a:p>
            <a:pPr>
              <a:lnSpc>
                <a:spcPct val="130000"/>
              </a:lnSpc>
            </a:pPr>
            <a:r>
              <a:rPr lang="en-US" altLang="zh-CN" b="1">
                <a:solidFill>
                  <a:srgbClr val="00B050"/>
                </a:solidFill>
                <a:latin typeface="Calibri" panose="020F0502020204030204" charset="0"/>
              </a:rPr>
              <a:t>step3</a:t>
            </a:r>
            <a:r>
              <a:rPr lang="zh-CN" altLang="en-US">
                <a:solidFill>
                  <a:srgbClr val="00B050"/>
                </a:solidFill>
                <a:latin typeface="Calibri" panose="020F0502020204030204" charset="0"/>
              </a:rPr>
              <a:t>：</a:t>
            </a:r>
            <a:r>
              <a:rPr lang="zh-CN" altLang="en-US">
                <a:latin typeface="Calibri" panose="020F0502020204030204" charset="0"/>
              </a:rPr>
              <a:t>包根据公平速率被映射到</a:t>
            </a:r>
            <a:r>
              <a:rPr lang="en-US" altLang="zh-CN">
                <a:latin typeface="Calibri" panose="020F0502020204030204" charset="0"/>
              </a:rPr>
              <a:t>Q</a:t>
            </a:r>
            <a:r>
              <a:rPr lang="zh-CN" altLang="en-US">
                <a:latin typeface="Calibri" panose="020F0502020204030204" charset="0"/>
              </a:rPr>
              <a:t>个区域中，</a:t>
            </a:r>
            <a:r>
              <a:rPr lang="en-US" altLang="zh-CN">
                <a:latin typeface="Calibri" panose="020F0502020204030204" charset="0"/>
              </a:rPr>
              <a:t>Q</a:t>
            </a:r>
            <a:r>
              <a:rPr lang="zh-CN" altLang="en-US">
                <a:latin typeface="Calibri" panose="020F0502020204030204" charset="0"/>
              </a:rPr>
              <a:t>为可用队列数量，每个区域对应着一个</a:t>
            </a:r>
            <a:r>
              <a:rPr lang="en-US" altLang="zh-CN">
                <a:latin typeface="Calibri" panose="020F0502020204030204" charset="0"/>
              </a:rPr>
              <a:t>TM</a:t>
            </a:r>
            <a:r>
              <a:rPr lang="zh-CN" altLang="en-US">
                <a:latin typeface="Calibri" panose="020F0502020204030204" charset="0"/>
              </a:rPr>
              <a:t>队列。</a:t>
            </a:r>
            <a:endParaRPr lang="zh-CN" altLang="en-US">
              <a:latin typeface="Calibri" panose="020F05020202040302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634105" y="5031740"/>
            <a:ext cx="7985125" cy="52768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数据包通过</a:t>
            </a:r>
            <a:r>
              <a:rPr lang="en-US" altLang="zh-CN"/>
              <a:t>DWRR</a:t>
            </a:r>
            <a:r>
              <a:rPr lang="zh-CN" altLang="en-US"/>
              <a:t>调度并出队，高拥塞的队列赋予低的权重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5299075"/>
            <a:ext cx="2619375" cy="14954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4443730" y="5730875"/>
                <a:ext cx="6521450" cy="1005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110000"/>
                  </a:lnSpc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是队列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i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的权重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lnSpc>
                    <a:spcPct val="110000"/>
                  </a:lnSpc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是输出端口速率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lnSpc>
                    <a:spcPct val="110000"/>
                  </a:lnSpc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是经过队列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i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的流的数目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3730" y="5730875"/>
                <a:ext cx="6521450" cy="10052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1" grpId="0"/>
      <p:bldP spid="1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60020" y="155575"/>
            <a:ext cx="5134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Tassel</a:t>
            </a:r>
            <a:r>
              <a:rPr lang="zh-CN" altLang="en-US" sz="2000"/>
              <a:t>具体模块实现</a:t>
            </a:r>
            <a:endParaRPr lang="zh-CN" altLang="en-US" sz="2000"/>
          </a:p>
        </p:txBody>
      </p:sp>
      <p:cxnSp>
        <p:nvCxnSpPr>
          <p:cNvPr id="5" name="直接连接符 4"/>
          <p:cNvCxnSpPr/>
          <p:nvPr/>
        </p:nvCxnSpPr>
        <p:spPr>
          <a:xfrm>
            <a:off x="86995" y="587375"/>
            <a:ext cx="4812665" cy="292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94005" y="2773680"/>
            <a:ext cx="2712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</a:rPr>
              <a:t>包分类器</a:t>
            </a:r>
            <a:r>
              <a:rPr lang="zh-CN" altLang="en-US" b="1">
                <a:solidFill>
                  <a:schemeClr val="tx1"/>
                </a:solidFill>
                <a:latin typeface="Calibri" panose="020F0502020204030204" charset="0"/>
              </a:rPr>
              <a:t>③</a:t>
            </a:r>
            <a:endParaRPr lang="zh-CN" altLang="en-US" b="1">
              <a:solidFill>
                <a:schemeClr val="tx1"/>
              </a:solidFill>
              <a:latin typeface="Calibri" panose="020F05020202040302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005" y="649605"/>
            <a:ext cx="11325225" cy="20288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96900" y="3286760"/>
            <a:ext cx="8958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04215" y="3202305"/>
            <a:ext cx="95713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包分类器对包进行分类并打上相应的标签</a:t>
            </a:r>
            <a:r>
              <a:rPr lang="en-US" altLang="zh-CN"/>
              <a:t>Pkt_Type</a:t>
            </a:r>
            <a:r>
              <a:rPr lang="zh-CN" altLang="en-US"/>
              <a:t>，这个标签通过桥接元数据送到出站处理流程，用来决定是（</a:t>
            </a:r>
            <a:r>
              <a:rPr lang="en-US" altLang="zh-CN">
                <a:sym typeface="+mn-ea"/>
              </a:rPr>
              <a:t>i</a:t>
            </a:r>
            <a:r>
              <a:rPr lang="zh-CN" altLang="en-US">
                <a:sym typeface="+mn-ea"/>
              </a:rPr>
              <a:t>）触发生成</a:t>
            </a:r>
            <a:r>
              <a:rPr lang="en-US" altLang="zh-CN">
                <a:sym typeface="+mn-ea"/>
              </a:rPr>
              <a:t>ACK/NACK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④ (ii)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触发生成拥塞回复⑤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iii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）直接发送数据包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81355" y="3937635"/>
            <a:ext cx="1601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B050"/>
                </a:solidFill>
              </a:rPr>
              <a:t>包的类型</a:t>
            </a:r>
            <a:r>
              <a:rPr lang="zh-CN" altLang="en-US">
                <a:solidFill>
                  <a:srgbClr val="00B050"/>
                </a:solidFill>
              </a:rPr>
              <a:t>：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4215" y="4305935"/>
            <a:ext cx="11165205" cy="24161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Connection setup packets</a:t>
            </a:r>
            <a:r>
              <a:rPr lang="zh-CN" altLang="en-US"/>
              <a:t>：用来建立连接的</a:t>
            </a:r>
            <a:r>
              <a:rPr lang="en-US" altLang="zh-CN"/>
              <a:t>TCP</a:t>
            </a:r>
            <a:r>
              <a:rPr lang="zh-CN" altLang="en-US"/>
              <a:t>包，该包在交换机里传递时，拥塞表和</a:t>
            </a:r>
            <a:r>
              <a:rPr lang="en-US" altLang="zh-CN"/>
              <a:t>QP</a:t>
            </a:r>
            <a:r>
              <a:rPr lang="zh-CN" altLang="en-US"/>
              <a:t>表新增一条记录。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Connection closed packets</a:t>
            </a:r>
            <a:r>
              <a:rPr lang="zh-CN" altLang="en-US"/>
              <a:t>：用来结束连接的</a:t>
            </a:r>
            <a:r>
              <a:rPr lang="en-US" altLang="zh-CN"/>
              <a:t>TCP</a:t>
            </a:r>
            <a:r>
              <a:rPr lang="zh-CN" altLang="en-US"/>
              <a:t>包，收到该包的交换机将拥塞表和</a:t>
            </a:r>
            <a:r>
              <a:rPr lang="en-US" altLang="zh-CN"/>
              <a:t>QP</a:t>
            </a:r>
            <a:r>
              <a:rPr lang="zh-CN" altLang="en-US"/>
              <a:t>表相应记录删除。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ACK request packets</a:t>
            </a:r>
            <a:r>
              <a:rPr lang="zh-CN" altLang="en-US"/>
              <a:t>：</a:t>
            </a:r>
            <a:r>
              <a:rPr lang="en-US" altLang="zh-CN"/>
              <a:t>RoCE</a:t>
            </a:r>
            <a:r>
              <a:rPr lang="zh-CN" altLang="en-US"/>
              <a:t>包，头部有</a:t>
            </a:r>
            <a:r>
              <a:rPr lang="en-US" altLang="zh-CN"/>
              <a:t>Acknowledge Request</a:t>
            </a:r>
            <a:r>
              <a:rPr lang="zh-CN" altLang="en-US"/>
              <a:t>标记来指示是否需要返回</a:t>
            </a:r>
            <a:r>
              <a:rPr lang="en-US" altLang="zh-CN"/>
              <a:t>ACK</a:t>
            </a:r>
            <a:r>
              <a:rPr lang="zh-CN" altLang="en-US"/>
              <a:t>包。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NACK request packets</a:t>
            </a:r>
            <a:r>
              <a:rPr lang="zh-CN" altLang="en-US"/>
              <a:t>：乱序到达的</a:t>
            </a:r>
            <a:r>
              <a:rPr lang="en-US" altLang="zh-CN"/>
              <a:t>RoCE</a:t>
            </a:r>
            <a:r>
              <a:rPr lang="zh-CN" altLang="en-US"/>
              <a:t>包。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5</a:t>
            </a:r>
            <a:r>
              <a:rPr lang="zh-CN" altLang="en-US"/>
              <a:t>）</a:t>
            </a:r>
            <a:r>
              <a:rPr lang="en-US" altLang="zh-CN"/>
              <a:t>Feedback request packets</a:t>
            </a:r>
            <a:r>
              <a:rPr lang="zh-CN" altLang="en-US"/>
              <a:t>：携带特殊拥塞标记的数据包，如果用</a:t>
            </a:r>
            <a:r>
              <a:rPr lang="en-US" altLang="zh-CN"/>
              <a:t>DCQCN</a:t>
            </a:r>
            <a:r>
              <a:rPr lang="zh-CN" altLang="en-US"/>
              <a:t>，就携带</a:t>
            </a:r>
            <a:r>
              <a:rPr lang="en-US" altLang="zh-CN"/>
              <a:t>ECN</a:t>
            </a:r>
            <a:r>
              <a:rPr lang="zh-CN" altLang="en-US"/>
              <a:t>标记。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6</a:t>
            </a:r>
            <a:r>
              <a:rPr lang="zh-CN" altLang="en-US"/>
              <a:t>）</a:t>
            </a:r>
            <a:r>
              <a:rPr lang="en-US" altLang="zh-CN"/>
              <a:t>Retired packets</a:t>
            </a:r>
            <a:r>
              <a:rPr lang="zh-CN" altLang="en-US"/>
              <a:t>：应该被</a:t>
            </a:r>
            <a:r>
              <a:rPr lang="en-US" altLang="zh-CN"/>
              <a:t>TM</a:t>
            </a:r>
            <a:r>
              <a:rPr lang="zh-CN" altLang="en-US"/>
              <a:t>丢弃的数据包，包括</a:t>
            </a:r>
            <a:r>
              <a:rPr lang="en-US" altLang="zh-CN"/>
              <a:t>NACK</a:t>
            </a:r>
            <a:r>
              <a:rPr lang="zh-CN" altLang="en-US"/>
              <a:t>请求后续包，过期</a:t>
            </a:r>
            <a:r>
              <a:rPr lang="en-US" altLang="zh-CN"/>
              <a:t>ACK</a:t>
            </a:r>
            <a:r>
              <a:rPr lang="zh-CN" altLang="en-US"/>
              <a:t>，下游数据中心的拥塞反馈。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en-US" altLang="zh-CN"/>
              <a:t>7</a:t>
            </a:r>
            <a:r>
              <a:rPr lang="zh-CN" altLang="en-US"/>
              <a:t>）</a:t>
            </a:r>
            <a:r>
              <a:rPr lang="en-US" altLang="zh-CN"/>
              <a:t>Normal packets</a:t>
            </a:r>
            <a:r>
              <a:rPr lang="zh-CN" altLang="en-US"/>
              <a:t>：不需要在出站流程被处理的数据包。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8" grpId="1"/>
      <p:bldP spid="1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60020" y="155575"/>
            <a:ext cx="5134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Tassel</a:t>
            </a:r>
            <a:r>
              <a:rPr lang="zh-CN" altLang="en-US" sz="2000"/>
              <a:t>具体模块实现</a:t>
            </a:r>
            <a:endParaRPr lang="zh-CN" altLang="en-US" sz="2000"/>
          </a:p>
        </p:txBody>
      </p:sp>
      <p:cxnSp>
        <p:nvCxnSpPr>
          <p:cNvPr id="5" name="直接连接符 4"/>
          <p:cNvCxnSpPr/>
          <p:nvPr/>
        </p:nvCxnSpPr>
        <p:spPr>
          <a:xfrm>
            <a:off x="86995" y="587375"/>
            <a:ext cx="4812665" cy="292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94005" y="2773680"/>
            <a:ext cx="2712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latin typeface="Calibri" panose="020F0502020204030204" charset="0"/>
              </a:rPr>
              <a:t>ACK/NACK</a:t>
            </a:r>
            <a:r>
              <a:rPr lang="zh-CN" altLang="en-US" b="1">
                <a:solidFill>
                  <a:schemeClr val="tx1"/>
                </a:solidFill>
                <a:latin typeface="Calibri" panose="020F0502020204030204" charset="0"/>
              </a:rPr>
              <a:t>生成器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005" y="649605"/>
            <a:ext cx="11325225" cy="20288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96900" y="3286760"/>
            <a:ext cx="8958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43560" y="3141980"/>
            <a:ext cx="10828020" cy="1751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/>
              <a:t>控制平面的</a:t>
            </a:r>
            <a:r>
              <a:rPr lang="en-US" altLang="zh-CN"/>
              <a:t>CPU</a:t>
            </a:r>
            <a:r>
              <a:rPr lang="zh-CN" altLang="en-US"/>
              <a:t>可能难以及时完成数据包生成，</a:t>
            </a:r>
            <a:r>
              <a:rPr lang="en-US" altLang="zh-CN"/>
              <a:t>Torrent</a:t>
            </a:r>
            <a:r>
              <a:rPr lang="zh-CN" altLang="en-US"/>
              <a:t>在数据平面生成数据包。使用</a:t>
            </a:r>
            <a:r>
              <a:rPr lang="en-US" altLang="zh-CN"/>
              <a:t>TNA</a:t>
            </a:r>
            <a:r>
              <a:rPr lang="zh-CN" altLang="en-US"/>
              <a:t>的</a:t>
            </a:r>
            <a:r>
              <a:rPr lang="en-US" altLang="zh-CN" b="1"/>
              <a:t>Mirror feature</a:t>
            </a:r>
            <a:r>
              <a:rPr lang="zh-CN" altLang="en-US"/>
              <a:t>，配置好的镜像会话可以</a:t>
            </a:r>
            <a:r>
              <a:rPr lang="zh-CN" altLang="en-US" b="1"/>
              <a:t>复制包并截取有效载荷</a:t>
            </a:r>
            <a:r>
              <a:rPr lang="zh-CN" altLang="en-US"/>
              <a:t>。</a:t>
            </a:r>
            <a:r>
              <a:rPr lang="en-US" altLang="zh-CN"/>
              <a:t>ACK/NACK</a:t>
            </a:r>
            <a:r>
              <a:rPr lang="zh-CN" altLang="en-US"/>
              <a:t>生成器通过查询</a:t>
            </a:r>
            <a:r>
              <a:rPr lang="en-US" altLang="zh-CN"/>
              <a:t>QP</a:t>
            </a:r>
            <a:r>
              <a:rPr lang="zh-CN" altLang="en-US"/>
              <a:t>表获得回程</a:t>
            </a:r>
            <a:r>
              <a:rPr lang="en-US" altLang="zh-CN"/>
              <a:t>QP</a:t>
            </a:r>
            <a:r>
              <a:rPr lang="zh-CN" altLang="en-US"/>
              <a:t>编号，并将截取后的数据包转化为</a:t>
            </a:r>
            <a:r>
              <a:rPr lang="en-US" altLang="zh-CN">
                <a:sym typeface="+mn-ea"/>
              </a:rPr>
              <a:t>ACK/NACK</a:t>
            </a:r>
            <a:r>
              <a:rPr lang="zh-CN" altLang="en-US">
                <a:sym typeface="+mn-ea"/>
              </a:rPr>
              <a:t>格式的数据包。</a:t>
            </a:r>
            <a:endParaRPr lang="zh-CN" altLang="en-US">
              <a:sym typeface="+mn-ea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上游</a:t>
            </a:r>
            <a:r>
              <a:rPr lang="en-US" altLang="zh-CN">
                <a:sym typeface="+mn-ea"/>
              </a:rPr>
              <a:t>DC</a:t>
            </a:r>
            <a:r>
              <a:rPr lang="zh-CN" altLang="en-US">
                <a:sym typeface="+mn-ea"/>
              </a:rPr>
              <a:t>中丢失的数据包，上游</a:t>
            </a:r>
            <a:r>
              <a:rPr lang="en-US" altLang="zh-CN">
                <a:sym typeface="+mn-ea"/>
              </a:rPr>
              <a:t>DCI</a:t>
            </a:r>
            <a:r>
              <a:rPr lang="zh-CN" altLang="en-US">
                <a:sym typeface="+mn-ea"/>
              </a:rPr>
              <a:t>交换机检测到乱序，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直接生成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NACK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并过滤掉后面来的包</a:t>
            </a:r>
            <a:r>
              <a:rPr lang="zh-CN" altLang="en-US">
                <a:sym typeface="+mn-ea"/>
              </a:rPr>
              <a:t>；对于下游</a:t>
            </a:r>
            <a:r>
              <a:rPr lang="en-US" altLang="zh-CN">
                <a:sym typeface="+mn-ea"/>
              </a:rPr>
              <a:t>DC</a:t>
            </a:r>
            <a:r>
              <a:rPr lang="zh-CN" altLang="en-US">
                <a:sym typeface="+mn-ea"/>
              </a:rPr>
              <a:t>的丢包，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ACK/NACK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生成器将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NACK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变为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TCP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终止请求</a:t>
            </a:r>
            <a:r>
              <a:rPr lang="zh-CN" altLang="en-US">
                <a:sym typeface="+mn-ea"/>
              </a:rPr>
              <a:t>，并把错误返回给应用层。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3995" y="4956810"/>
            <a:ext cx="2712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Feedback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生成器⑤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3735" y="5325110"/>
            <a:ext cx="10391140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回复生成器收集了整个数据中心的拥塞信息，并给相应的源进行</a:t>
            </a:r>
            <a:r>
              <a:rPr lang="zh-CN" altLang="en-US" b="1"/>
              <a:t>拥塞反馈</a:t>
            </a:r>
            <a:r>
              <a:rPr lang="zh-CN" altLang="en-US"/>
              <a:t>，然后清除包头部的拥塞标记。反馈数据包的格式应于终端主机的拥塞控制算法一致。也可以每个固定周期发送反馈。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由于很多拥塞信息是在</a:t>
            </a:r>
            <a:r>
              <a:rPr lang="en-US" altLang="zh-CN" b="1"/>
              <a:t>ACK</a:t>
            </a:r>
            <a:r>
              <a:rPr lang="zh-CN" altLang="en-US" b="1"/>
              <a:t>里携带</a:t>
            </a:r>
            <a:r>
              <a:rPr lang="zh-CN" altLang="en-US"/>
              <a:t>的，也可以把该步骤集成到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④中。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7" grpId="1"/>
      <p:bldP spid="10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128.3,&quot;left&quot;:31.8,&quot;top&quot;:362.25,&quot;width&quot;:623.3}"/>
</p:tagLst>
</file>

<file path=ppt/tags/tag2.xml><?xml version="1.0" encoding="utf-8"?>
<p:tagLst xmlns:p="http://schemas.openxmlformats.org/presentationml/2006/main">
  <p:tag name="KSO_WM_DIAGRAM_VIRTUALLY_FRAME" val="{&quot;height&quot;:128.3,&quot;left&quot;:31.8,&quot;top&quot;:362.25,&quot;width&quot;:623.3}"/>
</p:tagLst>
</file>

<file path=ppt/tags/tag3.xml><?xml version="1.0" encoding="utf-8"?>
<p:tagLst xmlns:p="http://schemas.openxmlformats.org/presentationml/2006/main">
  <p:tag name="KSO_WM_DIAGRAM_VIRTUALLY_FRAME" val="{&quot;height&quot;:128.3,&quot;left&quot;:31.8,&quot;top&quot;:362.25,&quot;width&quot;:623.3}"/>
</p:tagLst>
</file>

<file path=ppt/tags/tag4.xml><?xml version="1.0" encoding="utf-8"?>
<p:tagLst xmlns:p="http://schemas.openxmlformats.org/presentationml/2006/main">
  <p:tag name="KSO_WM_DIAGRAM_VIRTUALLY_FRAME" val="{&quot;height&quot;:128.3,&quot;left&quot;:31.8,&quot;top&quot;:362.25,&quot;width&quot;:623.3}"/>
</p:tagLst>
</file>

<file path=ppt/tags/tag5.xml><?xml version="1.0" encoding="utf-8"?>
<p:tagLst xmlns:p="http://schemas.openxmlformats.org/presentationml/2006/main">
  <p:tag name="KSO_WM_DIAGRAM_VIRTUALLY_FRAME" val="{&quot;height&quot;:128.3,&quot;left&quot;:31.8,&quot;top&quot;:362.25,&quot;width&quot;:623.3}"/>
</p:tagLst>
</file>

<file path=ppt/tags/tag6.xml><?xml version="1.0" encoding="utf-8"?>
<p:tagLst xmlns:p="http://schemas.openxmlformats.org/presentationml/2006/main">
  <p:tag name="KSO_WM_DIAGRAM_VIRTUALLY_FRAME" val="{&quot;height&quot;:128.3,&quot;left&quot;:31.8,&quot;top&quot;:362.25,&quot;width&quot;:623.3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2576</Words>
  <Application>WPS 演示</Application>
  <PresentationFormat>宽屏</PresentationFormat>
  <Paragraphs>112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Wingdings</vt:lpstr>
      <vt:lpstr>Cambria Math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WPS_1688450449</cp:lastModifiedBy>
  <cp:revision>6</cp:revision>
  <dcterms:created xsi:type="dcterms:W3CDTF">2023-08-09T12:44:00Z</dcterms:created>
  <dcterms:modified xsi:type="dcterms:W3CDTF">2025-08-15T04:14:14Z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C957F9DACEB4463781858B27AF9E68F3_12</vt:lpwstr>
  </property>
</Properties>
</file>