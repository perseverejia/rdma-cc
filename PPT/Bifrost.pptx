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60" r:id="rId6"/>
    <p:sldId id="261" r:id="rId7"/>
    <p:sldId id="259" r:id="rId8"/>
    <p:sldId id="263" r:id="rId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16.png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07235" y="485140"/>
            <a:ext cx="8085455" cy="237871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1782445" y="3429000"/>
            <a:ext cx="82931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       </a:t>
            </a:r>
            <a:r>
              <a:rPr lang="zh-CN" altLang="en-US"/>
              <a:t>南京大学，上一篇</a:t>
            </a:r>
            <a:r>
              <a:rPr lang="en-US" altLang="zh-CN"/>
              <a:t>Swing</a:t>
            </a:r>
            <a:r>
              <a:rPr lang="zh-CN" altLang="en-US"/>
              <a:t>也是南京大学，两者都是将</a:t>
            </a:r>
            <a:r>
              <a:rPr lang="en-US" altLang="zh-CN"/>
              <a:t>RoCE v2</a:t>
            </a:r>
            <a:r>
              <a:rPr lang="zh-CN" altLang="en-US"/>
              <a:t>扩展到</a:t>
            </a:r>
            <a:r>
              <a:rPr lang="en-US" altLang="zh-CN"/>
              <a:t>DC</a:t>
            </a:r>
            <a:r>
              <a:rPr lang="zh-CN" altLang="en-US"/>
              <a:t>间</a:t>
            </a:r>
            <a:endParaRPr lang="zh-CN" altLang="en-US"/>
          </a:p>
        </p:txBody>
      </p:sp>
      <p:sp>
        <p:nvSpPr>
          <p:cNvPr id="7" name="圆角矩形 6"/>
          <p:cNvSpPr/>
          <p:nvPr>
            <p:custDataLst>
              <p:tags r:id="rId2"/>
            </p:custDataLst>
          </p:nvPr>
        </p:nvSpPr>
        <p:spPr>
          <a:xfrm>
            <a:off x="1145540" y="4664393"/>
            <a:ext cx="2413635" cy="108839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 sz="1600">
              <a:sym typeface="+mn-ea"/>
            </a:endParaRPr>
          </a:p>
          <a:p>
            <a:pPr algn="ctr"/>
            <a:r>
              <a:rPr lang="en-US" altLang="zh-CN" sz="1600">
                <a:sym typeface="+mn-ea"/>
              </a:rPr>
              <a:t>DC</a:t>
            </a:r>
            <a:r>
              <a:rPr lang="zh-CN" altLang="en-US" sz="1600">
                <a:sym typeface="+mn-ea"/>
              </a:rPr>
              <a:t>间传递延迟大，</a:t>
            </a:r>
            <a:r>
              <a:rPr lang="en-US" altLang="zh-CN" sz="1600">
                <a:sym typeface="+mn-ea"/>
              </a:rPr>
              <a:t>PFC</a:t>
            </a:r>
            <a:r>
              <a:rPr lang="zh-CN" altLang="en-US" sz="1600">
                <a:sym typeface="+mn-ea"/>
              </a:rPr>
              <a:t>信号不能及时传递，需要增大交换机缓存来容纳飞行包并保证吞吐量</a:t>
            </a:r>
            <a:endParaRPr lang="zh-CN" altLang="en-US" sz="1600"/>
          </a:p>
          <a:p>
            <a:pPr algn="ctr"/>
            <a:endParaRPr lang="zh-CN" altLang="en-US" sz="1600"/>
          </a:p>
        </p:txBody>
      </p:sp>
      <p:sp>
        <p:nvSpPr>
          <p:cNvPr id="10" name="圆角矩形 9"/>
          <p:cNvSpPr/>
          <p:nvPr>
            <p:custDataLst>
              <p:tags r:id="rId3"/>
            </p:custDataLst>
          </p:nvPr>
        </p:nvSpPr>
        <p:spPr>
          <a:xfrm>
            <a:off x="4541520" y="4718050"/>
            <a:ext cx="2919730" cy="981075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/>
              <a:t>使用</a:t>
            </a:r>
            <a:r>
              <a:rPr lang="en-US" altLang="zh-CN" sz="1600"/>
              <a:t>“</a:t>
            </a:r>
            <a:r>
              <a:rPr lang="zh-CN" altLang="en-US" sz="1600"/>
              <a:t>虚拟到达数据包</a:t>
            </a:r>
            <a:r>
              <a:rPr lang="en-US" altLang="zh-CN" sz="1600"/>
              <a:t>”</a:t>
            </a:r>
            <a:r>
              <a:rPr lang="zh-CN" altLang="en-US" sz="1600"/>
              <a:t>来指示飞行包上限，并结合缓冲区数据包共同控制流速</a:t>
            </a:r>
            <a:endParaRPr lang="zh-CN" altLang="en-US" sz="1600"/>
          </a:p>
        </p:txBody>
      </p:sp>
      <p:sp>
        <p:nvSpPr>
          <p:cNvPr id="12" name="圆角矩形 11"/>
          <p:cNvSpPr/>
          <p:nvPr>
            <p:custDataLst>
              <p:tags r:id="rId4"/>
            </p:custDataLst>
          </p:nvPr>
        </p:nvSpPr>
        <p:spPr>
          <a:xfrm>
            <a:off x="8514080" y="4714558"/>
            <a:ext cx="2927350" cy="98806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/>
              <a:t>交换机缓存只需要几乎</a:t>
            </a:r>
            <a:r>
              <a:rPr lang="en-US" altLang="zh-CN" sz="1600"/>
              <a:t>1BDP</a:t>
            </a:r>
            <a:r>
              <a:rPr lang="zh-CN" altLang="en-US" sz="1600"/>
              <a:t>（普通</a:t>
            </a:r>
            <a:r>
              <a:rPr lang="en-US" altLang="zh-CN" sz="1600"/>
              <a:t>PFC</a:t>
            </a:r>
            <a:r>
              <a:rPr lang="zh-CN" altLang="en-US" sz="1600"/>
              <a:t>需</a:t>
            </a:r>
            <a:r>
              <a:rPr lang="en-US" altLang="zh-CN" sz="1600"/>
              <a:t>2BDP</a:t>
            </a:r>
            <a:r>
              <a:rPr lang="zh-CN" altLang="en-US" sz="1600"/>
              <a:t>），并获得低单向时延</a:t>
            </a:r>
            <a:r>
              <a:rPr lang="zh-CN" altLang="en-US"/>
              <a:t>。</a:t>
            </a:r>
            <a:endParaRPr lang="zh-CN" altLang="en-US"/>
          </a:p>
        </p:txBody>
      </p:sp>
      <p:sp>
        <p:nvSpPr>
          <p:cNvPr id="2" name="文本框 1"/>
          <p:cNvSpPr txBox="1"/>
          <p:nvPr>
            <p:custDataLst>
              <p:tags r:id="rId5"/>
            </p:custDataLst>
          </p:nvPr>
        </p:nvSpPr>
        <p:spPr>
          <a:xfrm>
            <a:off x="1798320" y="5848985"/>
            <a:ext cx="10166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rgbClr val="FF0000"/>
                </a:solidFill>
              </a:rPr>
              <a:t>问题</a:t>
            </a:r>
            <a:endParaRPr lang="zh-CN" altLang="en-US" b="1">
              <a:solidFill>
                <a:srgbClr val="FF0000"/>
              </a:solidFill>
            </a:endParaRPr>
          </a:p>
        </p:txBody>
      </p:sp>
      <p:sp>
        <p:nvSpPr>
          <p:cNvPr id="3" name="文本框 2"/>
          <p:cNvSpPr txBox="1"/>
          <p:nvPr>
            <p:custDataLst>
              <p:tags r:id="rId6"/>
            </p:custDataLst>
          </p:nvPr>
        </p:nvSpPr>
        <p:spPr>
          <a:xfrm>
            <a:off x="5648325" y="5848985"/>
            <a:ext cx="6667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chemeClr val="accent4"/>
                </a:solidFill>
              </a:rPr>
              <a:t>方案</a:t>
            </a:r>
            <a:endParaRPr lang="zh-CN" altLang="en-US" b="1">
              <a:solidFill>
                <a:schemeClr val="accent4"/>
              </a:solidFill>
            </a:endParaRPr>
          </a:p>
        </p:txBody>
      </p:sp>
      <p:sp>
        <p:nvSpPr>
          <p:cNvPr id="6" name="文本框 5"/>
          <p:cNvSpPr txBox="1"/>
          <p:nvPr>
            <p:custDataLst>
              <p:tags r:id="rId7"/>
            </p:custDataLst>
          </p:nvPr>
        </p:nvSpPr>
        <p:spPr>
          <a:xfrm>
            <a:off x="9685655" y="5848985"/>
            <a:ext cx="10166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chemeClr val="accent1"/>
                </a:solidFill>
              </a:rPr>
              <a:t>结果</a:t>
            </a:r>
            <a:endParaRPr lang="zh-CN" altLang="en-US" b="1">
              <a:solidFill>
                <a:schemeClr val="accent1"/>
              </a:solidFill>
            </a:endParaRPr>
          </a:p>
        </p:txBody>
      </p:sp>
      <p:sp>
        <p:nvSpPr>
          <p:cNvPr id="8" name="右箭头 7"/>
          <p:cNvSpPr/>
          <p:nvPr/>
        </p:nvSpPr>
        <p:spPr>
          <a:xfrm>
            <a:off x="3824605" y="5080635"/>
            <a:ext cx="387350" cy="255905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右箭头 8"/>
          <p:cNvSpPr/>
          <p:nvPr/>
        </p:nvSpPr>
        <p:spPr>
          <a:xfrm>
            <a:off x="7849870" y="5080635"/>
            <a:ext cx="387350" cy="255905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08340" y="2388235"/>
            <a:ext cx="3269615" cy="269049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226060" y="130175"/>
            <a:ext cx="299847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/>
              <a:t>无损流量控制不完善</a:t>
            </a:r>
            <a:endParaRPr lang="zh-CN" altLang="en-US" sz="2000"/>
          </a:p>
        </p:txBody>
      </p:sp>
      <p:cxnSp>
        <p:nvCxnSpPr>
          <p:cNvPr id="3" name="直接连接符 2"/>
          <p:cNvCxnSpPr/>
          <p:nvPr/>
        </p:nvCxnSpPr>
        <p:spPr>
          <a:xfrm>
            <a:off x="174625" y="575945"/>
            <a:ext cx="3693795" cy="0"/>
          </a:xfrm>
          <a:prstGeom prst="line">
            <a:avLst/>
          </a:prstGeom>
          <a:ln w="31750">
            <a:gradFill>
              <a:gsLst>
                <a:gs pos="0">
                  <a:schemeClr val="accent1">
                    <a:hueOff val="-4200000"/>
                  </a:schemeClr>
                </a:gs>
                <a:gs pos="100000">
                  <a:schemeClr val="accent1"/>
                </a:gs>
              </a:gsLst>
            </a:gra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" name="文本框 3"/>
          <p:cNvSpPr txBox="1"/>
          <p:nvPr/>
        </p:nvSpPr>
        <p:spPr>
          <a:xfrm>
            <a:off x="408940" y="1289050"/>
            <a:ext cx="37007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accent1"/>
                </a:solidFill>
              </a:rPr>
              <a:t>1. </a:t>
            </a:r>
            <a:r>
              <a:rPr lang="zh-CN" altLang="en-US">
                <a:solidFill>
                  <a:schemeClr val="accent1"/>
                </a:solidFill>
              </a:rPr>
              <a:t>怎样避免交换机缓存溢出</a:t>
            </a:r>
            <a:endParaRPr lang="zh-CN" altLang="en-US">
              <a:solidFill>
                <a:schemeClr val="accent1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935355" y="766445"/>
            <a:ext cx="96164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PFC</a:t>
            </a:r>
            <a:r>
              <a:rPr lang="zh-CN" altLang="en-US"/>
              <a:t>是为</a:t>
            </a:r>
            <a:r>
              <a:rPr lang="en-US" altLang="zh-CN"/>
              <a:t>RoCE v2</a:t>
            </a:r>
            <a:r>
              <a:rPr lang="zh-CN" altLang="en-US"/>
              <a:t>提供无损网络的底层流控机制，下面介绍</a:t>
            </a:r>
            <a:r>
              <a:rPr lang="en-US" altLang="zh-CN"/>
              <a:t>PFC</a:t>
            </a:r>
            <a:r>
              <a:rPr lang="zh-CN" altLang="en-US"/>
              <a:t>粗粒度流控带来的影响。</a:t>
            </a:r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文本框 6"/>
              <p:cNvSpPr txBox="1"/>
              <p:nvPr/>
            </p:nvSpPr>
            <p:spPr>
              <a:xfrm>
                <a:off x="1125855" y="1811655"/>
                <a:ext cx="10262870" cy="6464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zh-CN" altLang="en-US"/>
                  <a:t>交换机队列长度大于阈值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𝑋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𝑜𝑓𝑓</m:t>
                        </m:r>
                      </m:sub>
                    </m:sSub>
                  </m:oMath>
                </a14:m>
                <a:r>
                  <a:rPr lang="zh-CN" altLang="en-US"/>
                  <a:t>，下游接收方给上游发送方发送</a:t>
                </a:r>
                <a:r>
                  <a:rPr lang="en-US" altLang="zh-CN"/>
                  <a:t>PFC pause</a:t>
                </a:r>
                <a:r>
                  <a:rPr lang="zh-CN" altLang="en-US"/>
                  <a:t>请求后，下游需要经过</a:t>
                </a:r>
                <a:r>
                  <a:rPr lang="en-US" altLang="zh-CN"/>
                  <a:t>2D</a:t>
                </a:r>
                <a:r>
                  <a:rPr lang="zh-CN" altLang="en-US"/>
                  <a:t>时间才能停止队列增长。设上游发送速率为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𝑅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𝑠</m:t>
                        </m:r>
                      </m:sub>
                    </m:sSub>
                  </m:oMath>
                </a14:m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，所以要预留</a:t>
                </a:r>
                <a:r>
                  <a:rPr lang="en-US" altLang="zh-CN">
                    <a:latin typeface="Cambria Math" panose="02040503050406030204" charset="0"/>
                    <a:cs typeface="Cambria Math" panose="02040503050406030204" charset="0"/>
                  </a:rPr>
                  <a:t>2D*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𝑅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𝑠</m:t>
                        </m:r>
                      </m:sub>
                    </m:sSub>
                  </m:oMath>
                </a14:m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的缓存空间来容纳这些上游多发的包。</a:t>
                </a:r>
                <a:endParaRPr lang="zh-CN" altLang="en-US"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7" name="文本框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5855" y="1811655"/>
                <a:ext cx="10262870" cy="646430"/>
              </a:xfrm>
              <a:prstGeom prst="rect">
                <a:avLst/>
              </a:prstGeom>
              <a:blipFill rotWithShape="1">
                <a:blip r:embed="rId2"/>
                <a:stretch>
                  <a:fillRect r="-43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文本框 8"/>
          <p:cNvSpPr txBox="1"/>
          <p:nvPr/>
        </p:nvSpPr>
        <p:spPr>
          <a:xfrm>
            <a:off x="408940" y="2641600"/>
            <a:ext cx="37007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accent1"/>
                </a:solidFill>
              </a:rPr>
              <a:t>2. </a:t>
            </a:r>
            <a:r>
              <a:rPr lang="zh-CN" altLang="en-US">
                <a:solidFill>
                  <a:schemeClr val="accent1"/>
                </a:solidFill>
              </a:rPr>
              <a:t>怎样确保没有吞吐量缺失</a:t>
            </a:r>
            <a:endParaRPr lang="zh-CN" altLang="en-US">
              <a:solidFill>
                <a:schemeClr val="accent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文本框 9"/>
              <p:cNvSpPr txBox="1"/>
              <p:nvPr/>
            </p:nvSpPr>
            <p:spPr>
              <a:xfrm>
                <a:off x="1240790" y="3133725"/>
                <a:ext cx="6559550" cy="11988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zh-CN" altLang="en-US"/>
                  <a:t>交换机队列长度小于阈值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𝑋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𝑜𝑛</m:t>
                        </m:r>
                      </m:sub>
                    </m:sSub>
                  </m:oMath>
                </a14:m>
                <a:r>
                  <a:rPr lang="zh-CN" altLang="en-US"/>
                  <a:t>，下游接收方给上游发送</a:t>
                </a:r>
                <a:r>
                  <a:rPr lang="en-US" altLang="zh-CN"/>
                  <a:t>PFC resume</a:t>
                </a:r>
                <a:r>
                  <a:rPr lang="zh-CN" altLang="en-US"/>
                  <a:t>请求后，下游经过</a:t>
                </a:r>
                <a:r>
                  <a:rPr lang="en-US" altLang="zh-CN"/>
                  <a:t>2D</a:t>
                </a:r>
                <a:r>
                  <a:rPr lang="zh-CN" altLang="en-US"/>
                  <a:t>时间才开始数据增长。此时要保证吞吐量就是需要队列不能被排空，队列缓存至少为</a:t>
                </a:r>
                <a:r>
                  <a:rPr lang="en-US" altLang="zh-CN"/>
                  <a:t>2D*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𝑅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𝑑</m:t>
                        </m:r>
                      </m:sub>
                    </m:sSub>
                  </m:oMath>
                </a14:m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𝑅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𝑑</m:t>
                        </m:r>
                      </m:sub>
                    </m:sSub>
                  </m:oMath>
                </a14:m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是排出速率。</a:t>
                </a:r>
                <a:endParaRPr lang="zh-CN" altLang="en-US"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10" name="文本框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40790" y="3133725"/>
                <a:ext cx="6559550" cy="1198880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文本框 10"/>
              <p:cNvSpPr txBox="1"/>
              <p:nvPr/>
            </p:nvSpPr>
            <p:spPr>
              <a:xfrm>
                <a:off x="765810" y="4516755"/>
                <a:ext cx="7364095" cy="14217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marL="285750" indent="-285750">
                  <a:lnSpc>
                    <a:spcPct val="120000"/>
                  </a:lnSpc>
                  <a:buFont typeface="Wingdings" panose="05000000000000000000" charset="0"/>
                  <a:buChar char="Ø"/>
                </a:pPr>
                <a:r>
                  <a:rPr lang="zh-CN" altLang="en-US"/>
                  <a:t>如果我们设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𝑋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𝑜𝑓𝑓</m:t>
                        </m:r>
                      </m:sub>
                    </m:sSub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=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𝑋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𝑜𝑛</m:t>
                        </m:r>
                      </m:sub>
                    </m:sSub>
                  </m:oMath>
                </a14:m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，那下游的端口缓存大小至少为</a:t>
                </a:r>
                <a:r>
                  <a:rPr lang="en-US" altLang="zh-CN">
                    <a:latin typeface="Cambria Math" panose="02040503050406030204" charset="0"/>
                    <a:cs typeface="Cambria Math" panose="02040503050406030204" charset="0"/>
                  </a:rPr>
                  <a:t>2D*(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𝑅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𝑑</m:t>
                        </m:r>
                      </m:sub>
                    </m:sSub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+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𝑅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𝑆</m:t>
                        </m:r>
                      </m:sub>
                    </m:sSub>
                  </m:oMath>
                </a14:m>
                <a:r>
                  <a:rPr lang="en-US" altLang="zh-CN">
                    <a:latin typeface="Cambria Math" panose="02040503050406030204" charset="0"/>
                    <a:cs typeface="Cambria Math" panose="02040503050406030204" charset="0"/>
                  </a:rPr>
                  <a:t>)</a:t>
                </a:r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。</a:t>
                </a:r>
                <a:endParaRPr lang="zh-CN" altLang="en-US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pPr marL="285750" indent="-285750">
                  <a:lnSpc>
                    <a:spcPct val="120000"/>
                  </a:lnSpc>
                  <a:buFont typeface="Wingdings" panose="05000000000000000000" charset="0"/>
                  <a:buChar char="Ø"/>
                </a:pPr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我们设典型情况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𝑅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𝑑</m:t>
                        </m:r>
                      </m:sub>
                    </m:sSub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=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𝑅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𝑠</m:t>
                        </m:r>
                      </m:sub>
                    </m:sSub>
                  </m:oMath>
                </a14:m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，因为若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𝑅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𝑑</m:t>
                        </m:r>
                      </m:sub>
                    </m:sSub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&gt;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𝑅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𝑠</m:t>
                        </m:r>
                      </m:sub>
                    </m:sSub>
                  </m:oMath>
                </a14:m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，不能保证没有吞吐量缺失；如果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𝑅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𝑑</m:t>
                        </m:r>
                      </m:sub>
                    </m:sSub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&lt;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𝑅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𝑠</m:t>
                        </m:r>
                      </m:sub>
                    </m:sSub>
                  </m:oMath>
                </a14:m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，那</a:t>
                </a:r>
                <a:r>
                  <a:rPr lang="en-US" altLang="zh-CN">
                    <a:latin typeface="Cambria Math" panose="02040503050406030204" charset="0"/>
                    <a:cs typeface="Cambria Math" panose="02040503050406030204" charset="0"/>
                  </a:rPr>
                  <a:t>DC</a:t>
                </a:r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间昂贵的链路带宽会被浪费。</a:t>
                </a:r>
                <a:endParaRPr lang="zh-CN" altLang="en-US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pPr marL="285750" indent="-285750">
                  <a:lnSpc>
                    <a:spcPct val="120000"/>
                  </a:lnSpc>
                  <a:buFont typeface="Wingdings" panose="05000000000000000000" charset="0"/>
                  <a:buChar char="Ø"/>
                </a:pPr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所以在典型情况下，</a:t>
                </a:r>
                <a:r>
                  <a:rPr lang="en-US" altLang="zh-CN">
                    <a:latin typeface="Cambria Math" panose="02040503050406030204" charset="0"/>
                    <a:cs typeface="Cambria Math" panose="02040503050406030204" charset="0"/>
                  </a:rPr>
                  <a:t>PFC</a:t>
                </a:r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需要的缓存大小为</a:t>
                </a:r>
                <a:r>
                  <a:rPr lang="en-US" altLang="zh-CN">
                    <a:latin typeface="Cambria Math" panose="02040503050406030204" charset="0"/>
                    <a:cs typeface="Cambria Math" panose="02040503050406030204" charset="0"/>
                  </a:rPr>
                  <a:t>2BDP</a:t>
                </a:r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。</a:t>
                </a:r>
                <a:endParaRPr lang="zh-CN" altLang="en-US"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11" name="文本框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5810" y="4516755"/>
                <a:ext cx="7364095" cy="1421765"/>
              </a:xfrm>
              <a:prstGeom prst="rect">
                <a:avLst/>
              </a:prstGeom>
              <a:blipFill rotWithShape="1">
                <a:blip r:embed="rId4"/>
                <a:stretch>
                  <a:fillRect r="-113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文本框 11"/>
          <p:cNvSpPr txBox="1"/>
          <p:nvPr/>
        </p:nvSpPr>
        <p:spPr>
          <a:xfrm>
            <a:off x="6096000" y="5938520"/>
            <a:ext cx="567372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rgbClr val="7030A0"/>
                </a:solidFill>
              </a:rPr>
              <a:t>主要</a:t>
            </a:r>
            <a:r>
              <a:rPr lang="en-US" altLang="zh-CN">
                <a:solidFill>
                  <a:srgbClr val="7030A0"/>
                </a:solidFill>
              </a:rPr>
              <a:t>PFC</a:t>
            </a:r>
            <a:r>
              <a:rPr lang="zh-CN" altLang="en-US">
                <a:solidFill>
                  <a:srgbClr val="7030A0"/>
                </a:solidFill>
              </a:rPr>
              <a:t>需要缓存大的原因是</a:t>
            </a:r>
            <a:r>
              <a:rPr lang="en-US" altLang="zh-CN">
                <a:solidFill>
                  <a:srgbClr val="7030A0"/>
                </a:solidFill>
              </a:rPr>
              <a:t>PFC</a:t>
            </a:r>
            <a:r>
              <a:rPr lang="zh-CN" altLang="en-US">
                <a:solidFill>
                  <a:srgbClr val="7030A0"/>
                </a:solidFill>
              </a:rPr>
              <a:t>只考虑自己交换机内部的队列长度，不考虑传输中的包是增多还是减少。</a:t>
            </a:r>
            <a:endParaRPr lang="zh-CN" altLang="en-US">
              <a:solidFill>
                <a:srgbClr val="7030A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1" grpId="1"/>
      <p:bldP spid="12" grpId="0"/>
      <p:bldP spid="12" grpId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4" name="图片 1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9095" y="1331595"/>
            <a:ext cx="7896225" cy="183832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226060" y="130175"/>
            <a:ext cx="299847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/>
              <a:t>Bifrost</a:t>
            </a:r>
            <a:r>
              <a:rPr lang="zh-CN" altLang="en-US" sz="2000"/>
              <a:t>设计</a:t>
            </a:r>
            <a:endParaRPr lang="zh-CN" altLang="en-US" sz="2000"/>
          </a:p>
        </p:txBody>
      </p:sp>
      <p:cxnSp>
        <p:nvCxnSpPr>
          <p:cNvPr id="3" name="直接连接符 2"/>
          <p:cNvCxnSpPr/>
          <p:nvPr/>
        </p:nvCxnSpPr>
        <p:spPr>
          <a:xfrm>
            <a:off x="174625" y="575945"/>
            <a:ext cx="3693795" cy="0"/>
          </a:xfrm>
          <a:prstGeom prst="line">
            <a:avLst/>
          </a:prstGeom>
          <a:ln w="31750">
            <a:gradFill>
              <a:gsLst>
                <a:gs pos="0">
                  <a:schemeClr val="accent1">
                    <a:hueOff val="-4200000"/>
                  </a:schemeClr>
                </a:gs>
                <a:gs pos="100000">
                  <a:schemeClr val="accent1"/>
                </a:gs>
              </a:gsLst>
            </a:gra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" name="文本框 5"/>
          <p:cNvSpPr txBox="1"/>
          <p:nvPr/>
        </p:nvSpPr>
        <p:spPr>
          <a:xfrm>
            <a:off x="513080" y="883920"/>
            <a:ext cx="976185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/>
              <a:t>Bifrost</a:t>
            </a:r>
            <a:r>
              <a:rPr lang="zh-CN" altLang="en-US" sz="2000"/>
              <a:t>是下游驱动的无损流量控制机制，使用飞行包和队列长度共同控制流的发送。</a:t>
            </a:r>
            <a:endParaRPr lang="zh-CN" altLang="en-US" sz="2000"/>
          </a:p>
        </p:txBody>
      </p:sp>
      <p:sp>
        <p:nvSpPr>
          <p:cNvPr id="15" name="文本框 14"/>
          <p:cNvSpPr txBox="1"/>
          <p:nvPr/>
        </p:nvSpPr>
        <p:spPr>
          <a:xfrm>
            <a:off x="566420" y="3083560"/>
            <a:ext cx="31489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>
                <a:solidFill>
                  <a:schemeClr val="accent1"/>
                </a:solidFill>
              </a:rPr>
              <a:t>Bifrost</a:t>
            </a:r>
            <a:r>
              <a:rPr lang="zh-CN" altLang="en-US" b="1">
                <a:solidFill>
                  <a:schemeClr val="accent1"/>
                </a:solidFill>
              </a:rPr>
              <a:t>需要解决的一些问题</a:t>
            </a:r>
            <a:r>
              <a:rPr lang="zh-CN" altLang="en-US">
                <a:solidFill>
                  <a:schemeClr val="accent1"/>
                </a:solidFill>
              </a:rPr>
              <a:t>：</a:t>
            </a:r>
            <a:endParaRPr lang="zh-CN" altLang="en-US">
              <a:solidFill>
                <a:schemeClr val="accent1"/>
              </a:solidFill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1649095" y="3535680"/>
            <a:ext cx="8774430" cy="10045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342900" indent="-342900">
              <a:lnSpc>
                <a:spcPct val="110000"/>
              </a:lnSpc>
              <a:buFont typeface="+mj-ea"/>
              <a:buAutoNum type="circleNumDbPlain"/>
            </a:pPr>
            <a:r>
              <a:rPr lang="zh-CN" altLang="en-US"/>
              <a:t>下游端口缺乏上游信息，下游需要推断出飞行包的数目。</a:t>
            </a:r>
            <a:endParaRPr lang="zh-CN" altLang="en-US"/>
          </a:p>
          <a:p>
            <a:pPr marL="342900" indent="-342900">
              <a:lnSpc>
                <a:spcPct val="110000"/>
              </a:lnSpc>
              <a:buFont typeface="+mj-ea"/>
              <a:buAutoNum type="circleNumDbPlain"/>
            </a:pPr>
            <a:r>
              <a:rPr lang="zh-CN" altLang="en-US"/>
              <a:t>怎样实现最小</a:t>
            </a:r>
            <a:r>
              <a:rPr lang="en-US" altLang="zh-CN"/>
              <a:t>1</a:t>
            </a:r>
            <a:r>
              <a:rPr lang="zh-CN" altLang="en-US"/>
              <a:t>个</a:t>
            </a:r>
            <a:r>
              <a:rPr lang="en-US" altLang="zh-CN"/>
              <a:t>BDP</a:t>
            </a:r>
            <a:r>
              <a:rPr lang="zh-CN" altLang="en-US"/>
              <a:t>的缓冲区用量，满足无丢包和无吞吐量缺失。</a:t>
            </a:r>
            <a:endParaRPr lang="zh-CN" altLang="en-US"/>
          </a:p>
          <a:p>
            <a:pPr marL="342900" indent="-342900">
              <a:lnSpc>
                <a:spcPct val="110000"/>
              </a:lnSpc>
              <a:buFont typeface="+mj-ea"/>
              <a:buAutoNum type="circleNumDbPlain"/>
            </a:pPr>
            <a:r>
              <a:rPr lang="en-US" altLang="zh-CN"/>
              <a:t>Bifrost</a:t>
            </a:r>
            <a:r>
              <a:rPr lang="zh-CN" altLang="en-US"/>
              <a:t>需要与现有以太网兼容，并能支持多种距离范围。</a:t>
            </a:r>
            <a:endParaRPr lang="zh-CN" altLang="en-US"/>
          </a:p>
        </p:txBody>
      </p:sp>
      <p:sp>
        <p:nvSpPr>
          <p:cNvPr id="18" name="下箭头 17"/>
          <p:cNvSpPr/>
          <p:nvPr/>
        </p:nvSpPr>
        <p:spPr>
          <a:xfrm>
            <a:off x="4635500" y="4624070"/>
            <a:ext cx="582295" cy="429260"/>
          </a:xfrm>
          <a:prstGeom prst="downArrow">
            <a:avLst/>
          </a:prstGeom>
        </p:spPr>
        <p:style>
          <a:lnRef idx="0">
            <a:srgbClr val="FFFFFF"/>
          </a:lnRef>
          <a:fillRef idx="1">
            <a:schemeClr val="accent4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文本框 18"/>
          <p:cNvSpPr txBox="1"/>
          <p:nvPr/>
        </p:nvSpPr>
        <p:spPr>
          <a:xfrm>
            <a:off x="5539740" y="4624070"/>
            <a:ext cx="28047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rgbClr val="00B050"/>
                </a:solidFill>
              </a:rPr>
              <a:t>解决方案</a:t>
            </a:r>
            <a:endParaRPr lang="zh-CN" altLang="en-US" b="1">
              <a:solidFill>
                <a:srgbClr val="00B050"/>
              </a:solidFill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593215" y="5045075"/>
            <a:ext cx="9341485" cy="1087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342900" indent="-342900">
              <a:lnSpc>
                <a:spcPct val="120000"/>
              </a:lnSpc>
              <a:buFont typeface="+mj-ea"/>
              <a:buAutoNum type="circleNumDbPlain"/>
            </a:pPr>
            <a:r>
              <a:rPr lang="zh-CN" altLang="en-US"/>
              <a:t>上游的发送速率完全被下游暂停信息控制，下游根据历史推断下一个</a:t>
            </a:r>
            <a:r>
              <a:rPr lang="en-US" altLang="zh-CN"/>
              <a:t>RTT</a:t>
            </a:r>
            <a:r>
              <a:rPr lang="zh-CN" altLang="en-US"/>
              <a:t>到来包数目。</a:t>
            </a:r>
            <a:endParaRPr lang="zh-CN" altLang="en-US"/>
          </a:p>
          <a:p>
            <a:pPr marL="342900" indent="-342900">
              <a:lnSpc>
                <a:spcPct val="120000"/>
              </a:lnSpc>
              <a:buFont typeface="+mj-ea"/>
              <a:buAutoNum type="circleNumDbPlain"/>
            </a:pPr>
            <a:r>
              <a:rPr lang="zh-CN" altLang="en-US"/>
              <a:t>理论证明</a:t>
            </a:r>
            <a:r>
              <a:rPr lang="en-US" altLang="zh-CN"/>
              <a:t>Bifrost</a:t>
            </a:r>
            <a:r>
              <a:rPr lang="zh-CN" altLang="en-US"/>
              <a:t>几乎一个</a:t>
            </a:r>
            <a:r>
              <a:rPr lang="en-US" altLang="zh-CN"/>
              <a:t>BDP</a:t>
            </a:r>
            <a:r>
              <a:rPr lang="zh-CN" altLang="en-US"/>
              <a:t>就可以满足</a:t>
            </a:r>
            <a:r>
              <a:rPr lang="zh-CN" altLang="en-US">
                <a:sym typeface="+mn-ea"/>
              </a:rPr>
              <a:t>无丢包和无吞吐量缺失。</a:t>
            </a:r>
            <a:endParaRPr lang="zh-CN" altLang="en-US">
              <a:sym typeface="+mn-ea"/>
            </a:endParaRPr>
          </a:p>
          <a:p>
            <a:pPr marL="342900" indent="-342900">
              <a:lnSpc>
                <a:spcPct val="120000"/>
              </a:lnSpc>
              <a:buFont typeface="+mj-ea"/>
              <a:buAutoNum type="circleNumDbPlain"/>
            </a:pPr>
            <a:r>
              <a:rPr lang="en-US" altLang="zh-CN"/>
              <a:t>Bifrost</a:t>
            </a:r>
            <a:r>
              <a:rPr lang="zh-CN" altLang="en-US"/>
              <a:t>只是轻微修改了下游的</a:t>
            </a:r>
            <a:r>
              <a:rPr lang="en-US" altLang="zh-CN"/>
              <a:t>PFC</a:t>
            </a:r>
            <a:r>
              <a:rPr lang="zh-CN" altLang="en-US"/>
              <a:t>端口，没有修改</a:t>
            </a:r>
            <a:r>
              <a:rPr lang="en-US" altLang="zh-CN"/>
              <a:t>PFC</a:t>
            </a:r>
            <a:r>
              <a:rPr lang="zh-CN" altLang="en-US"/>
              <a:t>暂停帧模式。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/>
      <p:bldP spid="20" grpId="0"/>
      <p:bldP spid="18" grpId="1" animBg="1"/>
      <p:bldP spid="19" grpId="1"/>
      <p:bldP spid="20" grpId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rcRect l="5495" r="2418"/>
          <a:stretch>
            <a:fillRect/>
          </a:stretch>
        </p:blipFill>
        <p:spPr>
          <a:xfrm>
            <a:off x="174625" y="2583180"/>
            <a:ext cx="6939280" cy="295275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226060" y="130175"/>
            <a:ext cx="299847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/>
              <a:t>Bifrost</a:t>
            </a:r>
            <a:r>
              <a:rPr lang="zh-CN" altLang="en-US" sz="2000"/>
              <a:t>设计</a:t>
            </a:r>
            <a:endParaRPr lang="zh-CN" altLang="en-US" sz="2000"/>
          </a:p>
        </p:txBody>
      </p:sp>
      <p:cxnSp>
        <p:nvCxnSpPr>
          <p:cNvPr id="3" name="直接连接符 2"/>
          <p:cNvCxnSpPr/>
          <p:nvPr/>
        </p:nvCxnSpPr>
        <p:spPr>
          <a:xfrm>
            <a:off x="174625" y="575945"/>
            <a:ext cx="3693795" cy="0"/>
          </a:xfrm>
          <a:prstGeom prst="line">
            <a:avLst/>
          </a:prstGeom>
          <a:ln w="31750">
            <a:gradFill>
              <a:gsLst>
                <a:gs pos="0">
                  <a:schemeClr val="accent1">
                    <a:hueOff val="-4200000"/>
                  </a:schemeClr>
                </a:gs>
                <a:gs pos="100000">
                  <a:schemeClr val="accent1"/>
                </a:gs>
              </a:gsLst>
            </a:gra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" name="文本框 3"/>
          <p:cNvSpPr txBox="1"/>
          <p:nvPr/>
        </p:nvSpPr>
        <p:spPr>
          <a:xfrm>
            <a:off x="681355" y="784225"/>
            <a:ext cx="61385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chemeClr val="accent1"/>
                </a:solidFill>
              </a:rPr>
              <a:t>虚拟输入数据包（</a:t>
            </a:r>
            <a:r>
              <a:rPr lang="en-US" altLang="zh-CN" b="1">
                <a:solidFill>
                  <a:schemeClr val="accent1"/>
                </a:solidFill>
              </a:rPr>
              <a:t>virtual incoming packets</a:t>
            </a:r>
            <a:r>
              <a:rPr lang="zh-CN" altLang="en-US" b="1">
                <a:solidFill>
                  <a:schemeClr val="accent1"/>
                </a:solidFill>
              </a:rPr>
              <a:t>）</a:t>
            </a:r>
            <a:endParaRPr lang="zh-CN" altLang="en-US" b="1">
              <a:solidFill>
                <a:schemeClr val="accent1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826770" y="1282700"/>
            <a:ext cx="10735945" cy="11703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30000"/>
              </a:lnSpc>
            </a:pPr>
            <a:r>
              <a:rPr lang="en-US" altLang="zh-CN"/>
              <a:t>        </a:t>
            </a:r>
            <a:r>
              <a:rPr lang="zh-CN" altLang="en-US"/>
              <a:t>一个长流通过链路传输，在</a:t>
            </a:r>
            <a:r>
              <a:rPr lang="en-US" altLang="zh-CN"/>
              <a:t>0~D</a:t>
            </a:r>
            <a:r>
              <a:rPr lang="zh-CN" altLang="en-US"/>
              <a:t>时间内下游端口每</a:t>
            </a:r>
            <a:r>
              <a:rPr lang="en-US" altLang="zh-CN"/>
              <a:t>10μs</a:t>
            </a:r>
            <a:r>
              <a:rPr lang="zh-CN" altLang="en-US"/>
              <a:t>发送一次暂停帧，每帧暂停</a:t>
            </a:r>
            <a:r>
              <a:rPr lang="en-US" altLang="zh-CN"/>
              <a:t>5</a:t>
            </a:r>
            <a:r>
              <a:rPr lang="en-US" altLang="zh-CN">
                <a:sym typeface="+mn-ea"/>
              </a:rPr>
              <a:t>μs</a:t>
            </a:r>
            <a:r>
              <a:rPr lang="zh-CN" altLang="en-US">
                <a:sym typeface="+mn-ea"/>
              </a:rPr>
              <a:t>，在</a:t>
            </a:r>
            <a:r>
              <a:rPr lang="en-US" altLang="zh-CN">
                <a:sym typeface="+mn-ea"/>
              </a:rPr>
              <a:t>D~2D</a:t>
            </a:r>
            <a:r>
              <a:rPr lang="zh-CN" altLang="en-US">
                <a:sym typeface="+mn-ea"/>
              </a:rPr>
              <a:t>时间内，不发送暂停帧。那在</a:t>
            </a:r>
            <a:r>
              <a:rPr lang="en-US" altLang="zh-CN">
                <a:sym typeface="+mn-ea"/>
              </a:rPr>
              <a:t>2D</a:t>
            </a:r>
            <a:r>
              <a:rPr lang="zh-CN" altLang="en-US">
                <a:sym typeface="+mn-ea"/>
              </a:rPr>
              <a:t>时刻，下游就可以推断下一个</a:t>
            </a:r>
            <a:r>
              <a:rPr lang="en-US" altLang="zh-CN">
                <a:sym typeface="+mn-ea"/>
              </a:rPr>
              <a:t>RTT</a:t>
            </a:r>
            <a:r>
              <a:rPr lang="zh-CN" altLang="en-US">
                <a:sym typeface="+mn-ea"/>
              </a:rPr>
              <a:t>，他将会收到</a:t>
            </a:r>
            <a:r>
              <a:rPr lang="zh-CN" altLang="en-US" b="1">
                <a:sym typeface="+mn-ea"/>
              </a:rPr>
              <a:t>最多</a:t>
            </a:r>
            <a:r>
              <a:rPr lang="en-US" altLang="zh-CN">
                <a:sym typeface="+mn-ea"/>
              </a:rPr>
              <a:t>0.75BDP</a:t>
            </a:r>
            <a:r>
              <a:rPr lang="zh-CN" altLang="en-US">
                <a:sym typeface="+mn-ea"/>
              </a:rPr>
              <a:t>的数据（上游不一定一直发数据）。</a:t>
            </a:r>
            <a:r>
              <a:rPr lang="zh-CN" altLang="en-US">
                <a:solidFill>
                  <a:schemeClr val="accent4">
                    <a:lumMod val="75000"/>
                  </a:schemeClr>
                </a:solidFill>
                <a:sym typeface="+mn-ea"/>
              </a:rPr>
              <a:t>我们将由暂停历史推断出的传输数据包上限命名为虚拟输入数据包。</a:t>
            </a:r>
            <a:endParaRPr lang="zh-CN" altLang="en-US">
              <a:solidFill>
                <a:schemeClr val="accent4">
                  <a:lumMod val="75000"/>
                </a:schemeClr>
              </a:solidFill>
              <a:sym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7004685" y="3159760"/>
            <a:ext cx="4773295" cy="29686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lnSpc>
                <a:spcPct val="130000"/>
              </a:lnSpc>
              <a:buFont typeface="Wingdings" panose="05000000000000000000" charset="0"/>
              <a:buChar char="Ø"/>
            </a:pPr>
            <a:r>
              <a:rPr lang="en-US" altLang="zh-CN"/>
              <a:t>Bifrost</a:t>
            </a:r>
            <a:r>
              <a:rPr lang="zh-CN" altLang="en-US"/>
              <a:t>和</a:t>
            </a:r>
            <a:r>
              <a:rPr lang="en-US" altLang="zh-CN"/>
              <a:t>PFC</a:t>
            </a:r>
            <a:r>
              <a:rPr lang="zh-CN" altLang="en-US"/>
              <a:t>很相似，但是</a:t>
            </a:r>
            <a:r>
              <a:rPr lang="zh-CN" altLang="en-US" b="1"/>
              <a:t>更细粒度</a:t>
            </a:r>
            <a:r>
              <a:rPr lang="zh-CN" altLang="en-US"/>
              <a:t>。</a:t>
            </a:r>
            <a:r>
              <a:rPr lang="en-US" altLang="zh-CN">
                <a:sym typeface="+mn-ea"/>
              </a:rPr>
              <a:t>Bifrost</a:t>
            </a:r>
            <a:r>
              <a:rPr lang="zh-CN" altLang="en-US">
                <a:sym typeface="+mn-ea"/>
              </a:rPr>
              <a:t>下游端口会定期发送带有</a:t>
            </a:r>
            <a:r>
              <a:rPr lang="zh-CN" altLang="en-US">
                <a:solidFill>
                  <a:schemeClr val="accent6"/>
                </a:solidFill>
                <a:sym typeface="+mn-ea"/>
              </a:rPr>
              <a:t>精确暂停时间</a:t>
            </a:r>
            <a:r>
              <a:rPr lang="zh-CN" altLang="en-US">
                <a:sym typeface="+mn-ea"/>
              </a:rPr>
              <a:t>的暂停帧，而且</a:t>
            </a:r>
            <a:r>
              <a:rPr lang="zh-CN" altLang="en-US">
                <a:solidFill>
                  <a:schemeClr val="accent6"/>
                </a:solidFill>
                <a:sym typeface="+mn-ea"/>
              </a:rPr>
              <a:t>时隙为</a:t>
            </a:r>
            <a:r>
              <a:rPr lang="en-US" altLang="zh-CN">
                <a:solidFill>
                  <a:schemeClr val="accent6"/>
                </a:solidFill>
                <a:sym typeface="+mn-ea"/>
              </a:rPr>
              <a:t>T</a:t>
            </a:r>
            <a:r>
              <a:rPr lang="zh-CN" altLang="en-US">
                <a:sym typeface="+mn-ea"/>
              </a:rPr>
              <a:t>，比单向时延</a:t>
            </a:r>
            <a:r>
              <a:rPr lang="en-US" altLang="zh-CN">
                <a:sym typeface="+mn-ea"/>
              </a:rPr>
              <a:t>D</a:t>
            </a:r>
            <a:r>
              <a:rPr lang="zh-CN" altLang="en-US">
                <a:sym typeface="+mn-ea"/>
              </a:rPr>
              <a:t>小很多。</a:t>
            </a:r>
            <a:endParaRPr lang="zh-CN" altLang="en-US">
              <a:sym typeface="+mn-ea"/>
            </a:endParaRPr>
          </a:p>
          <a:p>
            <a:pPr marL="285750" indent="-285750">
              <a:lnSpc>
                <a:spcPct val="130000"/>
              </a:lnSpc>
              <a:buFont typeface="Wingdings" panose="05000000000000000000" charset="0"/>
              <a:buChar char="Ø"/>
            </a:pPr>
            <a:r>
              <a:rPr lang="zh-CN" altLang="en-US">
                <a:sym typeface="+mn-ea"/>
              </a:rPr>
              <a:t>暂停帧的计算需要</a:t>
            </a:r>
            <a:r>
              <a:rPr lang="zh-CN" altLang="en-US" b="1">
                <a:sym typeface="+mn-ea"/>
              </a:rPr>
              <a:t>下游队列长度</a:t>
            </a:r>
            <a:r>
              <a:rPr lang="en-US" altLang="zh-CN" b="1">
                <a:sym typeface="+mn-ea"/>
              </a:rPr>
              <a:t>L</a:t>
            </a:r>
            <a:r>
              <a:rPr lang="zh-CN" altLang="en-US">
                <a:sym typeface="+mn-ea"/>
              </a:rPr>
              <a:t>和在</a:t>
            </a:r>
            <a:r>
              <a:rPr lang="en-US" altLang="zh-CN">
                <a:sym typeface="+mn-ea"/>
              </a:rPr>
              <a:t>RTT+T</a:t>
            </a:r>
            <a:r>
              <a:rPr lang="zh-CN" altLang="en-US">
                <a:sym typeface="+mn-ea"/>
              </a:rPr>
              <a:t>时间内</a:t>
            </a:r>
            <a:r>
              <a:rPr lang="zh-CN" altLang="en-US" b="1">
                <a:sym typeface="+mn-ea"/>
              </a:rPr>
              <a:t>虚拟输入字节数</a:t>
            </a:r>
            <a:r>
              <a:rPr lang="zh-CN" altLang="en-US">
                <a:sym typeface="+mn-ea"/>
              </a:rPr>
              <a:t>。</a:t>
            </a:r>
            <a:endParaRPr lang="zh-CN" altLang="en-US">
              <a:sym typeface="+mn-ea"/>
            </a:endParaRPr>
          </a:p>
          <a:p>
            <a:pPr marL="285750" indent="-285750">
              <a:lnSpc>
                <a:spcPct val="130000"/>
              </a:lnSpc>
              <a:buFont typeface="Wingdings" panose="05000000000000000000" charset="0"/>
              <a:buChar char="Ø"/>
            </a:pPr>
            <a:r>
              <a:rPr lang="zh-CN" altLang="en-US">
                <a:sym typeface="+mn-ea"/>
              </a:rPr>
              <a:t>控制信息只包含暂停时间，与链路距离无关，因此</a:t>
            </a:r>
            <a:r>
              <a:rPr lang="en-US" altLang="zh-CN">
                <a:sym typeface="+mn-ea"/>
              </a:rPr>
              <a:t>Bifrost</a:t>
            </a:r>
            <a:r>
              <a:rPr lang="zh-CN" altLang="en-US" b="1">
                <a:sym typeface="+mn-ea"/>
              </a:rPr>
              <a:t>没有距离限制</a:t>
            </a:r>
            <a:r>
              <a:rPr lang="zh-CN" altLang="en-US">
                <a:sym typeface="+mn-ea"/>
              </a:rPr>
              <a:t>。</a:t>
            </a:r>
            <a:endParaRPr lang="zh-CN" altLang="en-US"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8" grpId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226060" y="130175"/>
            <a:ext cx="299847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/>
              <a:t>Bifrost</a:t>
            </a:r>
            <a:r>
              <a:rPr lang="zh-CN" altLang="en-US" sz="2000"/>
              <a:t>设计</a:t>
            </a:r>
            <a:endParaRPr lang="zh-CN" altLang="en-US" sz="2000"/>
          </a:p>
        </p:txBody>
      </p:sp>
      <p:cxnSp>
        <p:nvCxnSpPr>
          <p:cNvPr id="3" name="直接连接符 2"/>
          <p:cNvCxnSpPr/>
          <p:nvPr/>
        </p:nvCxnSpPr>
        <p:spPr>
          <a:xfrm>
            <a:off x="174625" y="575945"/>
            <a:ext cx="3693795" cy="0"/>
          </a:xfrm>
          <a:prstGeom prst="line">
            <a:avLst/>
          </a:prstGeom>
          <a:ln w="31750">
            <a:gradFill>
              <a:gsLst>
                <a:gs pos="0">
                  <a:schemeClr val="accent1">
                    <a:hueOff val="-4200000"/>
                  </a:schemeClr>
                </a:gs>
                <a:gs pos="100000">
                  <a:schemeClr val="accent1"/>
                </a:gs>
              </a:gsLst>
            </a:gra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rcRect l="11408" r="9774" b="13245"/>
          <a:stretch>
            <a:fillRect/>
          </a:stretch>
        </p:blipFill>
        <p:spPr>
          <a:xfrm>
            <a:off x="107315" y="622935"/>
            <a:ext cx="6616065" cy="3100705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2" name="文本框 11"/>
              <p:cNvSpPr txBox="1"/>
              <p:nvPr/>
            </p:nvSpPr>
            <p:spPr>
              <a:xfrm>
                <a:off x="7240905" y="861060"/>
                <a:ext cx="4413885" cy="9220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marL="285750" indent="-285750">
                  <a:buFont typeface="Wingdings" panose="05000000000000000000" charset="0"/>
                  <a:buChar char="Ø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𝑅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𝑠</m:t>
                        </m:r>
                      </m:sub>
                    </m:sSub>
                  </m:oMath>
                </a14:m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是上游端口和下游端口之间的带宽</a:t>
                </a:r>
                <a:endParaRPr lang="zh-CN" altLang="en-US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pPr marL="285750" indent="-285750">
                  <a:buFont typeface="Wingdings" panose="05000000000000000000" charset="0"/>
                  <a:buChar char="Ø"/>
                </a:pPr>
                <a:r>
                  <a:rPr lang="en-US" altLang="zh-CN">
                    <a:latin typeface="Cambria Math" panose="02040503050406030204" charset="0"/>
                    <a:cs typeface="Cambria Math" panose="02040503050406030204" charset="0"/>
                  </a:rPr>
                  <a:t>H</a:t>
                </a:r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为该队列预留的所有缓存</a:t>
                </a:r>
                <a:endParaRPr lang="zh-CN" altLang="en-US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pPr marL="285750" indent="-285750">
                  <a:buFont typeface="Wingdings" panose="05000000000000000000" charset="0"/>
                  <a:buChar char="Ø"/>
                </a:pPr>
                <a:r>
                  <a:rPr lang="en-US" altLang="zh-CN">
                    <a:latin typeface="Cambria Math" panose="02040503050406030204" charset="0"/>
                    <a:cs typeface="Cambria Math" panose="02040503050406030204" charset="0"/>
                  </a:rPr>
                  <a:t>D</a:t>
                </a:r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为上游和下游之间单向延迟</a:t>
                </a:r>
                <a:r>
                  <a:rPr lang="en-US" altLang="zh-CN">
                    <a:latin typeface="Cambria Math" panose="02040503050406030204" charset="0"/>
                    <a:cs typeface="Cambria Math" panose="02040503050406030204" charset="0"/>
                  </a:rPr>
                  <a:t> </a:t>
                </a:r>
                <a:endParaRPr lang="en-US" altLang="zh-CN"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12" name="文本框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40905" y="861060"/>
                <a:ext cx="4413885" cy="922020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文本框 12"/>
          <p:cNvSpPr txBox="1"/>
          <p:nvPr/>
        </p:nvSpPr>
        <p:spPr>
          <a:xfrm>
            <a:off x="3323590" y="1414780"/>
            <a:ext cx="1835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1</a:t>
            </a:r>
            <a:endParaRPr lang="en-US" altLang="zh-CN"/>
          </a:p>
        </p:txBody>
      </p:sp>
      <p:sp>
        <p:nvSpPr>
          <p:cNvPr id="17" name="文本框 16"/>
          <p:cNvSpPr txBox="1"/>
          <p:nvPr/>
        </p:nvSpPr>
        <p:spPr>
          <a:xfrm>
            <a:off x="3684905" y="1414780"/>
            <a:ext cx="1835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2</a:t>
            </a:r>
            <a:endParaRPr lang="en-US" altLang="zh-CN"/>
          </a:p>
        </p:txBody>
      </p:sp>
      <p:sp>
        <p:nvSpPr>
          <p:cNvPr id="21" name="文本框 20"/>
          <p:cNvSpPr txBox="1"/>
          <p:nvPr/>
        </p:nvSpPr>
        <p:spPr>
          <a:xfrm>
            <a:off x="4462145" y="1414780"/>
            <a:ext cx="1835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4</a:t>
            </a:r>
            <a:endParaRPr lang="en-US" altLang="zh-CN"/>
          </a:p>
        </p:txBody>
      </p:sp>
      <p:sp>
        <p:nvSpPr>
          <p:cNvPr id="22" name="文本框 21"/>
          <p:cNvSpPr txBox="1"/>
          <p:nvPr/>
        </p:nvSpPr>
        <p:spPr>
          <a:xfrm>
            <a:off x="4823460" y="1414780"/>
            <a:ext cx="1835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5</a:t>
            </a:r>
            <a:endParaRPr lang="en-US" altLang="zh-CN"/>
          </a:p>
        </p:txBody>
      </p:sp>
      <p:sp>
        <p:nvSpPr>
          <p:cNvPr id="23" name="文本框 22"/>
          <p:cNvSpPr txBox="1"/>
          <p:nvPr/>
        </p:nvSpPr>
        <p:spPr>
          <a:xfrm>
            <a:off x="5165090" y="1414780"/>
            <a:ext cx="1835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6</a:t>
            </a:r>
            <a:endParaRPr lang="en-US" altLang="zh-CN"/>
          </a:p>
        </p:txBody>
      </p:sp>
      <p:sp>
        <p:nvSpPr>
          <p:cNvPr id="24" name="文本框 23"/>
          <p:cNvSpPr txBox="1"/>
          <p:nvPr/>
        </p:nvSpPr>
        <p:spPr>
          <a:xfrm>
            <a:off x="5526405" y="1414780"/>
            <a:ext cx="1835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7</a:t>
            </a:r>
            <a:endParaRPr lang="en-US" altLang="zh-CN"/>
          </a:p>
        </p:txBody>
      </p:sp>
      <p:sp>
        <p:nvSpPr>
          <p:cNvPr id="27" name="文本框 26"/>
          <p:cNvSpPr txBox="1"/>
          <p:nvPr/>
        </p:nvSpPr>
        <p:spPr>
          <a:xfrm>
            <a:off x="4097655" y="1414780"/>
            <a:ext cx="1835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3</a:t>
            </a:r>
            <a:endParaRPr lang="en-US" altLang="zh-CN"/>
          </a:p>
        </p:txBody>
      </p:sp>
      <p:sp>
        <p:nvSpPr>
          <p:cNvPr id="29" name="文本框 28"/>
          <p:cNvSpPr txBox="1"/>
          <p:nvPr/>
        </p:nvSpPr>
        <p:spPr>
          <a:xfrm>
            <a:off x="488315" y="3673475"/>
            <a:ext cx="163195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chemeClr val="accent1"/>
                </a:solidFill>
              </a:rPr>
              <a:t>过程分析</a:t>
            </a:r>
            <a:r>
              <a:rPr lang="zh-CN" altLang="en-US"/>
              <a:t>：</a:t>
            </a:r>
            <a:endParaRPr lang="zh-CN" altLang="en-US"/>
          </a:p>
          <a:p>
            <a:endParaRPr lang="zh-CN" altLang="en-US"/>
          </a:p>
        </p:txBody>
      </p:sp>
      <p:sp>
        <p:nvSpPr>
          <p:cNvPr id="30" name="文本框 29"/>
          <p:cNvSpPr txBox="1"/>
          <p:nvPr/>
        </p:nvSpPr>
        <p:spPr>
          <a:xfrm>
            <a:off x="488315" y="4188460"/>
            <a:ext cx="10820400" cy="26930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342900" indent="-342900">
              <a:lnSpc>
                <a:spcPct val="120000"/>
              </a:lnSpc>
              <a:buFont typeface="+mj-lt"/>
              <a:buAutoNum type="arabicPeriod"/>
            </a:pPr>
            <a:r>
              <a:rPr lang="zh-CN" altLang="en-US"/>
              <a:t>在</a:t>
            </a:r>
            <a:r>
              <a:rPr lang="en-US" altLang="zh-CN"/>
              <a:t>0~1</a:t>
            </a:r>
            <a:r>
              <a:rPr lang="zh-CN" altLang="en-US"/>
              <a:t>时，初始队列长度为</a:t>
            </a:r>
            <a:r>
              <a:rPr lang="en-US" altLang="zh-CN"/>
              <a:t>0</a:t>
            </a:r>
            <a:r>
              <a:rPr lang="zh-CN" altLang="en-US"/>
              <a:t>，上游发送了时间</a:t>
            </a:r>
            <a:r>
              <a:rPr lang="en-US" altLang="zh-CN"/>
              <a:t>D</a:t>
            </a:r>
            <a:r>
              <a:rPr lang="zh-CN" altLang="en-US"/>
              <a:t>，下游未发暂停帧。</a:t>
            </a:r>
            <a:endParaRPr lang="zh-CN" altLang="en-US"/>
          </a:p>
          <a:p>
            <a:pPr marL="342900" indent="-342900">
              <a:lnSpc>
                <a:spcPct val="120000"/>
              </a:lnSpc>
              <a:buFont typeface="+mj-lt"/>
              <a:buAutoNum type="arabicPeriod"/>
            </a:pPr>
            <a:r>
              <a:rPr lang="zh-CN" altLang="en-US"/>
              <a:t>在</a:t>
            </a:r>
            <a:r>
              <a:rPr lang="en-US" altLang="zh-CN"/>
              <a:t>1</a:t>
            </a:r>
            <a:r>
              <a:rPr lang="zh-CN" altLang="en-US"/>
              <a:t>时，下游推断出，再经过一个时间</a:t>
            </a:r>
            <a:r>
              <a:rPr lang="en-US" altLang="zh-CN"/>
              <a:t>D</a:t>
            </a:r>
            <a:r>
              <a:rPr lang="zh-CN" altLang="en-US"/>
              <a:t>，上游就会发送</a:t>
            </a:r>
            <a:r>
              <a:rPr lang="en-US" altLang="zh-CN"/>
              <a:t>2D</a:t>
            </a:r>
            <a:r>
              <a:rPr lang="zh-CN" altLang="en-US"/>
              <a:t>的数据包，即</a:t>
            </a:r>
            <a:r>
              <a:rPr lang="en-US" altLang="zh-CN"/>
              <a:t>1</a:t>
            </a:r>
            <a:r>
              <a:rPr lang="zh-CN" altLang="en-US"/>
              <a:t>个</a:t>
            </a:r>
            <a:r>
              <a:rPr lang="en-US" altLang="zh-CN"/>
              <a:t>BDP</a:t>
            </a:r>
            <a:r>
              <a:rPr lang="zh-CN" altLang="en-US"/>
              <a:t>，到达缓存上限，所以立刻发送</a:t>
            </a:r>
            <a:r>
              <a:rPr lang="en-US" altLang="zh-CN"/>
              <a:t>PFC pause</a:t>
            </a:r>
            <a:r>
              <a:rPr lang="zh-CN" altLang="en-US"/>
              <a:t>帧。</a:t>
            </a:r>
            <a:endParaRPr lang="zh-CN" altLang="en-US"/>
          </a:p>
          <a:p>
            <a:pPr marL="342900" indent="-342900">
              <a:lnSpc>
                <a:spcPct val="120000"/>
              </a:lnSpc>
              <a:buFont typeface="+mj-lt"/>
              <a:buAutoNum type="arabicPeriod"/>
            </a:pPr>
            <a:r>
              <a:rPr lang="zh-CN" altLang="en-US"/>
              <a:t>在</a:t>
            </a:r>
            <a:r>
              <a:rPr lang="en-US" altLang="zh-CN"/>
              <a:t>1~2</a:t>
            </a:r>
            <a:r>
              <a:rPr lang="zh-CN" altLang="en-US"/>
              <a:t>时，</a:t>
            </a:r>
            <a:r>
              <a:rPr lang="en-US" altLang="zh-CN"/>
              <a:t>pause</a:t>
            </a:r>
            <a:r>
              <a:rPr lang="zh-CN" altLang="en-US"/>
              <a:t>帧未到达，上游继续发送了时间</a:t>
            </a:r>
            <a:r>
              <a:rPr lang="en-US" altLang="zh-CN"/>
              <a:t>D</a:t>
            </a:r>
            <a:r>
              <a:rPr lang="zh-CN" altLang="en-US"/>
              <a:t>。</a:t>
            </a:r>
            <a:endParaRPr lang="zh-CN" altLang="en-US"/>
          </a:p>
          <a:p>
            <a:pPr marL="342900" indent="-342900">
              <a:lnSpc>
                <a:spcPct val="120000"/>
              </a:lnSpc>
              <a:buFont typeface="+mj-lt"/>
              <a:buAutoNum type="arabicPeriod"/>
            </a:pPr>
            <a:r>
              <a:rPr lang="zh-CN" altLang="en-US"/>
              <a:t>在</a:t>
            </a:r>
            <a:r>
              <a:rPr lang="en-US" altLang="zh-CN"/>
              <a:t>2</a:t>
            </a:r>
            <a:r>
              <a:rPr lang="zh-CN" altLang="en-US"/>
              <a:t>时，</a:t>
            </a:r>
            <a:r>
              <a:rPr lang="en-US" altLang="zh-CN"/>
              <a:t>PFC pause</a:t>
            </a:r>
            <a:r>
              <a:rPr lang="zh-CN" altLang="en-US"/>
              <a:t>到达，</a:t>
            </a:r>
            <a:r>
              <a:rPr lang="en-US" altLang="zh-CN"/>
              <a:t> </a:t>
            </a:r>
            <a:r>
              <a:rPr lang="zh-CN" altLang="en-US"/>
              <a:t>上游暂停发送。</a:t>
            </a:r>
            <a:r>
              <a:rPr lang="en-US" altLang="zh-CN">
                <a:sym typeface="+mn-ea"/>
              </a:rPr>
              <a:t>0~1</a:t>
            </a:r>
            <a:r>
              <a:rPr lang="zh-CN" altLang="en-US">
                <a:sym typeface="+mn-ea"/>
              </a:rPr>
              <a:t>时上游发送的数据包到达，当前队列长度</a:t>
            </a:r>
            <a:r>
              <a:rPr lang="en-US" altLang="zh-CN">
                <a:sym typeface="+mn-ea"/>
              </a:rPr>
              <a:t>1/2BDP</a:t>
            </a:r>
            <a:r>
              <a:rPr lang="zh-CN" altLang="en-US">
                <a:sym typeface="+mn-ea"/>
              </a:rPr>
              <a:t>。</a:t>
            </a:r>
            <a:endParaRPr lang="zh-CN" altLang="en-US"/>
          </a:p>
          <a:p>
            <a:pPr marL="342900" indent="-342900">
              <a:lnSpc>
                <a:spcPct val="120000"/>
              </a:lnSpc>
              <a:buFont typeface="+mj-lt"/>
              <a:buAutoNum type="arabicPeriod"/>
            </a:pPr>
            <a:r>
              <a:rPr lang="zh-CN" altLang="en-US"/>
              <a:t>在</a:t>
            </a:r>
            <a:r>
              <a:rPr lang="en-US" altLang="zh-CN"/>
              <a:t>2~3</a:t>
            </a:r>
            <a:r>
              <a:rPr lang="zh-CN" altLang="en-US"/>
              <a:t>时，上游暂停发送，但链路上有飞行包。</a:t>
            </a:r>
            <a:endParaRPr lang="zh-CN" altLang="en-US"/>
          </a:p>
          <a:p>
            <a:pPr marL="342900" indent="-342900">
              <a:lnSpc>
                <a:spcPct val="120000"/>
              </a:lnSpc>
              <a:buFont typeface="+mj-lt"/>
              <a:buAutoNum type="arabicPeriod"/>
            </a:pPr>
            <a:r>
              <a:rPr lang="zh-CN" altLang="en-US"/>
              <a:t>在</a:t>
            </a:r>
            <a:r>
              <a:rPr lang="en-US" altLang="zh-CN"/>
              <a:t>3</a:t>
            </a:r>
            <a:r>
              <a:rPr lang="zh-CN" altLang="en-US"/>
              <a:t>时，</a:t>
            </a:r>
            <a:r>
              <a:rPr lang="en-US" altLang="zh-CN"/>
              <a:t>1</a:t>
            </a:r>
            <a:r>
              <a:rPr lang="en-US" altLang="zh-CN">
                <a:sym typeface="+mn-ea"/>
              </a:rPr>
              <a:t>~2</a:t>
            </a:r>
            <a:r>
              <a:rPr lang="zh-CN" altLang="en-US">
                <a:sym typeface="+mn-ea"/>
              </a:rPr>
              <a:t>时上游发送的数据包到达，当前队列长度</a:t>
            </a:r>
            <a:r>
              <a:rPr lang="en-US" altLang="zh-CN">
                <a:sym typeface="+mn-ea"/>
              </a:rPr>
              <a:t>BDP</a:t>
            </a:r>
            <a:r>
              <a:rPr lang="zh-CN" altLang="en-US">
                <a:sym typeface="+mn-ea"/>
              </a:rPr>
              <a:t>，即为上限</a:t>
            </a:r>
            <a:r>
              <a:rPr lang="en-US" altLang="zh-CN">
                <a:sym typeface="+mn-ea"/>
              </a:rPr>
              <a:t>H</a:t>
            </a:r>
            <a:r>
              <a:rPr lang="zh-CN" altLang="en-US">
                <a:sym typeface="+mn-ea"/>
              </a:rPr>
              <a:t>。</a:t>
            </a:r>
            <a:endParaRPr lang="zh-CN" altLang="en-US"/>
          </a:p>
          <a:p>
            <a:pPr marL="342900" indent="-342900">
              <a:buFont typeface="+mj-lt"/>
              <a:buAutoNum type="arabicPeriod"/>
            </a:pP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7483475" y="2397760"/>
            <a:ext cx="3928745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342900" indent="-342900">
              <a:buFont typeface="+mj-lt"/>
              <a:buAutoNum type="arabicPeriod"/>
            </a:pPr>
            <a:r>
              <a:rPr lang="en-US" altLang="zh-CN">
                <a:solidFill>
                  <a:srgbClr val="7030A0"/>
                </a:solidFill>
              </a:rPr>
              <a:t>PFC</a:t>
            </a:r>
            <a:r>
              <a:rPr lang="zh-CN" altLang="en-US">
                <a:solidFill>
                  <a:srgbClr val="7030A0"/>
                </a:solidFill>
              </a:rPr>
              <a:t>需要</a:t>
            </a:r>
            <a:r>
              <a:rPr lang="en-US" altLang="zh-CN">
                <a:solidFill>
                  <a:srgbClr val="7030A0"/>
                </a:solidFill>
              </a:rPr>
              <a:t>2</a:t>
            </a:r>
            <a:r>
              <a:rPr lang="zh-CN" altLang="en-US">
                <a:solidFill>
                  <a:srgbClr val="7030A0"/>
                </a:solidFill>
              </a:rPr>
              <a:t>个</a:t>
            </a:r>
            <a:r>
              <a:rPr lang="en-US" altLang="zh-CN">
                <a:solidFill>
                  <a:srgbClr val="7030A0"/>
                </a:solidFill>
              </a:rPr>
              <a:t>BDP</a:t>
            </a:r>
            <a:r>
              <a:rPr lang="zh-CN" altLang="en-US">
                <a:solidFill>
                  <a:srgbClr val="7030A0"/>
                </a:solidFill>
              </a:rPr>
              <a:t>的缓存，</a:t>
            </a:r>
            <a:r>
              <a:rPr lang="en-US" altLang="zh-CN">
                <a:solidFill>
                  <a:srgbClr val="7030A0"/>
                </a:solidFill>
              </a:rPr>
              <a:t>Bifrost</a:t>
            </a:r>
            <a:r>
              <a:rPr lang="zh-CN" altLang="en-US">
                <a:solidFill>
                  <a:srgbClr val="7030A0"/>
                </a:solidFill>
              </a:rPr>
              <a:t>只需要</a:t>
            </a:r>
            <a:r>
              <a:rPr lang="en-US" altLang="zh-CN">
                <a:solidFill>
                  <a:srgbClr val="7030A0"/>
                </a:solidFill>
              </a:rPr>
              <a:t>1</a:t>
            </a:r>
            <a:r>
              <a:rPr lang="zh-CN" altLang="en-US">
                <a:solidFill>
                  <a:srgbClr val="7030A0"/>
                </a:solidFill>
              </a:rPr>
              <a:t>个</a:t>
            </a:r>
            <a:r>
              <a:rPr lang="en-US" altLang="zh-CN">
                <a:solidFill>
                  <a:srgbClr val="7030A0"/>
                </a:solidFill>
              </a:rPr>
              <a:t>BDP</a:t>
            </a:r>
            <a:r>
              <a:rPr lang="zh-CN" altLang="en-US">
                <a:solidFill>
                  <a:srgbClr val="7030A0"/>
                </a:solidFill>
              </a:rPr>
              <a:t>的缓存。</a:t>
            </a:r>
            <a:endParaRPr lang="zh-CN" altLang="en-US">
              <a:solidFill>
                <a:srgbClr val="7030A0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altLang="zh-CN">
                <a:solidFill>
                  <a:srgbClr val="7030A0"/>
                </a:solidFill>
              </a:rPr>
              <a:t>Bifrost</a:t>
            </a:r>
            <a:r>
              <a:rPr lang="zh-CN" altLang="en-US">
                <a:solidFill>
                  <a:srgbClr val="7030A0"/>
                </a:solidFill>
              </a:rPr>
              <a:t>实现下游快速响应，比</a:t>
            </a:r>
            <a:r>
              <a:rPr lang="en-US" altLang="zh-CN">
                <a:solidFill>
                  <a:srgbClr val="7030A0"/>
                </a:solidFill>
              </a:rPr>
              <a:t>PFC</a:t>
            </a:r>
            <a:r>
              <a:rPr lang="zh-CN" altLang="en-US">
                <a:solidFill>
                  <a:srgbClr val="7030A0"/>
                </a:solidFill>
              </a:rPr>
              <a:t>提前</a:t>
            </a:r>
            <a:r>
              <a:rPr lang="en-US" altLang="zh-CN">
                <a:solidFill>
                  <a:srgbClr val="7030A0"/>
                </a:solidFill>
              </a:rPr>
              <a:t>1D</a:t>
            </a:r>
            <a:r>
              <a:rPr lang="zh-CN" altLang="en-US">
                <a:solidFill>
                  <a:srgbClr val="7030A0"/>
                </a:solidFill>
              </a:rPr>
              <a:t>响应拥塞。</a:t>
            </a:r>
            <a:endParaRPr lang="zh-CN" altLang="en-US">
              <a:solidFill>
                <a:srgbClr val="7030A0"/>
              </a:solidFill>
            </a:endParaRPr>
          </a:p>
          <a:p>
            <a:pPr marL="342900" indent="-342900">
              <a:buFont typeface="+mj-lt"/>
              <a:buAutoNum type="arabicPeriod"/>
            </a:pPr>
            <a:endParaRPr lang="zh-CN" altLang="en-US">
              <a:solidFill>
                <a:srgbClr val="7030A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0" grpId="0"/>
      <p:bldP spid="29" grpId="1"/>
      <p:bldP spid="30" grpId="1"/>
      <p:bldP spid="4" grpId="0"/>
      <p:bldP spid="4" grpId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226060" y="130175"/>
            <a:ext cx="299847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/>
              <a:t>Bifrost</a:t>
            </a:r>
            <a:r>
              <a:rPr lang="zh-CN" altLang="en-US" sz="2000"/>
              <a:t>设计</a:t>
            </a:r>
            <a:endParaRPr lang="zh-CN" altLang="en-US" sz="2000"/>
          </a:p>
        </p:txBody>
      </p:sp>
      <p:cxnSp>
        <p:nvCxnSpPr>
          <p:cNvPr id="3" name="直接连接符 2"/>
          <p:cNvCxnSpPr/>
          <p:nvPr/>
        </p:nvCxnSpPr>
        <p:spPr>
          <a:xfrm flipV="1">
            <a:off x="174625" y="539115"/>
            <a:ext cx="3641090" cy="36830"/>
          </a:xfrm>
          <a:prstGeom prst="line">
            <a:avLst/>
          </a:prstGeom>
          <a:ln w="31750">
            <a:gradFill>
              <a:gsLst>
                <a:gs pos="0">
                  <a:schemeClr val="accent1">
                    <a:hueOff val="-4200000"/>
                  </a:schemeClr>
                </a:gs>
                <a:gs pos="100000">
                  <a:schemeClr val="accent1"/>
                </a:gs>
              </a:gsLst>
            </a:gra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2" name="文本框 31"/>
          <p:cNvSpPr txBox="1"/>
          <p:nvPr/>
        </p:nvSpPr>
        <p:spPr>
          <a:xfrm>
            <a:off x="727710" y="746125"/>
            <a:ext cx="81527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如何判断</a:t>
            </a:r>
            <a:r>
              <a:rPr lang="en-US" altLang="zh-CN"/>
              <a:t>PFC pause</a:t>
            </a:r>
            <a:r>
              <a:rPr lang="zh-CN" altLang="en-US"/>
              <a:t>帧是否发送，并精确计算暂停时间？</a:t>
            </a:r>
            <a:endParaRPr lang="zh-CN" altLang="en-US"/>
          </a:p>
        </p:txBody>
      </p:sp>
      <p:sp>
        <p:nvSpPr>
          <p:cNvPr id="33" name="文本框 32"/>
          <p:cNvSpPr txBox="1"/>
          <p:nvPr/>
        </p:nvSpPr>
        <p:spPr>
          <a:xfrm>
            <a:off x="520065" y="1205865"/>
            <a:ext cx="295021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chemeClr val="accent1"/>
                </a:solidFill>
              </a:rPr>
              <a:t>授权字节</a:t>
            </a:r>
            <a:r>
              <a:rPr lang="en-US" altLang="zh-CN" b="1">
                <a:solidFill>
                  <a:schemeClr val="accent1"/>
                </a:solidFill>
              </a:rPr>
              <a:t>c</a:t>
            </a:r>
            <a:endParaRPr lang="en-US" altLang="zh-CN" b="1">
              <a:solidFill>
                <a:schemeClr val="accent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4" name="文本框 33"/>
              <p:cNvSpPr txBox="1"/>
              <p:nvPr/>
            </p:nvSpPr>
            <p:spPr>
              <a:xfrm>
                <a:off x="980440" y="1574165"/>
                <a:ext cx="9975215" cy="9220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marL="285750" indent="-285750">
                  <a:buFont typeface="Wingdings" panose="05000000000000000000" charset="0"/>
                  <a:buChar char="Ø"/>
                </a:pPr>
                <a:r>
                  <a:rPr lang="en-US" altLang="zh-CN">
                    <a:latin typeface="Times New Roman" panose="02020603050405020304" charset="0"/>
                    <a:cs typeface="Times New Roman" panose="02020603050405020304" charset="0"/>
                  </a:rPr>
                  <a:t>c</a:t>
                </a:r>
                <a:r>
                  <a:rPr lang="zh-CN" altLang="en-US">
                    <a:latin typeface="Times New Roman" panose="02020603050405020304" charset="0"/>
                    <a:cs typeface="Times New Roman" panose="02020603050405020304" charset="0"/>
                  </a:rPr>
                  <a:t>用来表示上游在一个</a:t>
                </a:r>
                <a:r>
                  <a:rPr lang="en-US" altLang="zh-CN">
                    <a:latin typeface="Times New Roman" panose="02020603050405020304" charset="0"/>
                    <a:cs typeface="Times New Roman" panose="02020603050405020304" charset="0"/>
                  </a:rPr>
                  <a:t>RTT</a:t>
                </a:r>
                <a:r>
                  <a:rPr lang="zh-CN" altLang="en-US">
                    <a:latin typeface="Times New Roman" panose="02020603050405020304" charset="0"/>
                    <a:cs typeface="Times New Roman" panose="02020603050405020304" charset="0"/>
                  </a:rPr>
                  <a:t>后的时隙</a:t>
                </a:r>
                <a:r>
                  <a:rPr lang="en-US" altLang="zh-CN">
                    <a:latin typeface="Times New Roman" panose="02020603050405020304" charset="0"/>
                    <a:cs typeface="Times New Roman" panose="02020603050405020304" charset="0"/>
                  </a:rPr>
                  <a:t>T</a:t>
                </a:r>
                <a:r>
                  <a:rPr lang="zh-CN" altLang="en-US">
                    <a:latin typeface="Times New Roman" panose="02020603050405020304" charset="0"/>
                    <a:cs typeface="Times New Roman" panose="02020603050405020304" charset="0"/>
                  </a:rPr>
                  <a:t>里允许发送的字节数，且授权</a:t>
                </a:r>
                <a:r>
                  <a:rPr lang="en-US" altLang="zh-CN">
                    <a:latin typeface="Times New Roman" panose="02020603050405020304" charset="0"/>
                    <a:cs typeface="Times New Roman" panose="02020603050405020304" charset="0"/>
                  </a:rPr>
                  <a:t>c</a:t>
                </a:r>
                <a:r>
                  <a:rPr lang="zh-CN" altLang="en-US">
                    <a:latin typeface="Times New Roman" panose="02020603050405020304" charset="0"/>
                    <a:cs typeface="Times New Roman" panose="02020603050405020304" charset="0"/>
                  </a:rPr>
                  <a:t>不超过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𝑅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𝑠</m:t>
                        </m:r>
                      </m:sub>
                    </m:sSub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∗𝑇</m:t>
                    </m:r>
                    <m:r>
                      <a:rPr lang="en-US" altLang="zh-CN" i="1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。</m:t>
                    </m:r>
                  </m:oMath>
                </a14:m>
                <a:endParaRPr lang="en-US" altLang="zh-CN" i="1">
                  <a:latin typeface="Times New Roman" panose="02020603050405020304" charset="0"/>
                  <a:cs typeface="Times New Roman" panose="02020603050405020304" charset="0"/>
                </a:endParaRPr>
              </a:p>
              <a:p>
                <a:pPr marL="285750" indent="-285750">
                  <a:buFont typeface="Wingdings" panose="05000000000000000000" charset="0"/>
                  <a:buChar char="Ø"/>
                </a:pPr>
                <a:r>
                  <a:rPr lang="en-US" altLang="zh-CN">
                    <a:latin typeface="Times New Roman" panose="02020603050405020304" charset="0"/>
                    <a:cs typeface="Times New Roman" panose="02020603050405020304" charset="0"/>
                  </a:rPr>
                  <a:t>H</a:t>
                </a:r>
                <a:r>
                  <a:rPr lang="zh-CN" altLang="en-US">
                    <a:latin typeface="Times New Roman" panose="02020603050405020304" charset="0"/>
                    <a:cs typeface="Times New Roman" panose="02020603050405020304" charset="0"/>
                  </a:rPr>
                  <a:t>为交换机缓存最大值，</a:t>
                </a:r>
                <a:r>
                  <a:rPr lang="en-US" altLang="zh-CN">
                    <a:latin typeface="Times New Roman" panose="02020603050405020304" charset="0"/>
                    <a:cs typeface="Times New Roman" panose="02020603050405020304" charset="0"/>
                  </a:rPr>
                  <a:t>L</a:t>
                </a:r>
                <a:r>
                  <a:rPr lang="zh-CN" altLang="en-US">
                    <a:latin typeface="Times New Roman" panose="02020603050405020304" charset="0"/>
                    <a:cs typeface="Times New Roman" panose="02020603050405020304" charset="0"/>
                  </a:rPr>
                  <a:t>为交换机当前队列长度，</a:t>
                </a:r>
                <a:r>
                  <a:rPr lang="en-US" altLang="zh-CN">
                    <a:latin typeface="Times New Roman" panose="02020603050405020304" charset="0"/>
                    <a:cs typeface="Times New Roman" panose="02020603050405020304" charset="0"/>
                  </a:rPr>
                  <a:t>F</a:t>
                </a:r>
                <a:r>
                  <a:rPr lang="zh-CN" altLang="en-US">
                    <a:latin typeface="Times New Roman" panose="02020603050405020304" charset="0"/>
                    <a:cs typeface="Times New Roman" panose="02020603050405020304" charset="0"/>
                  </a:rPr>
                  <a:t>为后面一个</a:t>
                </a:r>
                <a:r>
                  <a:rPr lang="en-US" altLang="zh-CN">
                    <a:latin typeface="Times New Roman" panose="02020603050405020304" charset="0"/>
                    <a:cs typeface="Times New Roman" panose="02020603050405020304" charset="0"/>
                  </a:rPr>
                  <a:t>RTT+T</a:t>
                </a:r>
                <a:r>
                  <a:rPr lang="zh-CN" altLang="en-US">
                    <a:latin typeface="Times New Roman" panose="02020603050405020304" charset="0"/>
                    <a:cs typeface="Times New Roman" panose="02020603050405020304" charset="0"/>
                  </a:rPr>
                  <a:t>虚拟输入字节数，所以在一个</a:t>
                </a:r>
                <a:r>
                  <a:rPr lang="en-US" altLang="zh-CN">
                    <a:latin typeface="Times New Roman" panose="02020603050405020304" charset="0"/>
                    <a:cs typeface="Times New Roman" panose="02020603050405020304" charset="0"/>
                  </a:rPr>
                  <a:t>RTT</a:t>
                </a:r>
                <a:r>
                  <a:rPr lang="zh-CN" altLang="en-US">
                    <a:latin typeface="Times New Roman" panose="02020603050405020304" charset="0"/>
                    <a:cs typeface="Times New Roman" panose="02020603050405020304" charset="0"/>
                  </a:rPr>
                  <a:t>后时隙</a:t>
                </a:r>
                <a:r>
                  <a:rPr lang="en-US" altLang="zh-CN">
                    <a:latin typeface="Times New Roman" panose="02020603050405020304" charset="0"/>
                    <a:cs typeface="Times New Roman" panose="02020603050405020304" charset="0"/>
                  </a:rPr>
                  <a:t>T</a:t>
                </a:r>
                <a:r>
                  <a:rPr lang="zh-CN" altLang="en-US">
                    <a:latin typeface="Times New Roman" panose="02020603050405020304" charset="0"/>
                    <a:cs typeface="Times New Roman" panose="02020603050405020304" charset="0"/>
                  </a:rPr>
                  <a:t>内，最多传入字节数为</a:t>
                </a:r>
                <a:r>
                  <a:rPr lang="en-US" altLang="zh-CN">
                    <a:latin typeface="Times New Roman" panose="02020603050405020304" charset="0"/>
                    <a:cs typeface="Times New Roman" panose="02020603050405020304" charset="0"/>
                  </a:rPr>
                  <a:t>H-L-F</a:t>
                </a:r>
                <a:r>
                  <a:rPr lang="zh-CN" altLang="en-US">
                    <a:latin typeface="Times New Roman" panose="02020603050405020304" charset="0"/>
                    <a:cs typeface="Times New Roman" panose="02020603050405020304" charset="0"/>
                  </a:rPr>
                  <a:t>。</a:t>
                </a:r>
                <a:endParaRPr lang="zh-CN" altLang="en-US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</mc:Choice>
        <mc:Fallback>
          <p:sp>
            <p:nvSpPr>
              <p:cNvPr id="34" name="文本框 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0440" y="1574165"/>
                <a:ext cx="9975215" cy="922020"/>
              </a:xfrm>
              <a:prstGeom prst="rect">
                <a:avLst/>
              </a:prstGeom>
              <a:blipFill rotWithShape="1">
                <a:blip r:embed="rId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5" name="文本框 34"/>
              <p:cNvSpPr txBox="1"/>
              <p:nvPr/>
            </p:nvSpPr>
            <p:spPr>
              <a:xfrm>
                <a:off x="2528570" y="2554605"/>
                <a:ext cx="4873625" cy="368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𝑐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=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𝑚𝑖𝑛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(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𝑅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𝑠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∗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𝑇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, 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𝐻−𝐿−𝐹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)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35" name="文本框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28570" y="2554605"/>
                <a:ext cx="4873625" cy="368300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7" name="文本框 36"/>
              <p:cNvSpPr txBox="1"/>
              <p:nvPr/>
            </p:nvSpPr>
            <p:spPr>
              <a:xfrm>
                <a:off x="1147445" y="2955925"/>
                <a:ext cx="9356090" cy="5194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zh-CN" altLang="en-US"/>
                  <a:t>每个</a:t>
                </a:r>
                <a:r>
                  <a:rPr lang="en-US" altLang="zh-CN"/>
                  <a:t>T</a:t>
                </a:r>
                <a:r>
                  <a:rPr lang="zh-CN" altLang="en-US"/>
                  <a:t>计算一下暂停时间</a:t>
                </a:r>
                <a:r>
                  <a:rPr lang="en-US" altLang="zh-CN"/>
                  <a:t> 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𝑝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=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𝑇−</m:t>
                    </m:r>
                    <m:f>
                      <m:f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fPr>
                      <m:num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𝐶</m:t>
                        </m:r>
                      </m:num>
                      <m:den>
                        <m:sSub>
                          <m:sSubPr>
                            <m:ctrlP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𝑠</m:t>
                            </m:r>
                          </m:sub>
                        </m:sSub>
                      </m:den>
                    </m:f>
                  </m:oMath>
                </a14:m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，如果</a:t>
                </a:r>
                <a:r>
                  <a:rPr lang="en-US" altLang="zh-CN">
                    <a:latin typeface="Cambria Math" panose="02040503050406030204" charset="0"/>
                    <a:cs typeface="Cambria Math" panose="02040503050406030204" charset="0"/>
                  </a:rPr>
                  <a:t>p&gt;0</a:t>
                </a:r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，那就立刻发送暂停帧。</a:t>
                </a:r>
                <a:endParaRPr lang="zh-CN" altLang="en-US"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37" name="文本框 3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7445" y="2955925"/>
                <a:ext cx="9356090" cy="519430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文本框 37"/>
          <p:cNvSpPr txBox="1"/>
          <p:nvPr/>
        </p:nvSpPr>
        <p:spPr>
          <a:xfrm>
            <a:off x="593725" y="3541395"/>
            <a:ext cx="295021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chemeClr val="accent1"/>
                </a:solidFill>
              </a:rPr>
              <a:t>虚拟输入字节数</a:t>
            </a:r>
            <a:r>
              <a:rPr lang="en-US" altLang="zh-CN" b="1">
                <a:solidFill>
                  <a:schemeClr val="accent1"/>
                </a:solidFill>
              </a:rPr>
              <a:t>F(t)</a:t>
            </a:r>
            <a:endParaRPr lang="en-US" altLang="zh-CN" b="1">
              <a:solidFill>
                <a:schemeClr val="accent1"/>
              </a:solidFill>
            </a:endParaRPr>
          </a:p>
        </p:txBody>
      </p:sp>
      <p:sp>
        <p:nvSpPr>
          <p:cNvPr id="39" name="文本框 38"/>
          <p:cNvSpPr txBox="1"/>
          <p:nvPr/>
        </p:nvSpPr>
        <p:spPr>
          <a:xfrm>
            <a:off x="1236980" y="3975735"/>
            <a:ext cx="74561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chemeClr val="tx1"/>
                </a:solidFill>
                <a:sym typeface="+mn-ea"/>
              </a:rPr>
              <a:t>下游端口预测在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t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到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t+RTT+T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时间内接收的数目为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F(t)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。</a:t>
            </a:r>
            <a:endParaRPr lang="zh-CN" altLang="en-US">
              <a:solidFill>
                <a:schemeClr val="tx1"/>
              </a:solidFill>
              <a:sym typeface="+mn-ea"/>
            </a:endParaRPr>
          </a:p>
        </p:txBody>
      </p:sp>
      <p:pic>
        <p:nvPicPr>
          <p:cNvPr id="40" name="图片 3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2510" y="4410075"/>
            <a:ext cx="5114925" cy="1971675"/>
          </a:xfrm>
          <a:prstGeom prst="rect">
            <a:avLst/>
          </a:prstGeom>
        </p:spPr>
      </p:pic>
      <p:sp>
        <p:nvSpPr>
          <p:cNvPr id="41" name="文本框 40"/>
          <p:cNvSpPr txBox="1"/>
          <p:nvPr/>
        </p:nvSpPr>
        <p:spPr>
          <a:xfrm>
            <a:off x="6719570" y="5316855"/>
            <a:ext cx="48126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chemeClr val="accent1"/>
                </a:solidFill>
              </a:rPr>
              <a:t>初始时：</a:t>
            </a:r>
            <a:endParaRPr lang="zh-CN" altLang="en-US" b="1">
              <a:solidFill>
                <a:schemeClr val="accent1"/>
              </a:solidFill>
            </a:endParaRPr>
          </a:p>
        </p:txBody>
      </p:sp>
      <p:pic>
        <p:nvPicPr>
          <p:cNvPr id="42" name="图片 4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93660" y="5396865"/>
            <a:ext cx="1847850" cy="285750"/>
          </a:xfrm>
          <a:prstGeom prst="rect">
            <a:avLst/>
          </a:prstGeom>
        </p:spPr>
      </p:pic>
      <p:sp>
        <p:nvSpPr>
          <p:cNvPr id="43" name="文本框 42"/>
          <p:cNvSpPr txBox="1"/>
          <p:nvPr/>
        </p:nvSpPr>
        <p:spPr>
          <a:xfrm>
            <a:off x="6436360" y="4600575"/>
            <a:ext cx="4627880" cy="5626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r</a:t>
            </a:r>
            <a:r>
              <a:rPr lang="zh-CN" altLang="en-US"/>
              <a:t>：下游计数器计算从</a:t>
            </a:r>
            <a:r>
              <a:rPr lang="en-US" altLang="zh-CN"/>
              <a:t>t-T</a:t>
            </a:r>
            <a:r>
              <a:rPr lang="zh-CN" altLang="en-US"/>
              <a:t>到</a:t>
            </a:r>
            <a:r>
              <a:rPr lang="en-US" altLang="zh-CN"/>
              <a:t>t</a:t>
            </a:r>
            <a:r>
              <a:rPr lang="zh-CN" altLang="en-US"/>
              <a:t>到达字节数。</a:t>
            </a:r>
            <a:endParaRPr lang="zh-CN" altLang="en-US"/>
          </a:p>
          <a:p>
            <a:r>
              <a:rPr lang="en-US" altLang="zh-CN"/>
              <a:t>c</a:t>
            </a:r>
            <a:r>
              <a:rPr lang="zh-CN" altLang="en-US"/>
              <a:t>：授权字节数。</a:t>
            </a:r>
            <a:endParaRPr lang="zh-CN" altLang="en-US"/>
          </a:p>
          <a:p>
            <a:endParaRPr lang="zh-CN" altLang="en-US"/>
          </a:p>
        </p:txBody>
      </p:sp>
      <p:sp>
        <p:nvSpPr>
          <p:cNvPr id="44" name="文本框 43"/>
          <p:cNvSpPr txBox="1"/>
          <p:nvPr/>
        </p:nvSpPr>
        <p:spPr>
          <a:xfrm>
            <a:off x="6497955" y="5704205"/>
            <a:ext cx="11874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chemeClr val="accent1"/>
                </a:solidFill>
              </a:rPr>
              <a:t>更新逻辑：</a:t>
            </a:r>
            <a:endParaRPr lang="zh-CN" altLang="en-US" b="1">
              <a:solidFill>
                <a:schemeClr val="accent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5" name="文本框 44"/>
              <p:cNvSpPr txBox="1"/>
              <p:nvPr/>
            </p:nvSpPr>
            <p:spPr>
              <a:xfrm>
                <a:off x="6620510" y="3949700"/>
                <a:ext cx="4291330" cy="368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𝐹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(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𝑡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)=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𝐹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(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𝑡−𝑇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)+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𝑐−𝑟</m:t>
                      </m:r>
                    </m:oMath>
                  </m:oMathPara>
                </a14:m>
                <a:endParaRPr lang="en-US" altLang="zh-CN"/>
              </a:p>
            </p:txBody>
          </p:sp>
        </mc:Choice>
        <mc:Fallback>
          <p:sp>
            <p:nvSpPr>
              <p:cNvPr id="45" name="文本框 4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20510" y="3949700"/>
                <a:ext cx="4291330" cy="368300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6" name="图片 4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85405" y="5771515"/>
            <a:ext cx="3609975" cy="27622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/>
      <p:bldP spid="39" grpId="0"/>
      <p:bldP spid="41" grpId="0"/>
      <p:bldP spid="43" grpId="0"/>
      <p:bldP spid="44" grpId="0"/>
      <p:bldP spid="45" grpId="0"/>
      <p:bldP spid="38" grpId="1"/>
      <p:bldP spid="39" grpId="1"/>
      <p:bldP spid="41" grpId="1"/>
      <p:bldP spid="43" grpId="1"/>
      <p:bldP spid="44" grpId="1"/>
      <p:bldP spid="45" grpId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226060" y="130175"/>
            <a:ext cx="299847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/>
              <a:t>Bifrost</a:t>
            </a:r>
            <a:r>
              <a:rPr lang="zh-CN" altLang="en-US" sz="2000"/>
              <a:t>设计</a:t>
            </a:r>
            <a:endParaRPr lang="zh-CN" altLang="en-US" sz="2000"/>
          </a:p>
        </p:txBody>
      </p:sp>
      <p:cxnSp>
        <p:nvCxnSpPr>
          <p:cNvPr id="3" name="直接连接符 2"/>
          <p:cNvCxnSpPr/>
          <p:nvPr/>
        </p:nvCxnSpPr>
        <p:spPr>
          <a:xfrm flipV="1">
            <a:off x="174625" y="539115"/>
            <a:ext cx="3641090" cy="36830"/>
          </a:xfrm>
          <a:prstGeom prst="line">
            <a:avLst/>
          </a:prstGeom>
          <a:ln w="31750">
            <a:gradFill>
              <a:gsLst>
                <a:gs pos="0">
                  <a:schemeClr val="accent1">
                    <a:hueOff val="-4200000"/>
                  </a:schemeClr>
                </a:gs>
                <a:gs pos="100000">
                  <a:schemeClr val="accent1"/>
                </a:gs>
              </a:gsLst>
            </a:gra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3" name="文本框 32"/>
          <p:cNvSpPr txBox="1"/>
          <p:nvPr/>
        </p:nvSpPr>
        <p:spPr>
          <a:xfrm>
            <a:off x="394335" y="837565"/>
            <a:ext cx="45059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>
                <a:solidFill>
                  <a:schemeClr val="accent1"/>
                </a:solidFill>
              </a:rPr>
              <a:t>Bifrost</a:t>
            </a:r>
            <a:r>
              <a:rPr lang="zh-CN" altLang="en-US" b="1">
                <a:solidFill>
                  <a:schemeClr val="accent1"/>
                </a:solidFill>
              </a:rPr>
              <a:t>面临的特殊情况</a:t>
            </a:r>
            <a:r>
              <a:rPr lang="en-US" altLang="zh-CN" b="1">
                <a:solidFill>
                  <a:schemeClr val="accent1"/>
                </a:solidFill>
              </a:rPr>
              <a:t>——</a:t>
            </a:r>
            <a:r>
              <a:rPr lang="zh-CN" altLang="en-US" b="1">
                <a:solidFill>
                  <a:schemeClr val="accent1"/>
                </a:solidFill>
              </a:rPr>
              <a:t>暂停帧泄露</a:t>
            </a:r>
            <a:endParaRPr lang="zh-CN" altLang="en-US" b="1">
              <a:solidFill>
                <a:schemeClr val="accent1"/>
              </a:solidFill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744855" y="1270000"/>
            <a:ext cx="1009523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>
              <a:buFont typeface="+mj-ea"/>
              <a:buNone/>
            </a:pPr>
            <a:r>
              <a:rPr lang="zh-CN" altLang="en-US"/>
              <a:t>单帧的暂停时间被限制在时隙</a:t>
            </a:r>
            <a:r>
              <a:rPr lang="en-US" altLang="zh-CN"/>
              <a:t>T</a:t>
            </a:r>
            <a:r>
              <a:rPr lang="zh-CN" altLang="en-US"/>
              <a:t>内，并以周期</a:t>
            </a:r>
            <a:r>
              <a:rPr lang="en-US" altLang="zh-CN"/>
              <a:t>T</a:t>
            </a:r>
            <a:r>
              <a:rPr lang="zh-CN" altLang="en-US"/>
              <a:t>发送。如果暂停帧被前面帧阻碍或光纤延迟，暂停帧到达上游后，上游已经发送数据包，那到达的数据包比预期多。这被称为暂停帧泄露。</a:t>
            </a:r>
            <a:endParaRPr lang="zh-CN" altLang="en-US"/>
          </a:p>
          <a:p>
            <a:pPr marL="342900" indent="-342900">
              <a:buFont typeface="+mj-ea"/>
              <a:buAutoNum type="circleNumDbPlain"/>
            </a:pPr>
            <a:endParaRPr lang="zh-CN" altLang="en-US"/>
          </a:p>
        </p:txBody>
      </p:sp>
      <p:sp>
        <p:nvSpPr>
          <p:cNvPr id="10" name="下箭头 9"/>
          <p:cNvSpPr/>
          <p:nvPr/>
        </p:nvSpPr>
        <p:spPr>
          <a:xfrm>
            <a:off x="3998595" y="2031365"/>
            <a:ext cx="403860" cy="488950"/>
          </a:xfrm>
          <a:prstGeom prst="downArrow">
            <a:avLst/>
          </a:prstGeom>
        </p:spPr>
        <p:style>
          <a:lnRef idx="0">
            <a:srgbClr val="FFFFFF"/>
          </a:lnRef>
          <a:fillRef idx="1">
            <a:schemeClr val="accent4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4503420" y="2031365"/>
            <a:ext cx="19570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chemeClr val="accent4"/>
                </a:solidFill>
              </a:rPr>
              <a:t>解决方案</a:t>
            </a:r>
            <a:endParaRPr lang="zh-CN" altLang="en-US">
              <a:solidFill>
                <a:schemeClr val="accent4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文本框 11"/>
              <p:cNvSpPr txBox="1"/>
              <p:nvPr/>
            </p:nvSpPr>
            <p:spPr>
              <a:xfrm>
                <a:off x="822325" y="2520315"/>
                <a:ext cx="10017760" cy="6451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zh-CN" altLang="en-US"/>
                  <a:t>正常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𝐿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+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𝐹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&lt;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𝐻</m:t>
                    </m:r>
                  </m:oMath>
                </a14:m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，如果暂停帧泄露，</a:t>
                </a:r>
                <a:r>
                  <a:rPr lang="en-US" altLang="zh-CN">
                    <a:latin typeface="Cambria Math" panose="02040503050406030204" charset="0"/>
                    <a:cs typeface="Cambria Math" panose="02040503050406030204" charset="0"/>
                  </a:rPr>
                  <a:t>L</a:t>
                </a:r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变长，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𝐿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+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𝐹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&gt;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𝐻</m:t>
                    </m:r>
                  </m:oMath>
                </a14:m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。因此</a:t>
                </a:r>
                <a:r>
                  <a:rPr lang="en-US" altLang="zh-CN">
                    <a:latin typeface="Cambria Math" panose="02040503050406030204" charset="0"/>
                    <a:cs typeface="Cambria Math" panose="02040503050406030204" charset="0"/>
                  </a:rPr>
                  <a:t>Bifrost</a:t>
                </a:r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每隔</a:t>
                </a:r>
                <a:r>
                  <a:rPr lang="en-US" altLang="zh-CN">
                    <a:latin typeface="Cambria Math" panose="02040503050406030204" charset="0"/>
                    <a:cs typeface="Cambria Math" panose="02040503050406030204" charset="0"/>
                  </a:rPr>
                  <a:t>k</a:t>
                </a:r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个时隙就要检查一遍是否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𝐿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+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𝐹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&gt;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𝐻</m:t>
                    </m:r>
                  </m:oMath>
                </a14:m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，设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𝐿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+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𝐹−𝐻</m:t>
                    </m:r>
                  </m:oMath>
                </a14:m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为过量授权，在后面计算授权</a:t>
                </a:r>
                <a:r>
                  <a:rPr lang="en-US" altLang="zh-CN">
                    <a:latin typeface="Cambria Math" panose="02040503050406030204" charset="0"/>
                    <a:cs typeface="Cambria Math" panose="02040503050406030204" charset="0"/>
                  </a:rPr>
                  <a:t>c</a:t>
                </a:r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时要减去过量授权，过程如下</a:t>
                </a:r>
                <a:endParaRPr lang="zh-CN" altLang="en-US"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12" name="文本框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2325" y="2520315"/>
                <a:ext cx="10017760" cy="645160"/>
              </a:xfrm>
              <a:prstGeom prst="rect">
                <a:avLst/>
              </a:prstGeom>
              <a:blipFill rotWithShape="1">
                <a:blip r:embed="rId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" name="图片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3410" y="3493770"/>
            <a:ext cx="4829175" cy="112395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4" name="文本框 13"/>
              <p:cNvSpPr txBox="1"/>
              <p:nvPr/>
            </p:nvSpPr>
            <p:spPr>
              <a:xfrm>
                <a:off x="1094105" y="5144770"/>
                <a:ext cx="8822055" cy="9220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zh-CN" altLang="en-US"/>
                  <a:t>为了解决暂停帧问题，还需要预留另一部分小缓冲区防止队列溢出。每隔</a:t>
                </a:r>
                <a:r>
                  <a:rPr lang="en-US" altLang="zh-CN"/>
                  <a:t>k</a:t>
                </a:r>
                <a:r>
                  <a:rPr lang="zh-CN" altLang="en-US"/>
                  <a:t>个时隙检查一下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𝐿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+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𝐹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−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𝐻</m:t>
                    </m:r>
                  </m:oMath>
                </a14:m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，最坏情况是每</a:t>
                </a:r>
                <a:r>
                  <a:rPr lang="en-US" altLang="zh-CN">
                    <a:latin typeface="Cambria Math" panose="02040503050406030204" charset="0"/>
                    <a:cs typeface="Cambria Math" panose="02040503050406030204" charset="0"/>
                  </a:rPr>
                  <a:t>k</a:t>
                </a:r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帧都要等前面数据包（</a:t>
                </a:r>
                <a:r>
                  <a:rPr lang="en-US" altLang="zh-CN">
                    <a:latin typeface="Cambria Math" panose="02040503050406030204" charset="0"/>
                    <a:cs typeface="Cambria Math" panose="02040503050406030204" charset="0"/>
                  </a:rPr>
                  <a:t>MTU</a:t>
                </a:r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）完成传输，所以需要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𝐿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+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𝐹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−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𝐻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=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𝑘∗𝑀𝑇𝑈</m:t>
                    </m:r>
                  </m:oMath>
                </a14:m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，所以需要预留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𝑘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∗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𝑀𝑇𝑈</m:t>
                    </m:r>
                  </m:oMath>
                </a14:m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空间。</a:t>
                </a:r>
                <a:endParaRPr lang="zh-CN" altLang="en-US"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14" name="文本框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4105" y="5144770"/>
                <a:ext cx="8822055" cy="922020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0" grpId="0" animBg="1"/>
      <p:bldP spid="12" grpId="0"/>
      <p:bldP spid="11" grpId="1"/>
      <p:bldP spid="10" grpId="1" animBg="1"/>
      <p:bldP spid="12" grpId="1"/>
      <p:bldP spid="14" grpId="0"/>
      <p:bldP spid="14" grpId="1"/>
    </p:bldLst>
  </p:timing>
</p:sld>
</file>

<file path=ppt/tags/tag1.xml><?xml version="1.0" encoding="utf-8"?>
<p:tagLst xmlns:p="http://schemas.openxmlformats.org/presentationml/2006/main">
  <p:tag name="KSO_WM_DIAGRAM_VIRTUALLY_FRAME" val="{&quot;height&quot;:126.6,&quot;left&quot;:90.2,&quot;top&quot;:367,&quot;width&quot;:810.7}"/>
</p:tagLst>
</file>

<file path=ppt/tags/tag2.xml><?xml version="1.0" encoding="utf-8"?>
<p:tagLst xmlns:p="http://schemas.openxmlformats.org/presentationml/2006/main">
  <p:tag name="KSO_WM_DIAGRAM_VIRTUALLY_FRAME" val="{&quot;height&quot;:126.6,&quot;left&quot;:90.2,&quot;top&quot;:367,&quot;width&quot;:810.7}"/>
</p:tagLst>
</file>

<file path=ppt/tags/tag3.xml><?xml version="1.0" encoding="utf-8"?>
<p:tagLst xmlns:p="http://schemas.openxmlformats.org/presentationml/2006/main">
  <p:tag name="KSO_WM_DIAGRAM_VIRTUALLY_FRAME" val="{&quot;height&quot;:126.6,&quot;left&quot;:90.2,&quot;top&quot;:367,&quot;width&quot;:810.7}"/>
</p:tagLst>
</file>

<file path=ppt/tags/tag4.xml><?xml version="1.0" encoding="utf-8"?>
<p:tagLst xmlns:p="http://schemas.openxmlformats.org/presentationml/2006/main">
  <p:tag name="KSO_WM_DIAGRAM_VIRTUALLY_FRAME" val="{&quot;height&quot;:126.6,&quot;left&quot;:90.2,&quot;top&quot;:367,&quot;width&quot;:810.7}"/>
</p:tagLst>
</file>

<file path=ppt/tags/tag5.xml><?xml version="1.0" encoding="utf-8"?>
<p:tagLst xmlns:p="http://schemas.openxmlformats.org/presentationml/2006/main">
  <p:tag name="KSO_WM_DIAGRAM_VIRTUALLY_FRAME" val="{&quot;height&quot;:126.6,&quot;left&quot;:90.2,&quot;top&quot;:367,&quot;width&quot;:810.7}"/>
</p:tagLst>
</file>

<file path=ppt/tags/tag6.xml><?xml version="1.0" encoding="utf-8"?>
<p:tagLst xmlns:p="http://schemas.openxmlformats.org/presentationml/2006/main">
  <p:tag name="KSO_WM_DIAGRAM_VIRTUALLY_FRAME" val="{&quot;height&quot;:126.6,&quot;left&quot;:90.2,&quot;top&quot;:367,&quot;width&quot;:810.7}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2322</Words>
  <Application>WPS 演示</Application>
  <PresentationFormat>宽屏</PresentationFormat>
  <Paragraphs>134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9" baseType="lpstr">
      <vt:lpstr>Arial</vt:lpstr>
      <vt:lpstr>宋体</vt:lpstr>
      <vt:lpstr>Wingdings</vt:lpstr>
      <vt:lpstr>Calibri</vt:lpstr>
      <vt:lpstr>微软雅黑</vt:lpstr>
      <vt:lpstr>Arial Unicode MS</vt:lpstr>
      <vt:lpstr>Cambria Math</vt:lpstr>
      <vt:lpstr>Wingdings</vt:lpstr>
      <vt:lpstr>Times New Roman</vt:lpstr>
      <vt:lpstr>MS Mincho</vt:lpstr>
      <vt:lpstr>Segoe Print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Jia Gao</dc:creator>
  <cp:lastModifiedBy>WPS_1688450449</cp:lastModifiedBy>
  <cp:revision>15</cp:revision>
  <dcterms:created xsi:type="dcterms:W3CDTF">2023-08-09T12:44:00Z</dcterms:created>
  <dcterms:modified xsi:type="dcterms:W3CDTF">2025-07-12T09:25:26Z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2052-12.1.0.21915</vt:lpwstr>
  </property>
  <property fmtid="{D5CDD505-2E9C-101B-9397-08002B2CF9AE}" pid="3" name="ICV">
    <vt:lpwstr>473451E9CBEA4200B28CCE63024F1C95_12</vt:lpwstr>
  </property>
</Properties>
</file>