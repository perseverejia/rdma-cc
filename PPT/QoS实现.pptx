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Quality of Service</a:t>
            </a:r>
            <a:r>
              <a:rPr lang="zh-CN" altLang="en-US" sz="2400"/>
              <a:t>（</a:t>
            </a:r>
            <a:r>
              <a:rPr lang="en-US" altLang="zh-CN" sz="2400"/>
              <a:t>QoS</a:t>
            </a:r>
            <a:r>
              <a:rPr lang="zh-CN" altLang="en-US" sz="2400"/>
              <a:t>）服务质量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7195" y="1043305"/>
            <a:ext cx="170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Wiki</a:t>
            </a:r>
            <a:r>
              <a:rPr lang="zh-CN" altLang="en-US" b="1">
                <a:solidFill>
                  <a:schemeClr val="accent1"/>
                </a:solidFill>
              </a:rPr>
              <a:t>定义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910" y="1490345"/>
            <a:ext cx="99783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QoS</a:t>
            </a:r>
            <a:r>
              <a:rPr lang="zh-CN" altLang="en-US"/>
              <a:t>是描述和测量服务的整体表现，尤其是用户能看得见的服务。在互联网或分组交换的通信网络，服务质量</a:t>
            </a:r>
            <a:r>
              <a:rPr lang="zh-CN" altLang="en-US" b="1"/>
              <a:t>依据流量优先级</a:t>
            </a:r>
            <a:r>
              <a:rPr lang="zh-CN" altLang="en-US"/>
              <a:t>和</a:t>
            </a:r>
            <a:r>
              <a:rPr lang="zh-CN" altLang="en-US" b="1"/>
              <a:t>资源预留控制机制</a:t>
            </a:r>
            <a:r>
              <a:rPr lang="zh-CN" altLang="en-US"/>
              <a:t>，而不是得到的服务质量。服务质量是给不同应用、用户或数据提供不同优先级，或者是保证数据流的服务在一个特定水平。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7195" y="2658745"/>
            <a:ext cx="2177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QoS</a:t>
            </a:r>
            <a:r>
              <a:rPr lang="zh-CN" altLang="en-US" b="1">
                <a:solidFill>
                  <a:schemeClr val="accent1"/>
                </a:solidFill>
              </a:rPr>
              <a:t>特征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4695" y="3031490"/>
            <a:ext cx="10742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满足用户对不同服务质量的要求，实时性强且重要的数据包</a:t>
            </a:r>
            <a:r>
              <a:rPr lang="zh-CN" altLang="en-US" b="1"/>
              <a:t>优先处理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针对不同的流设置不同的优先级实现</a:t>
            </a:r>
            <a:r>
              <a:rPr lang="zh-CN" altLang="en-US" b="1"/>
              <a:t>转发策略</a:t>
            </a:r>
            <a:r>
              <a:rPr lang="zh-CN" altLang="en-US"/>
              <a:t>，避免拥塞。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需要与</a:t>
            </a:r>
            <a:r>
              <a:rPr lang="zh-CN" altLang="en-US">
                <a:solidFill>
                  <a:srgbClr val="FF0000"/>
                </a:solidFill>
              </a:rPr>
              <a:t>应用软件协商流量</a:t>
            </a:r>
            <a:r>
              <a:rPr lang="zh-CN" altLang="en-US"/>
              <a:t>，需要</a:t>
            </a:r>
            <a:r>
              <a:rPr lang="zh-CN" altLang="en-US">
                <a:solidFill>
                  <a:srgbClr val="FF0000"/>
                </a:solidFill>
              </a:rPr>
              <a:t>网络节点预留容量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11175" y="4373880"/>
            <a:ext cx="2004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QoS</a:t>
            </a:r>
            <a:r>
              <a:rPr lang="zh-CN" altLang="en-US" b="1">
                <a:solidFill>
                  <a:schemeClr val="accent1"/>
                </a:solidFill>
              </a:rPr>
              <a:t>使用场景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8040" y="4857115"/>
            <a:ext cx="8248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容量有限的网络，要先传输重要数据包。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需要固定传输速率，对时延敏感的场景，如流多媒体应用。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QoS</a:t>
            </a:r>
            <a:r>
              <a:rPr lang="zh-CN" altLang="en-US" sz="2400"/>
              <a:t>实现机制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7195" y="867410"/>
            <a:ext cx="170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电路交换网络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6570" y="1315720"/>
            <a:ext cx="71189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电路交换网络，比如针对声音的传输，在他们的内核协议中使用</a:t>
            </a:r>
            <a:r>
              <a:rPr lang="en-US" altLang="zh-CN"/>
              <a:t>QoS</a:t>
            </a:r>
            <a:r>
              <a:rPr lang="zh-CN" altLang="en-US"/>
              <a:t>，当呼叫建立时互联网上每一跳都预留了资源，因此不需要额外程序来实现</a:t>
            </a:r>
            <a:r>
              <a:rPr lang="en-US" altLang="zh-CN">
                <a:sym typeface="+mn-ea"/>
              </a:rPr>
              <a:t>QoS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7725410" y="591185"/>
            <a:ext cx="3835400" cy="20320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2"/>
          <a:stretch>
            <a:fillRect/>
          </a:stretch>
        </p:blipFill>
        <p:spPr>
          <a:xfrm>
            <a:off x="5238750" y="3657600"/>
            <a:ext cx="6953250" cy="286385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2164080" y="2159635"/>
            <a:ext cx="5346700" cy="7385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对于商用的</a:t>
            </a:r>
            <a:r>
              <a:rPr lang="en-US" altLang="zh-CN"/>
              <a:t>VoIP</a:t>
            </a:r>
            <a:r>
              <a:rPr lang="zh-CN" altLang="en-US"/>
              <a:t>服务，如果额外增加</a:t>
            </a:r>
            <a:r>
              <a:rPr lang="en-US" altLang="zh-CN"/>
              <a:t>60%</a:t>
            </a:r>
            <a:r>
              <a:rPr lang="zh-CN" altLang="en-US"/>
              <a:t>的流量，那</a:t>
            </a:r>
            <a:r>
              <a:rPr lang="en-US" altLang="zh-CN"/>
              <a:t>VoIP</a:t>
            </a:r>
            <a:r>
              <a:rPr lang="zh-CN" altLang="en-US"/>
              <a:t>将从电话服务质量变为手机服务质量。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17195" y="3115310"/>
            <a:ext cx="170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分组交换网络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0220" y="3819525"/>
            <a:ext cx="4921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可以替代</a:t>
            </a:r>
            <a:r>
              <a:rPr lang="en-US" altLang="zh-CN"/>
              <a:t>QoS</a:t>
            </a:r>
            <a:r>
              <a:rPr lang="zh-CN" altLang="en-US"/>
              <a:t>复杂的控制机制的是超额供应机制。</a:t>
            </a:r>
            <a:endParaRPr lang="zh-CN" altLang="en-US"/>
          </a:p>
          <a:p>
            <a:r>
              <a:rPr lang="zh-CN" altLang="en-US"/>
              <a:t>超额供应能力是根据流量负载峰值计算的。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490220" y="5314315"/>
            <a:ext cx="6113145" cy="12071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ym typeface="+mn-ea"/>
              </a:rPr>
              <a:t>内部链路的超额供应的大小依赖与用户数量和流量需求。带宽密集型应用和用户的增多导致了超额配置互联网资源不足，需要更新链路。因此不能盲目假设互联网超额供应。</a:t>
            </a:r>
            <a:endParaRPr lang="en-US" altLang="zh-CN"/>
          </a:p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22" grpId="0" animBg="1"/>
      <p:bldP spid="2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QoS</a:t>
            </a:r>
            <a:r>
              <a:rPr lang="zh-CN" altLang="en-US" sz="2400"/>
              <a:t>实现机制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64845" y="1069975"/>
            <a:ext cx="904621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现在分组交换的</a:t>
            </a:r>
            <a:r>
              <a:rPr lang="en-US" altLang="zh-CN"/>
              <a:t>IP</a:t>
            </a:r>
            <a:r>
              <a:rPr lang="zh-CN" altLang="en-US"/>
              <a:t>网络中，有两种主要的</a:t>
            </a:r>
            <a:r>
              <a:rPr lang="en-US" altLang="zh-CN"/>
              <a:t>QoS</a:t>
            </a:r>
            <a:r>
              <a:rPr lang="zh-CN" altLang="en-US"/>
              <a:t>方法。一种是网络应用需求交换的参数系统，一种是每一个包携带确定服务级别的优先系统。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716280" y="1903730"/>
            <a:ext cx="47015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1</a:t>
            </a:r>
            <a:r>
              <a:rPr lang="zh-CN" altLang="en-US" sz="2000" b="1"/>
              <a:t>）</a:t>
            </a:r>
            <a:r>
              <a:rPr lang="en-US" altLang="zh-CN" sz="2000" b="1"/>
              <a:t>Integrated service(IntServ)  </a:t>
            </a:r>
            <a:r>
              <a:rPr lang="zh-CN" altLang="en-US" sz="2000" b="1"/>
              <a:t>综合服务</a:t>
            </a:r>
            <a:endParaRPr lang="zh-CN" altLang="en-US" sz="2000" b="1"/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212850" y="2393950"/>
            <a:ext cx="858647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实现了参数化方法，应用使用</a:t>
            </a:r>
            <a:r>
              <a:rPr lang="en-US" altLang="zh-CN">
                <a:sym typeface="+mn-ea"/>
              </a:rPr>
              <a:t>RSVP</a:t>
            </a:r>
            <a:r>
              <a:rPr lang="zh-CN" altLang="en-US"/>
              <a:t>（</a:t>
            </a:r>
            <a:r>
              <a:rPr lang="en-US" altLang="zh-CN"/>
              <a:t>Resource Reservation Protocol</a:t>
            </a:r>
            <a:r>
              <a:rPr lang="zh-CN" altLang="en-US"/>
              <a:t>），通过网络来请求和保留资源。但是这</a:t>
            </a:r>
            <a:r>
              <a:rPr lang="zh-CN" altLang="en-US">
                <a:solidFill>
                  <a:schemeClr val="accent6"/>
                </a:solidFill>
              </a:rPr>
              <a:t>不适用于大型网络</a:t>
            </a:r>
            <a:r>
              <a:rPr lang="zh-CN" altLang="en-US"/>
              <a:t>，因为核心路由器要负责接收、维护和销毁数以万计的连接，他的作用就是高速交换数据包。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716280" y="3780155"/>
            <a:ext cx="5769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2</a:t>
            </a:r>
            <a:r>
              <a:rPr lang="zh-CN" altLang="en-US" sz="2000" b="1"/>
              <a:t>）</a:t>
            </a:r>
            <a:r>
              <a:rPr lang="en-US" altLang="zh-CN" sz="2000" b="1"/>
              <a:t>Differentiated Service(DiffServ)  </a:t>
            </a:r>
            <a:r>
              <a:rPr lang="zh-CN" altLang="en-US" sz="2000" b="1"/>
              <a:t>区分服务</a:t>
            </a:r>
            <a:endParaRPr lang="zh-CN" altLang="en-US" sz="2000" b="1"/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7101205" y="1786890"/>
            <a:ext cx="3846830" cy="515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为领导清出一条专用通道</a:t>
            </a:r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1212850" y="4404995"/>
            <a:ext cx="822071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应用优先级模型，</a:t>
            </a:r>
            <a:r>
              <a:rPr lang="en-US" altLang="zh-CN"/>
              <a:t>DifferServ</a:t>
            </a:r>
            <a:r>
              <a:rPr lang="zh-CN" altLang="en-US"/>
              <a:t>根据数据包所需的服务类型对数据包进行标记。路由器和交换机使用各种</a:t>
            </a:r>
            <a:r>
              <a:rPr lang="zh-CN" altLang="en-US">
                <a:solidFill>
                  <a:schemeClr val="accent6"/>
                </a:solidFill>
              </a:rPr>
              <a:t>调度策略</a:t>
            </a:r>
            <a:r>
              <a:rPr lang="zh-CN" altLang="en-US"/>
              <a:t>来响应数据包的优先级，优先级标记是</a:t>
            </a:r>
            <a:r>
              <a:rPr lang="en-US" altLang="zh-CN"/>
              <a:t>DSCP</a:t>
            </a:r>
            <a:r>
              <a:rPr lang="zh-CN" altLang="en-US"/>
              <a:t>（</a:t>
            </a:r>
            <a:r>
              <a:rPr lang="en-US" altLang="zh-CN"/>
              <a:t>Differentiated service code point</a:t>
            </a:r>
            <a:r>
              <a:rPr lang="zh-CN" altLang="en-US"/>
              <a:t>）在</a:t>
            </a:r>
            <a:r>
              <a:rPr lang="en-US" altLang="zh-CN"/>
              <a:t>IPV4</a:t>
            </a:r>
            <a:r>
              <a:rPr lang="zh-CN" altLang="en-US"/>
              <a:t>头部。</a:t>
            </a:r>
            <a:endParaRPr lang="en-US" altLang="zh-CN"/>
          </a:p>
        </p:txBody>
      </p:sp>
      <p:sp>
        <p:nvSpPr>
          <p:cNvPr id="18" name="圆角矩形 17"/>
          <p:cNvSpPr/>
          <p:nvPr>
            <p:custDataLst>
              <p:tags r:id="rId6"/>
            </p:custDataLst>
          </p:nvPr>
        </p:nvSpPr>
        <p:spPr>
          <a:xfrm>
            <a:off x="7101205" y="5424170"/>
            <a:ext cx="3846830" cy="515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领导的车有最高路权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8" grpId="0" animBg="1"/>
      <p:bldP spid="1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rcRect l="4036" t="8213" r="7228" b="3807"/>
          <a:stretch>
            <a:fillRect/>
          </a:stretch>
        </p:blipFill>
        <p:spPr>
          <a:xfrm rot="19020000">
            <a:off x="8264525" y="4396105"/>
            <a:ext cx="2137410" cy="1986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队列调度实现</a:t>
            </a:r>
            <a:r>
              <a:rPr lang="en-US" altLang="zh-CN" sz="2400"/>
              <a:t>QoS——WFQ</a:t>
            </a:r>
            <a:endParaRPr lang="en-US" altLang="zh-CN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18795" y="1148715"/>
            <a:ext cx="1132967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/>
              <a:t>WFQ(Weight Fair Queue)</a:t>
            </a:r>
            <a:r>
              <a:rPr lang="zh-CN" altLang="en-US"/>
              <a:t>加权公平队列，</a:t>
            </a:r>
            <a:r>
              <a:rPr lang="en-US" altLang="zh-CN"/>
              <a:t>WFQ</a:t>
            </a:r>
            <a:r>
              <a:rPr lang="zh-CN" altLang="en-US"/>
              <a:t>既是</a:t>
            </a:r>
            <a:r>
              <a:rPr lang="en-US" altLang="zh-CN" b="1"/>
              <a:t>GPS</a:t>
            </a:r>
            <a:r>
              <a:rPr lang="en-US" altLang="zh-CN"/>
              <a:t>(generalized processor sharing)</a:t>
            </a:r>
            <a:r>
              <a:rPr lang="zh-CN" altLang="en-US"/>
              <a:t>一种基于包的实现，也是</a:t>
            </a:r>
            <a:r>
              <a:rPr lang="en-US" altLang="zh-CN" b="1"/>
              <a:t>FQ</a:t>
            </a:r>
            <a:r>
              <a:rPr lang="en-US" altLang="zh-CN"/>
              <a:t>(Fair Queue)</a:t>
            </a:r>
            <a:r>
              <a:rPr lang="zh-CN" altLang="en-US"/>
              <a:t>的一种自然扩展。</a:t>
            </a:r>
            <a:r>
              <a:rPr lang="en-US" altLang="zh-CN"/>
              <a:t>FQ</a:t>
            </a:r>
            <a:r>
              <a:rPr lang="zh-CN" altLang="en-US"/>
              <a:t>平等的共享链路流量，</a:t>
            </a:r>
            <a:r>
              <a:rPr lang="en-US" altLang="zh-CN"/>
              <a:t>WFQ</a:t>
            </a:r>
            <a:r>
              <a:rPr lang="zh-CN" altLang="en-US"/>
              <a:t>允许调度者为每个流指明是用哪部分流量。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6550" y="755650"/>
            <a:ext cx="1535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WFQ</a:t>
            </a:r>
            <a:r>
              <a:rPr lang="zh-CN" altLang="en-US" b="1">
                <a:solidFill>
                  <a:schemeClr val="accent1"/>
                </a:solidFill>
              </a:rPr>
              <a:t>定义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1310" y="2042160"/>
            <a:ext cx="257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GPS</a:t>
            </a:r>
            <a:r>
              <a:rPr lang="zh-CN" altLang="en-US" b="1">
                <a:solidFill>
                  <a:schemeClr val="accent1"/>
                </a:solidFill>
              </a:rPr>
              <a:t>通用处理器共享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8795" y="2439670"/>
            <a:ext cx="8761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GPS</a:t>
            </a:r>
            <a:r>
              <a:rPr lang="zh-CN" altLang="en-US"/>
              <a:t>是一种理想的流体服务模型。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716280" y="2731135"/>
                <a:ext cx="10296525" cy="1640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在</a:t>
                </a:r>
                <a:r>
                  <a:rPr lang="en-US" altLang="zh-CN"/>
                  <a:t>GPS</a:t>
                </a:r>
                <a:r>
                  <a:rPr lang="zh-CN" altLang="en-US"/>
                  <a:t>中，对于共享同一链路的每一个流建立一个独立的</a:t>
                </a:r>
                <a:r>
                  <a:rPr lang="en-US" altLang="zh-CN"/>
                  <a:t>FIFO</a:t>
                </a:r>
                <a:r>
                  <a:rPr lang="zh-CN" altLang="en-US"/>
                  <a:t>队列，在任意时间内有</a:t>
                </a:r>
                <a:r>
                  <a:rPr lang="en-US" altLang="zh-CN"/>
                  <a:t>N</a:t>
                </a:r>
                <a:r>
                  <a:rPr lang="zh-CN" altLang="en-US"/>
                  <a:t>个队列非空时，服务器同时对</a:t>
                </a:r>
                <a:r>
                  <a:rPr lang="en-US" altLang="zh-CN"/>
                  <a:t>N</a:t>
                </a:r>
                <a:r>
                  <a:rPr lang="zh-CN" altLang="en-US"/>
                  <a:t>个队列头部的包服务。</a:t>
                </a:r>
                <a:endParaRPr lang="zh-CN" altLang="en-US"/>
              </a:p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每个流都会有不同的服务份额，按服务份额给每一个流提供服务。</a:t>
                </a:r>
                <a:r>
                  <a:rPr lang="en-US" altLang="zh-CN"/>
                  <a:t>N</a:t>
                </a:r>
                <a:r>
                  <a:rPr lang="zh-CN" altLang="en-US"/>
                  <a:t>个服务份额分别为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...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的权值。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" y="2731135"/>
                <a:ext cx="10296525" cy="1640205"/>
              </a:xfrm>
              <a:prstGeom prst="rect">
                <a:avLst/>
              </a:prstGeom>
              <a:blipFill rotWithShape="1">
                <a:blip r:embed="rId2"/>
                <a:stretch>
                  <a:fillRect r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862965" y="4585970"/>
            <a:ext cx="3467100" cy="403225"/>
            <a:chOff x="1359" y="8031"/>
            <a:chExt cx="5460" cy="635"/>
          </a:xfrm>
        </p:grpSpPr>
        <p:sp>
          <p:nvSpPr>
            <p:cNvPr id="16" name="矩形 15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359" y="8086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flow1</a:t>
              </a:r>
              <a:endParaRPr lang="en-US" altLang="zh-CN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62965" y="5116195"/>
            <a:ext cx="3467100" cy="403225"/>
            <a:chOff x="1359" y="8031"/>
            <a:chExt cx="5460" cy="635"/>
          </a:xfrm>
        </p:grpSpPr>
        <p:sp>
          <p:nvSpPr>
            <p:cNvPr id="23" name="矩形 22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59" y="8086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flow2</a:t>
              </a:r>
              <a:endParaRPr lang="en-US" altLang="zh-CN"/>
            </a:p>
          </p:txBody>
        </p:sp>
      </p:grpSp>
      <p:sp>
        <p:nvSpPr>
          <p:cNvPr id="28" name="椭圆 27"/>
          <p:cNvSpPr/>
          <p:nvPr/>
        </p:nvSpPr>
        <p:spPr>
          <a:xfrm>
            <a:off x="1983740" y="5575935"/>
            <a:ext cx="117475" cy="1022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983740" y="5735955"/>
            <a:ext cx="117475" cy="1022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983740" y="5913120"/>
            <a:ext cx="117475" cy="1022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862965" y="6089650"/>
            <a:ext cx="3467100" cy="403225"/>
            <a:chOff x="1359" y="8031"/>
            <a:chExt cx="5460" cy="635"/>
          </a:xfrm>
        </p:grpSpPr>
        <p:sp>
          <p:nvSpPr>
            <p:cNvPr id="32" name="矩形 31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359" y="8086"/>
              <a:ext cx="15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flowN</a:t>
              </a:r>
              <a:endParaRPr lang="en-US" altLang="zh-CN"/>
            </a:p>
          </p:txBody>
        </p:sp>
      </p:grpSp>
      <p:sp>
        <p:nvSpPr>
          <p:cNvPr id="37" name="圆角矩形 36"/>
          <p:cNvSpPr/>
          <p:nvPr/>
        </p:nvSpPr>
        <p:spPr>
          <a:xfrm>
            <a:off x="3305175" y="4418330"/>
            <a:ext cx="1243330" cy="2157730"/>
          </a:xfrm>
          <a:prstGeom prst="roundRect">
            <a:avLst/>
          </a:prstGeom>
          <a:ln w="28575">
            <a:prstDash val="dash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3727450" y="4474210"/>
                <a:ext cx="109855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50" y="4474210"/>
                <a:ext cx="109855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3821430" y="5009515"/>
                <a:ext cx="91059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430" y="5009515"/>
                <a:ext cx="91059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右箭头 40"/>
          <p:cNvSpPr/>
          <p:nvPr/>
        </p:nvSpPr>
        <p:spPr>
          <a:xfrm>
            <a:off x="5570220" y="5300345"/>
            <a:ext cx="1002030" cy="2413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965065" y="5678170"/>
            <a:ext cx="277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选一个包，放到链路上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752465" y="494474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调度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3599815" y="5885815"/>
                <a:ext cx="136525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15" y="5885815"/>
                <a:ext cx="1365250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/>
          <p:cNvSpPr txBox="1"/>
          <p:nvPr/>
        </p:nvSpPr>
        <p:spPr>
          <a:xfrm>
            <a:off x="9156065" y="5885815"/>
            <a:ext cx="177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链路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28" grpId="0" animBg="1"/>
      <p:bldP spid="29" grpId="0" animBg="1"/>
      <p:bldP spid="30" grpId="0" animBg="1"/>
      <p:bldP spid="37" grpId="0" animBg="1"/>
      <p:bldP spid="39" grpId="0"/>
      <p:bldP spid="40" grpId="0"/>
      <p:bldP spid="41" grpId="0" animBg="1"/>
      <p:bldP spid="42" grpId="0"/>
      <p:bldP spid="43" grpId="0"/>
      <p:bldP spid="44" grpId="0"/>
      <p:bldP spid="47" grpId="0"/>
      <p:bldP spid="6" grpId="1"/>
      <p:bldP spid="13" grpId="1"/>
      <p:bldP spid="15" grpId="1"/>
      <p:bldP spid="28" grpId="1" animBg="1"/>
      <p:bldP spid="29" grpId="1" animBg="1"/>
      <p:bldP spid="30" grpId="1" animBg="1"/>
      <p:bldP spid="37" grpId="1" animBg="1"/>
      <p:bldP spid="39" grpId="1"/>
      <p:bldP spid="40" grpId="1"/>
      <p:bldP spid="41" grpId="1" animBg="1"/>
      <p:bldP spid="42" grpId="1"/>
      <p:bldP spid="43" grpId="1"/>
      <p:bldP spid="44" grpId="1"/>
      <p:bldP spid="4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队列调度实现</a:t>
            </a:r>
            <a:r>
              <a:rPr lang="en-US" altLang="zh-CN" sz="2400"/>
              <a:t>QoS——WFQ</a:t>
            </a:r>
            <a:endParaRPr lang="en-US" altLang="zh-CN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75260" y="737870"/>
            <a:ext cx="257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GPS</a:t>
            </a:r>
            <a:r>
              <a:rPr lang="zh-CN" altLang="en-US" b="1">
                <a:solidFill>
                  <a:schemeClr val="accent1"/>
                </a:solidFill>
              </a:rPr>
              <a:t>通用处理器共享</a:t>
            </a:r>
            <a:endParaRPr lang="zh-CN" altLang="en-US" b="1">
              <a:solidFill>
                <a:schemeClr val="accent1"/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09575" y="1384935"/>
            <a:ext cx="3467100" cy="403225"/>
            <a:chOff x="1359" y="8031"/>
            <a:chExt cx="5460" cy="635"/>
          </a:xfrm>
        </p:grpSpPr>
        <p:sp>
          <p:nvSpPr>
            <p:cNvPr id="16" name="矩形 15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359" y="8086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flow1</a:t>
              </a:r>
              <a:endParaRPr lang="en-US" altLang="zh-CN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09575" y="1915160"/>
            <a:ext cx="3467100" cy="403225"/>
            <a:chOff x="1359" y="8031"/>
            <a:chExt cx="5460" cy="635"/>
          </a:xfrm>
        </p:grpSpPr>
        <p:sp>
          <p:nvSpPr>
            <p:cNvPr id="23" name="矩形 22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59" y="8086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flow2</a:t>
              </a:r>
              <a:endParaRPr lang="en-US" altLang="zh-CN"/>
            </a:p>
          </p:txBody>
        </p:sp>
      </p:grpSp>
      <p:sp>
        <p:nvSpPr>
          <p:cNvPr id="28" name="椭圆 27"/>
          <p:cNvSpPr/>
          <p:nvPr/>
        </p:nvSpPr>
        <p:spPr>
          <a:xfrm>
            <a:off x="1530350" y="2374900"/>
            <a:ext cx="117475" cy="1022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530350" y="2534920"/>
            <a:ext cx="117475" cy="1022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530350" y="2712085"/>
            <a:ext cx="117475" cy="1022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409575" y="2888615"/>
            <a:ext cx="3467100" cy="403225"/>
            <a:chOff x="1359" y="8031"/>
            <a:chExt cx="5460" cy="635"/>
          </a:xfrm>
        </p:grpSpPr>
        <p:sp>
          <p:nvSpPr>
            <p:cNvPr id="32" name="矩形 31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359" y="8086"/>
              <a:ext cx="15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flowN</a:t>
              </a:r>
              <a:endParaRPr lang="en-US" altLang="zh-CN"/>
            </a:p>
          </p:txBody>
        </p:sp>
      </p:grpSp>
      <p:sp>
        <p:nvSpPr>
          <p:cNvPr id="37" name="圆角矩形 36"/>
          <p:cNvSpPr/>
          <p:nvPr/>
        </p:nvSpPr>
        <p:spPr>
          <a:xfrm>
            <a:off x="2851785" y="1217295"/>
            <a:ext cx="1243330" cy="2157730"/>
          </a:xfrm>
          <a:prstGeom prst="roundRect">
            <a:avLst/>
          </a:prstGeom>
          <a:ln w="28575">
            <a:prstDash val="dash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3279775" y="1273175"/>
                <a:ext cx="109855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775" y="1273175"/>
                <a:ext cx="109855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3368040" y="1808480"/>
                <a:ext cx="91059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040" y="1808480"/>
                <a:ext cx="91059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右箭头 40"/>
          <p:cNvSpPr/>
          <p:nvPr/>
        </p:nvSpPr>
        <p:spPr>
          <a:xfrm>
            <a:off x="5116830" y="2099310"/>
            <a:ext cx="1002030" cy="2413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511675" y="2477135"/>
            <a:ext cx="2779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选一个包，放到链路上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299075" y="174371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调度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3146425" y="2684780"/>
                <a:ext cx="136525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425" y="2684780"/>
                <a:ext cx="136525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1572895"/>
            <a:ext cx="3159125" cy="96202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8790305" y="2603500"/>
            <a:ext cx="177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链路</a:t>
            </a:r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52755" y="3673475"/>
                <a:ext cx="11329035" cy="755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设链路带宽为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，工作是连续的，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表示在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[t1, t2]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时间内的流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i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完成的业务量，则一个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GPS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在时间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[t1, t2]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内对流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和流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j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的服务情况满足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5" y="3673475"/>
                <a:ext cx="11329035" cy="7556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076450" y="4529455"/>
                <a:ext cx="7840345" cy="758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450" y="4529455"/>
                <a:ext cx="7840345" cy="7588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452755" y="5334000"/>
            <a:ext cx="10670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②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在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[t1, t2]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时间内服务的流不变，那这段时间内流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的平均服务速率为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224530" y="5786755"/>
                <a:ext cx="5565775" cy="74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𝜖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𝐵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30" y="5786755"/>
                <a:ext cx="5565775" cy="7480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0" grpId="1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队列调度实现</a:t>
            </a:r>
            <a:r>
              <a:rPr lang="en-US" altLang="zh-CN" sz="2400"/>
              <a:t>QoS——WFQ</a:t>
            </a:r>
            <a:endParaRPr lang="en-US" altLang="zh-CN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75260" y="737870"/>
            <a:ext cx="257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1"/>
                </a:solidFill>
              </a:rPr>
              <a:t>WFQ</a:t>
            </a:r>
            <a:r>
              <a:rPr lang="zh-CN" altLang="en-US" b="1">
                <a:solidFill>
                  <a:schemeClr val="accent1"/>
                </a:solidFill>
              </a:rPr>
              <a:t>算法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9080" y="1243330"/>
            <a:ext cx="1032637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WFQ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算法与只有一个队列的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FQ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很相似。假设符合完美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GPS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调度，计算每个数据包的虚拟离开时间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Visual Finish Time(VFT)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。每当输出链路空闲时，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VFT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最小的数据包被选择发送。</a:t>
            </a:r>
            <a:endParaRPr lang="zh-CN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9080" y="2306320"/>
            <a:ext cx="2962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虚拟时间的理论</a:t>
            </a:r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259080" y="2674620"/>
                <a:ext cx="7554595" cy="2574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5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符合完美</a:t>
                </a:r>
                <a:r>
                  <a:rPr lang="en-US" altLang="zh-CN"/>
                  <a:t>GPS</a:t>
                </a:r>
                <a:r>
                  <a:rPr lang="zh-CN" altLang="en-US"/>
                  <a:t>调度，代表流</a:t>
                </a:r>
                <a:r>
                  <a:rPr lang="en-US" altLang="zh-CN"/>
                  <a:t>i</a:t>
                </a:r>
                <a:r>
                  <a:rPr lang="zh-CN" altLang="en-US"/>
                  <a:t>的发送速率为</a:t>
                </a:r>
                <a:endParaRPr lang="zh-CN" altLang="en-US"/>
              </a:p>
              <a:p>
                <a:pPr lvl="1"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/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𝜖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𝐵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根据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FQ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，计算数据包虚拟离开时间，然后选择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VFT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最小的包放入链路。</a:t>
                </a:r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lvl="1"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                 </a:t>
                </a:r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packet.virFinish = virStart + packet.size / Ri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2674620"/>
                <a:ext cx="7554595" cy="25742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/>
          <p:cNvGrpSpPr/>
          <p:nvPr/>
        </p:nvGrpSpPr>
        <p:grpSpPr>
          <a:xfrm>
            <a:off x="605790" y="5226685"/>
            <a:ext cx="3467100" cy="403225"/>
            <a:chOff x="1359" y="8031"/>
            <a:chExt cx="5460" cy="635"/>
          </a:xfrm>
        </p:grpSpPr>
        <p:sp>
          <p:nvSpPr>
            <p:cNvPr id="48" name="矩形 47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359" y="8086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flow1</a:t>
              </a:r>
              <a:endParaRPr lang="en-US" altLang="zh-CN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05790" y="5756910"/>
            <a:ext cx="3467100" cy="403225"/>
            <a:chOff x="1359" y="8031"/>
            <a:chExt cx="5460" cy="635"/>
          </a:xfrm>
        </p:grpSpPr>
        <p:sp>
          <p:nvSpPr>
            <p:cNvPr id="54" name="矩形 53"/>
            <p:cNvSpPr/>
            <p:nvPr/>
          </p:nvSpPr>
          <p:spPr>
            <a:xfrm>
              <a:off x="1359" y="8031"/>
              <a:ext cx="5460" cy="6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5343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3934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2525" y="8162"/>
              <a:ext cx="1071" cy="38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359" y="8086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flow2</a:t>
              </a:r>
              <a:endParaRPr lang="en-US" altLang="zh-CN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1115060" y="4941570"/>
                <a:ext cx="609600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highlight>
                            <a:srgbClr val="FFFF00"/>
                          </a:highligh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highlight>
                            <a:srgbClr val="FFFF00"/>
                          </a:highlight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60" y="4941570"/>
                <a:ext cx="609600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2636520" y="5551170"/>
                <a:ext cx="305244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highlight>
                            <a:srgbClr val="FFFF00"/>
                          </a:highligh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highlight>
                            <a:srgbClr val="FFFF00"/>
                          </a:highlight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</m:oMath>
                  </m:oMathPara>
                </a14:m>
                <a:endParaRPr lang="en-US" altLang="zh-CN" i="1">
                  <a:highlight>
                    <a:srgbClr val="FFFF00"/>
                  </a:highligh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520" y="5551170"/>
                <a:ext cx="3052445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/>
          <p:cNvSpPr txBox="1"/>
          <p:nvPr/>
        </p:nvSpPr>
        <p:spPr>
          <a:xfrm>
            <a:off x="5295900" y="5919470"/>
            <a:ext cx="582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根据上面的两个特征，</a:t>
            </a:r>
            <a:r>
              <a:rPr lang="en-US" altLang="zh-CN"/>
              <a:t>flow1</a:t>
            </a:r>
            <a:r>
              <a:rPr lang="zh-CN" altLang="en-US"/>
              <a:t>的发送速率要小于</a:t>
            </a:r>
            <a:r>
              <a:rPr lang="en-US" altLang="zh-CN"/>
              <a:t>flow2</a:t>
            </a:r>
            <a:r>
              <a:rPr lang="zh-CN" altLang="en-US"/>
              <a:t>的发送速率，因此</a:t>
            </a:r>
            <a:r>
              <a:rPr lang="en-US" altLang="zh-CN"/>
              <a:t>flow2</a:t>
            </a:r>
            <a:r>
              <a:rPr lang="zh-CN" altLang="en-US"/>
              <a:t>的</a:t>
            </a:r>
            <a:r>
              <a:rPr lang="en-US" altLang="zh-CN"/>
              <a:t>VFT</a:t>
            </a:r>
            <a:r>
              <a:rPr lang="zh-CN" altLang="en-US"/>
              <a:t>小，优先传递</a:t>
            </a:r>
            <a:r>
              <a:rPr lang="en-US" altLang="zh-CN"/>
              <a:t>flow2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62" name="剪去单角的矩形 61"/>
          <p:cNvSpPr/>
          <p:nvPr/>
        </p:nvSpPr>
        <p:spPr>
          <a:xfrm>
            <a:off x="7644765" y="2009775"/>
            <a:ext cx="4323715" cy="3747770"/>
          </a:xfrm>
          <a:prstGeom prst="snip1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注意：</a:t>
            </a:r>
            <a:endParaRPr lang="zh-CN" altLang="en-US"/>
          </a:p>
          <a:p>
            <a:pPr algn="l">
              <a:lnSpc>
                <a:spcPct val="130000"/>
              </a:lnSpc>
            </a:pPr>
            <a:r>
              <a:rPr lang="en-US" altLang="zh-CN" sz="1600"/>
              <a:t>1</a:t>
            </a:r>
            <a:r>
              <a:rPr lang="zh-CN" altLang="en-US" sz="1600"/>
              <a:t>）因为每次链路传送都是一个数据包，都是以速率</a:t>
            </a:r>
            <a:r>
              <a:rPr lang="en-US" altLang="zh-CN" sz="1600"/>
              <a:t>R</a:t>
            </a:r>
            <a:r>
              <a:rPr lang="zh-CN" altLang="en-US" sz="1600"/>
              <a:t>传送的，所以长度相同数据包在</a:t>
            </a:r>
            <a:r>
              <a:rPr lang="zh-CN" altLang="en-US" sz="1600" b="1"/>
              <a:t>真实世界里消耗相同时间</a:t>
            </a:r>
            <a:r>
              <a:rPr lang="zh-CN" altLang="en-US" sz="1600"/>
              <a:t>。</a:t>
            </a:r>
            <a:endParaRPr lang="zh-CN" altLang="en-US" sz="1600"/>
          </a:p>
          <a:p>
            <a:pPr algn="l">
              <a:lnSpc>
                <a:spcPct val="130000"/>
              </a:lnSpc>
            </a:pPr>
            <a:r>
              <a:rPr lang="en-US" altLang="zh-CN" sz="1600"/>
              <a:t>2</a:t>
            </a:r>
            <a:r>
              <a:rPr lang="zh-CN" altLang="en-US" sz="1600"/>
              <a:t>）因为虚拟时间赋予了不同包不同的虚拟速度，相同长度下，权重大的包传送需要的</a:t>
            </a:r>
            <a:r>
              <a:rPr lang="zh-CN" altLang="en-US" sz="1600" b="1"/>
              <a:t>虚拟时间</a:t>
            </a:r>
            <a:r>
              <a:rPr lang="zh-CN" altLang="en-US" sz="1600"/>
              <a:t>比权重小的包短，所以权重大的包虚拟离开时间早，优先调度。</a:t>
            </a:r>
            <a:endParaRPr lang="zh-CN" altLang="en-US" sz="1600"/>
          </a:p>
          <a:p>
            <a:pPr algn="l">
              <a:lnSpc>
                <a:spcPct val="130000"/>
              </a:lnSpc>
            </a:pPr>
            <a:r>
              <a:rPr lang="en-US" altLang="zh-CN" sz="1600"/>
              <a:t>3</a:t>
            </a:r>
            <a:r>
              <a:rPr lang="zh-CN" altLang="en-US" sz="1600"/>
              <a:t>）正因为权重大的包优先调度，导致了在一段时间内权重大的包传送多，</a:t>
            </a:r>
            <a:r>
              <a:rPr lang="zh-CN" altLang="en-US" sz="1600" b="1"/>
              <a:t>平均来看</a:t>
            </a:r>
            <a:r>
              <a:rPr lang="zh-CN" altLang="en-US" sz="1600"/>
              <a:t>，就是权重大的包传输速率大。</a:t>
            </a:r>
            <a:endParaRPr lang="zh-CN" altLang="en-US" sz="1600"/>
          </a:p>
          <a:p>
            <a:pPr algn="l"/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59" grpId="0"/>
      <p:bldP spid="61" grpId="0"/>
      <p:bldP spid="60" grpId="1"/>
      <p:bldP spid="59" grpId="1"/>
      <p:bldP spid="61" grpId="1"/>
      <p:bldP spid="62" grpId="0" animBg="1"/>
      <p:bldP spid="6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队列调度实现</a:t>
            </a:r>
            <a:r>
              <a:rPr lang="en-US" altLang="zh-CN" sz="2400"/>
              <a:t>QoS——WFQ</a:t>
            </a:r>
            <a:endParaRPr lang="en-US" altLang="zh-CN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75260" y="737870"/>
            <a:ext cx="257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1"/>
                </a:solidFill>
              </a:rPr>
              <a:t>WFQ</a:t>
            </a:r>
            <a:r>
              <a:rPr lang="zh-CN" altLang="en-US" b="1">
                <a:solidFill>
                  <a:schemeClr val="accent1"/>
                </a:solidFill>
              </a:rPr>
              <a:t>算法具体计算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37515" y="1231265"/>
                <a:ext cx="10669905" cy="678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将每一个数据包到达或离开的定义为事件，设第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j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个事件完成的时间为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，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链路带宽为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。在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处于</a:t>
                </a:r>
                <a:r>
                  <a:rPr lang="zh-CN" altLang="en-US"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活跃状态的数据流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是固定的，记为集合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5" y="1231265"/>
                <a:ext cx="10669905" cy="67881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66445" y="2855595"/>
                <a:ext cx="8521065" cy="744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𝜏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𝜖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𝐵𝑗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5" y="2855595"/>
                <a:ext cx="8521065" cy="744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59510" y="3604260"/>
                <a:ext cx="98729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定义虚拟时间函数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V(t)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j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是事件的编号，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i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是队列的编号，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𝜏</m:t>
                    </m:r>
                  </m:oMath>
                </a14:m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为两个时间之间真实时间间隔。</a:t>
                </a:r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10" y="3604260"/>
                <a:ext cx="987298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392430" y="2416810"/>
            <a:ext cx="334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）虚拟时间和真实时间转换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77570" y="4268470"/>
                <a:ext cx="100545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是包离开的最小的虚拟时间，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Next(t)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是在</a:t>
                </a:r>
                <a:r>
                  <a:rPr lang="en-US" altLang="zh-CN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t</a:t>
                </a:r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时刻后下一个事件发生的时间，即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真实时间。</a:t>
                </a:r>
                <a:endParaRPr lang="zh-CN" altLang="en-US">
                  <a:solidFill>
                    <a:srgbClr val="7030A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70" y="4268470"/>
                <a:ext cx="1005459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534795" y="4883785"/>
                <a:ext cx="8740140" cy="805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𝑁𝑒𝑥𝑡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𝜖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𝐵𝑗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795" y="4883785"/>
                <a:ext cx="8740140" cy="8058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251200" y="5776595"/>
                <a:ext cx="5576570" cy="695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𝑁𝑒𝑥𝑡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+[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)]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200" y="5776595"/>
                <a:ext cx="5576570" cy="6959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上箭头 14"/>
          <p:cNvSpPr/>
          <p:nvPr/>
        </p:nvSpPr>
        <p:spPr>
          <a:xfrm>
            <a:off x="7110095" y="2561590"/>
            <a:ext cx="355600" cy="44450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6199505" y="1720850"/>
                <a:ext cx="4489450" cy="8947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limLoc m:val="subSup"/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𝜖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𝑎𝑐𝑡𝑖𝑣𝑒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505" y="1720850"/>
                <a:ext cx="4489450" cy="894715"/>
              </a:xfrm>
              <a:prstGeom prst="rect">
                <a:avLst/>
              </a:prstGeom>
              <a:blipFill rotWithShape="1">
                <a:blip r:embed="rId7"/>
                <a:stretch>
                  <a:fillRect b="-35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圆角矩形 28"/>
          <p:cNvSpPr/>
          <p:nvPr/>
        </p:nvSpPr>
        <p:spPr>
          <a:xfrm>
            <a:off x="8264525" y="5113020"/>
            <a:ext cx="3252470" cy="13633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虚拟时间增量为当前的真实时间增量除以当前活跃流的权重之和，为什么这么算？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9" grpId="1"/>
      <p:bldP spid="10" grpId="1"/>
      <p:bldP spid="14" grpId="1"/>
      <p:bldP spid="28" grpId="0"/>
      <p:bldP spid="15" grpId="0" animBg="1"/>
      <p:bldP spid="28" grpId="1"/>
      <p:bldP spid="15" grpId="1" animBg="1"/>
      <p:bldP spid="29" grpId="0" animBg="1"/>
      <p:bldP spid="2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9080" y="119380"/>
            <a:ext cx="9784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队列调度实现</a:t>
            </a:r>
            <a:r>
              <a:rPr lang="en-US" altLang="zh-CN" sz="2400"/>
              <a:t>QoS——WFQ</a:t>
            </a:r>
            <a:endParaRPr lang="en-US" altLang="zh-CN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75260" y="737870"/>
            <a:ext cx="257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1"/>
                </a:solidFill>
              </a:rPr>
              <a:t>WFQ</a:t>
            </a:r>
            <a:r>
              <a:rPr lang="zh-CN" altLang="en-US" b="1">
                <a:solidFill>
                  <a:schemeClr val="accent1"/>
                </a:solidFill>
              </a:rPr>
              <a:t>算法具体计算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430" y="1231265"/>
            <a:ext cx="4421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）虚拟离开时间（</a:t>
            </a:r>
            <a:r>
              <a:rPr lang="en-US" altLang="zh-CN"/>
              <a:t>VFT</a:t>
            </a:r>
            <a:r>
              <a:rPr lang="zh-CN" altLang="en-US"/>
              <a:t>）的计算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-704215" y="1555115"/>
                <a:ext cx="7933055" cy="909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4215" y="1555115"/>
                <a:ext cx="7933055" cy="9099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221095" y="1231265"/>
                <a:ext cx="3992245" cy="2213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第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个包离开的虚拟时间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第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个包到来的虚拟时间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是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第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个包的长度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分别是链路速率和流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的权重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第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个包到来的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真实时间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095" y="1231265"/>
                <a:ext cx="3992245" cy="22136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左大括号 17"/>
          <p:cNvSpPr/>
          <p:nvPr/>
        </p:nvSpPr>
        <p:spPr>
          <a:xfrm>
            <a:off x="1598295" y="1839595"/>
            <a:ext cx="297815" cy="1140460"/>
          </a:xfrm>
          <a:prstGeom prst="leftBrace">
            <a:avLst>
              <a:gd name="adj1" fmla="val 14092"/>
              <a:gd name="adj2" fmla="val 4938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2060575" y="2556510"/>
                <a:ext cx="3395345" cy="485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𝑚𝑎𝑥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{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)}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575" y="2556510"/>
                <a:ext cx="3395345" cy="4851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2368550" y="3157855"/>
            <a:ext cx="1902460" cy="3854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上一个包离开时间</a:t>
            </a:r>
            <a:endParaRPr lang="zh-CN" altLang="en-US" sz="1600"/>
          </a:p>
        </p:txBody>
      </p:sp>
      <p:sp>
        <p:nvSpPr>
          <p:cNvPr id="22" name="矩形 21"/>
          <p:cNvSpPr/>
          <p:nvPr/>
        </p:nvSpPr>
        <p:spPr>
          <a:xfrm>
            <a:off x="4398010" y="3157855"/>
            <a:ext cx="1902460" cy="3854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当前包的到来时间</a:t>
            </a:r>
            <a:endParaRPr lang="zh-CN" altLang="en-US" sz="1600"/>
          </a:p>
        </p:txBody>
      </p:sp>
      <p:cxnSp>
        <p:nvCxnSpPr>
          <p:cNvPr id="23" name="直接箭头连接符 22"/>
          <p:cNvCxnSpPr>
            <a:endCxn id="19" idx="2"/>
          </p:cNvCxnSpPr>
          <p:nvPr/>
        </p:nvCxnSpPr>
        <p:spPr>
          <a:xfrm flipV="1">
            <a:off x="3428365" y="3041650"/>
            <a:ext cx="330200" cy="11620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4798695" y="3016885"/>
            <a:ext cx="237490" cy="16319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154430" y="4231640"/>
            <a:ext cx="597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7030A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流</a:t>
            </a:r>
            <a:r>
              <a:rPr lang="en-US" altLang="zh-CN">
                <a:solidFill>
                  <a:srgbClr val="7030A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i</a:t>
            </a:r>
            <a:r>
              <a:rPr lang="zh-CN" altLang="en-US">
                <a:solidFill>
                  <a:srgbClr val="7030A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第</a:t>
            </a:r>
            <a:r>
              <a:rPr lang="en-US" altLang="zh-CN">
                <a:solidFill>
                  <a:srgbClr val="7030A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k</a:t>
            </a:r>
            <a:r>
              <a:rPr lang="zh-CN" altLang="en-US">
                <a:solidFill>
                  <a:srgbClr val="7030A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个包传输需要的真实时间应该为</a:t>
            </a:r>
            <a:endParaRPr lang="zh-CN" altLang="en-US">
              <a:solidFill>
                <a:srgbClr val="7030A0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34925" y="4491990"/>
                <a:ext cx="5349875" cy="192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1"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∆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𝜖</m:t>
                                  </m:r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𝜖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𝐵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" y="4491990"/>
                <a:ext cx="5349875" cy="1929765"/>
              </a:xfrm>
              <a:prstGeom prst="rect">
                <a:avLst/>
              </a:prstGeom>
              <a:blipFill rotWithShape="1">
                <a:blip r:embed="rId4"/>
                <a:stretch>
                  <a:fillRect r="-4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右箭头 29"/>
          <p:cNvSpPr/>
          <p:nvPr/>
        </p:nvSpPr>
        <p:spPr>
          <a:xfrm>
            <a:off x="5984875" y="5217160"/>
            <a:ext cx="688975" cy="4959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6870700" y="5076825"/>
                <a:ext cx="2579370" cy="90995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∆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700" y="5076825"/>
                <a:ext cx="2579370" cy="90995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/>
          <p:cNvSpPr txBox="1"/>
          <p:nvPr/>
        </p:nvSpPr>
        <p:spPr>
          <a:xfrm>
            <a:off x="7679690" y="3950335"/>
            <a:ext cx="3577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  <a:sym typeface="+mn-ea"/>
              </a:rPr>
              <a:t>虚拟时间增量为当前的真实时间增量除以当前活跃流的权重之和。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0" grpId="1" animBg="1"/>
      <p:bldP spid="22" grpId="1" animBg="1"/>
      <p:bldP spid="26" grpId="0"/>
      <p:bldP spid="27" grpId="0"/>
      <p:bldP spid="26" grpId="1"/>
      <p:bldP spid="27" grpId="1"/>
      <p:bldP spid="30" grpId="0" animBg="1"/>
      <p:bldP spid="31" grpId="0"/>
      <p:bldP spid="30" grpId="1" animBg="1"/>
      <p:bldP spid="31" grpId="1"/>
      <p:bldP spid="32" grpId="0"/>
      <p:bldP spid="3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8120" y="1308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队列调度实现</a:t>
            </a:r>
            <a:r>
              <a:rPr lang="en-US" altLang="zh-CN" sz="2400">
                <a:sym typeface="+mn-ea"/>
              </a:rPr>
              <a:t>QoS——DWRR</a:t>
            </a:r>
            <a:endParaRPr lang="en-US" altLang="zh-CN" sz="2400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87350" y="737870"/>
            <a:ext cx="1576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演变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2925" y="1106170"/>
            <a:ext cx="10761980" cy="532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b="1"/>
              <a:t>RR (Round Robin) - </a:t>
            </a:r>
            <a:r>
              <a:rPr lang="zh-CN" altLang="en-US" b="1"/>
              <a:t>轮询调度</a:t>
            </a:r>
            <a:endParaRPr lang="zh-CN" altLang="en-US" b="1"/>
          </a:p>
          <a:p>
            <a:pPr lvl="1" indent="0">
              <a:lnSpc>
                <a:spcPct val="150000"/>
              </a:lnSpc>
              <a:buFont typeface="+mj-ea"/>
              <a:buNone/>
            </a:pPr>
            <a:r>
              <a:rPr lang="zh-CN" altLang="en-US">
                <a:solidFill>
                  <a:schemeClr val="accent2"/>
                </a:solidFill>
              </a:rPr>
              <a:t>原理：</a:t>
            </a:r>
            <a:r>
              <a:rPr lang="en-US" altLang="zh-CN"/>
              <a:t> </a:t>
            </a:r>
            <a:r>
              <a:rPr lang="zh-CN" altLang="en-US"/>
              <a:t>依次循环服务每个非空队列，每个队列每次发送一个包。</a:t>
            </a:r>
            <a:endParaRPr lang="zh-CN" altLang="en-US"/>
          </a:p>
          <a:p>
            <a:pPr lvl="1"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altLang="zh-CN">
                <a:solidFill>
                  <a:schemeClr val="accent2"/>
                </a:solidFill>
              </a:rPr>
              <a:t>QoS </a:t>
            </a:r>
            <a:r>
              <a:rPr lang="zh-CN" altLang="en-US">
                <a:solidFill>
                  <a:schemeClr val="accent2"/>
                </a:solidFill>
              </a:rPr>
              <a:t>作用</a:t>
            </a:r>
            <a:r>
              <a:rPr lang="zh-CN" altLang="en-US"/>
              <a:t>：</a:t>
            </a:r>
            <a:endParaRPr lang="zh-CN" altLang="en-US"/>
          </a:p>
          <a:p>
            <a:pPr marL="1657350" lvl="3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基本公平性：</a:t>
            </a:r>
            <a:r>
              <a:rPr lang="en-US" altLang="zh-CN"/>
              <a:t> </a:t>
            </a:r>
            <a:r>
              <a:rPr lang="zh-CN" altLang="en-US"/>
              <a:t>确保每个队列都能获得服务机会，防止饿死。</a:t>
            </a:r>
            <a:endParaRPr lang="zh-CN" altLang="en-US"/>
          </a:p>
          <a:p>
            <a:pPr marL="1657350" lvl="3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无视包长</a:t>
            </a:r>
            <a:r>
              <a:rPr lang="en-US" altLang="zh-CN"/>
              <a:t>/</a:t>
            </a:r>
            <a:r>
              <a:rPr lang="zh-CN" altLang="en-US"/>
              <a:t>权重：</a:t>
            </a:r>
            <a:r>
              <a:rPr lang="en-US" altLang="zh-CN"/>
              <a:t> </a:t>
            </a:r>
            <a:r>
              <a:rPr lang="zh-CN" altLang="en-US"/>
              <a:t>按包个数公平，对发送大包的队列不公平（获得更多带宽）。</a:t>
            </a:r>
            <a:endParaRPr lang="en-US" altLang="zh-CN"/>
          </a:p>
          <a:p>
            <a:pPr lvl="1" indent="0">
              <a:lnSpc>
                <a:spcPct val="130000"/>
              </a:lnSpc>
              <a:buFont typeface="+mj-ea"/>
              <a:buNone/>
            </a:pPr>
            <a:r>
              <a:rPr lang="zh-CN" altLang="en-US">
                <a:solidFill>
                  <a:schemeClr val="accent2"/>
                </a:solidFill>
              </a:rPr>
              <a:t>适用场景：</a:t>
            </a:r>
            <a:r>
              <a:rPr lang="en-US" altLang="zh-CN"/>
              <a:t> </a:t>
            </a:r>
            <a:r>
              <a:rPr lang="zh-CN" altLang="en-US"/>
              <a:t>需要基本公平且流量包长相近的场景。</a:t>
            </a:r>
            <a:endParaRPr lang="zh-CN" altLang="en-US"/>
          </a:p>
          <a:p>
            <a:pPr marL="342900" lvl="0" indent="-342900">
              <a:lnSpc>
                <a:spcPct val="160000"/>
              </a:lnSpc>
              <a:buFont typeface="+mj-ea"/>
              <a:buAutoNum type="circleNumDbPlain"/>
            </a:pPr>
            <a:r>
              <a:rPr lang="en-US" altLang="zh-CN" b="1">
                <a:solidFill>
                  <a:schemeClr val="tx1"/>
                </a:solidFill>
              </a:rPr>
              <a:t>WRR (Weighted Round Robin) - </a:t>
            </a:r>
            <a:r>
              <a:rPr lang="zh-CN" altLang="en-US" b="1">
                <a:solidFill>
                  <a:schemeClr val="tx1"/>
                </a:solidFill>
              </a:rPr>
              <a:t>加权轮询</a:t>
            </a:r>
            <a:endParaRPr lang="zh-CN" altLang="en-US" b="1">
              <a:solidFill>
                <a:schemeClr val="tx1"/>
              </a:solidFill>
            </a:endParaRPr>
          </a:p>
          <a:p>
            <a:pPr lvl="1" indent="0">
              <a:lnSpc>
                <a:spcPct val="130000"/>
              </a:lnSpc>
              <a:buFont typeface="+mj-ea"/>
              <a:buNone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accent2"/>
                </a:solidFill>
              </a:rPr>
              <a:t>原理：</a:t>
            </a:r>
            <a:r>
              <a:rPr lang="en-US" altLang="zh-CN">
                <a:solidFill>
                  <a:schemeClr val="tx1"/>
                </a:solidFill>
              </a:rPr>
              <a:t> RR </a:t>
            </a:r>
            <a:r>
              <a:rPr lang="zh-CN" altLang="en-US">
                <a:solidFill>
                  <a:schemeClr val="tx1"/>
                </a:solidFill>
              </a:rPr>
              <a:t>的改进版。为每个队列分配一个权重</a:t>
            </a:r>
            <a:r>
              <a:rPr lang="en-US" altLang="zh-CN">
                <a:solidFill>
                  <a:schemeClr val="tx1"/>
                </a:solidFill>
              </a:rPr>
              <a:t>(Weight)</a:t>
            </a:r>
            <a:r>
              <a:rPr lang="zh-CN" altLang="en-US">
                <a:solidFill>
                  <a:schemeClr val="tx1"/>
                </a:solidFill>
              </a:rPr>
              <a:t>。调度时，按</a:t>
            </a:r>
            <a:r>
              <a:rPr lang="zh-CN" altLang="en-US" b="1">
                <a:solidFill>
                  <a:schemeClr val="tx1"/>
                </a:solidFill>
              </a:rPr>
              <a:t>权重比例决定</a:t>
            </a:r>
            <a:r>
              <a:rPr lang="zh-CN" altLang="en-US">
                <a:solidFill>
                  <a:schemeClr val="tx1"/>
                </a:solidFill>
              </a:rPr>
              <a:t>一个队列在一轮中被服务的次数（或发送的包数）。</a:t>
            </a:r>
            <a:endParaRPr lang="zh-CN" altLang="en-US">
              <a:solidFill>
                <a:schemeClr val="tx1"/>
              </a:solidFill>
            </a:endParaRPr>
          </a:p>
          <a:p>
            <a:pPr lvl="1" indent="0">
              <a:lnSpc>
                <a:spcPct val="130000"/>
              </a:lnSpc>
              <a:buFont typeface="+mj-ea"/>
              <a:buNone/>
            </a:pPr>
            <a:r>
              <a:rPr lang="en-US" altLang="zh-CN">
                <a:solidFill>
                  <a:schemeClr val="accent2"/>
                </a:solidFill>
              </a:rPr>
              <a:t> QoS </a:t>
            </a:r>
            <a:r>
              <a:rPr lang="zh-CN" altLang="en-US">
                <a:solidFill>
                  <a:schemeClr val="accent2"/>
                </a:solidFill>
              </a:rPr>
              <a:t>作用：</a:t>
            </a:r>
            <a:endParaRPr lang="en-US" altLang="zh-CN">
              <a:solidFill>
                <a:schemeClr val="tx1"/>
              </a:solidFill>
            </a:endParaRPr>
          </a:p>
          <a:p>
            <a:pPr marL="1657350" lvl="3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按权重分配带宽：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权重大的队列获得更多服务机会，从而获得更高带宽。</a:t>
            </a:r>
            <a:endParaRPr lang="zh-CN" altLang="en-US">
              <a:solidFill>
                <a:schemeClr val="tx1"/>
              </a:solidFill>
            </a:endParaRPr>
          </a:p>
          <a:p>
            <a:pPr marL="1657350" lvl="3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包长敏感问题：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仍按包个数分配服务机会。如果队列的包长差异大，实际获得的带宽比例会偏离权重比例（大包队列占便宜）。</a:t>
            </a:r>
            <a:endParaRPr lang="en-US" altLang="zh-CN">
              <a:solidFill>
                <a:schemeClr val="tx1"/>
              </a:solidFill>
            </a:endParaRPr>
          </a:p>
          <a:p>
            <a:pPr lvl="1" indent="0">
              <a:lnSpc>
                <a:spcPct val="130000"/>
              </a:lnSpc>
              <a:buFont typeface="+mj-ea"/>
              <a:buNone/>
            </a:pPr>
            <a:r>
              <a:rPr lang="zh-CN" altLang="en-US">
                <a:solidFill>
                  <a:schemeClr val="accent2"/>
                </a:solidFill>
              </a:rPr>
              <a:t>适用场景：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需要按权重分配带宽，且各队列平均包长相仿的场景。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450070" y="1180465"/>
            <a:ext cx="2267585" cy="10560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如何消除包大小对带宽比例的影响？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8120" y="1308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队列调度实现</a:t>
            </a:r>
            <a:r>
              <a:rPr lang="en-US" altLang="zh-CN" sz="2400">
                <a:sym typeface="+mn-ea"/>
              </a:rPr>
              <a:t>QoS——DWRR</a:t>
            </a:r>
            <a:endParaRPr lang="en-US" altLang="zh-CN" sz="2400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87350" y="2428875"/>
            <a:ext cx="1576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Wiki</a:t>
            </a:r>
            <a:r>
              <a:rPr lang="zh-CN" altLang="en-US" b="1">
                <a:solidFill>
                  <a:schemeClr val="accent1"/>
                </a:solidFill>
              </a:rPr>
              <a:t>概述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1360" y="2824480"/>
            <a:ext cx="10809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DWRR</a:t>
            </a:r>
            <a:r>
              <a:rPr lang="zh-CN" altLang="en-US"/>
              <a:t>是一种网络调度算法，与</a:t>
            </a:r>
            <a:r>
              <a:rPr lang="en-US" altLang="zh-CN"/>
              <a:t>WFQ</a:t>
            </a:r>
            <a:r>
              <a:rPr lang="zh-CN" altLang="en-US"/>
              <a:t>相似，是基于包的</a:t>
            </a:r>
            <a:r>
              <a:rPr lang="zh-CN" altLang="en-US" b="1"/>
              <a:t>理想</a:t>
            </a:r>
            <a:r>
              <a:rPr lang="en-US" altLang="zh-CN" b="1"/>
              <a:t>GPS(</a:t>
            </a:r>
            <a:r>
              <a:rPr lang="en-US" altLang="zh-CN"/>
              <a:t>Generalized Processor Sharing)</a:t>
            </a:r>
            <a:r>
              <a:rPr lang="zh-CN" altLang="en-US"/>
              <a:t>策略的应用，是一个高效（复杂度为</a:t>
            </a:r>
            <a:r>
              <a:rPr lang="en-US" altLang="zh-CN"/>
              <a:t>O(1)</a:t>
            </a:r>
            <a:r>
              <a:rPr lang="zh-CN" altLang="en-US"/>
              <a:t>），公平的算法。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390640" y="2343150"/>
            <a:ext cx="464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包的传输速率跟权重成正比</a:t>
            </a:r>
            <a:endParaRPr lang="zh-CN" altLang="en-US">
              <a:solidFill>
                <a:schemeClr val="accent2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6739255" y="2711450"/>
            <a:ext cx="194310" cy="24066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02590" y="3791585"/>
            <a:ext cx="1576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1"/>
                </a:solidFill>
              </a:rPr>
              <a:t>思想</a:t>
            </a:r>
            <a:endParaRPr lang="zh-CN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21360" y="4260215"/>
                <a:ext cx="10048875" cy="1116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在</a:t>
                </a:r>
                <a:r>
                  <a:rPr lang="en-US" altLang="zh-CN"/>
                  <a:t>DRR</a:t>
                </a:r>
                <a:r>
                  <a:rPr lang="zh-CN" altLang="en-US"/>
                  <a:t>中，一个调度器处理</a:t>
                </a:r>
                <a:r>
                  <a:rPr lang="en-US" altLang="zh-CN"/>
                  <a:t>N</a:t>
                </a:r>
                <a:r>
                  <a:rPr lang="zh-CN" altLang="en-US"/>
                  <a:t>个流，每个流都有一个原子（</a:t>
                </a:r>
                <a:r>
                  <a:rPr lang="en-US" altLang="zh-CN"/>
                  <a:t>quantum</a:t>
                </a:r>
                <a:r>
                  <a:rPr lang="zh-CN" altLang="en-US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，全局观点是每轮流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最多发送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个字节，如果该流还有剩余的字节，那下一轮再发送。因此在这段长过程中，流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获得的最小速率为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+...+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）</m:t>
                        </m:r>
                      </m:den>
                    </m:f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为链路速率。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0" y="4260215"/>
                <a:ext cx="10048875" cy="11169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402590" y="1193800"/>
            <a:ext cx="9055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DWRR (Deficit Weighted Round Robin) / DRR (Deficit Round Robin) - </a:t>
            </a:r>
            <a:r>
              <a:rPr lang="zh-CN" altLang="en-US" b="1">
                <a:solidFill>
                  <a:schemeClr val="accent1"/>
                </a:solidFill>
              </a:rPr>
              <a:t>赤字加权轮询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1360" y="1665605"/>
            <a:ext cx="10149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WRR </a:t>
            </a:r>
            <a:r>
              <a:rPr lang="zh-CN" altLang="en-US"/>
              <a:t>的重大改进。每个队列维护一个</a:t>
            </a:r>
            <a:r>
              <a:rPr lang="en-US" altLang="zh-CN"/>
              <a:t> Deficit Counter</a:t>
            </a:r>
            <a:r>
              <a:rPr lang="zh-CN" altLang="en-US"/>
              <a:t>（赤字计数器）来消除包大小</a:t>
            </a:r>
            <a:r>
              <a:rPr lang="zh-CN" altLang="en-US">
                <a:sym typeface="+mn-ea"/>
              </a:rPr>
              <a:t>对带宽比例的影响。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1" grpId="0"/>
      <p:bldP spid="10" grpId="1"/>
      <p:bldP spid="1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8120" y="1308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队列调度实现</a:t>
            </a:r>
            <a:r>
              <a:rPr lang="en-US" altLang="zh-CN" sz="2400">
                <a:sym typeface="+mn-ea"/>
              </a:rPr>
              <a:t>QoS——DWRR</a:t>
            </a:r>
            <a:endParaRPr lang="en-US" altLang="zh-CN" sz="2400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10845" y="800735"/>
            <a:ext cx="1576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1"/>
                </a:solidFill>
              </a:rPr>
              <a:t>算法</a:t>
            </a:r>
            <a:endParaRPr 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0640" y="2343150"/>
            <a:ext cx="464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包的传输速率跟权重成正比</a:t>
            </a:r>
            <a:endParaRPr lang="zh-CN" altLang="en-US">
              <a:solidFill>
                <a:schemeClr val="accent2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6739255" y="2711450"/>
            <a:ext cx="194310" cy="24066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970" y="948055"/>
            <a:ext cx="7922260" cy="561340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6879590" y="1778000"/>
            <a:ext cx="1856105" cy="3962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</a:t>
            </a:r>
            <a:r>
              <a:rPr lang="zh-CN" altLang="en-US"/>
              <a:t>为赤字数组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7112635" y="3688715"/>
                <a:ext cx="4745355" cy="2414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/>
                  <a:t>如果流</a:t>
                </a:r>
                <a:r>
                  <a:rPr lang="en-US" altLang="zh-CN"/>
                  <a:t>i</a:t>
                </a:r>
                <a:r>
                  <a:rPr lang="zh-CN" altLang="en-US"/>
                  <a:t>的赤字大小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</m:oMath>
                </a14:m>
                <a:r>
                  <a:rPr lang="zh-CN" altLang="en-US"/>
                  <a:t>头部包大小，那立刻发送该头部包。</a:t>
                </a:r>
                <a:endParaRPr lang="zh-CN" altLang="en-US"/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>
                    <a:sym typeface="+mn-ea"/>
                  </a:rPr>
                  <a:t>如果流</a:t>
                </a:r>
                <a:r>
                  <a:rPr lang="en-US" altLang="zh-CN">
                    <a:sym typeface="+mn-ea"/>
                  </a:rPr>
                  <a:t>i</a:t>
                </a:r>
                <a:r>
                  <a:rPr lang="zh-CN" altLang="en-US">
                    <a:sym typeface="+mn-ea"/>
                  </a:rPr>
                  <a:t>的赤字大小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&lt;</m:t>
                    </m:r>
                  </m:oMath>
                </a14:m>
                <a:r>
                  <a:rPr lang="zh-CN" altLang="en-US">
                    <a:sym typeface="+mn-ea"/>
                  </a:rPr>
                  <a:t>头部包大小，那该流的赤字累加，直到几轮后大于头部包大小再传送数据。</a:t>
                </a:r>
                <a:endParaRPr lang="zh-CN" altLang="en-US">
                  <a:sym typeface="+mn-ea"/>
                </a:endParaRPr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/>
                  <a:t>如果流</a:t>
                </a:r>
                <a:r>
                  <a:rPr lang="en-US" altLang="zh-CN"/>
                  <a:t>i</a:t>
                </a:r>
                <a:r>
                  <a:rPr lang="zh-CN" altLang="en-US"/>
                  <a:t>传输完成，对应的赤字数组归零。</a:t>
                </a:r>
                <a:endParaRPr lang="zh-CN" altLang="en-US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635" y="3688715"/>
                <a:ext cx="4745355" cy="24149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圆角矩形 18"/>
          <p:cNvSpPr/>
          <p:nvPr/>
        </p:nvSpPr>
        <p:spPr>
          <a:xfrm>
            <a:off x="6879590" y="1197610"/>
            <a:ext cx="4474845" cy="4114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Q</a:t>
            </a:r>
            <a:r>
              <a:rPr lang="zh-CN" altLang="en-US"/>
              <a:t>保存每个流的权重，由网络管理者设定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6" grpId="0" animBg="1"/>
      <p:bldP spid="16" grpId="1" animBg="1"/>
      <p:bldP spid="18" grpId="0"/>
      <p:bldP spid="1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8120" y="1308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队列调度实现</a:t>
            </a:r>
            <a:r>
              <a:rPr lang="en-US" altLang="zh-CN" sz="2400">
                <a:sym typeface="+mn-ea"/>
              </a:rPr>
              <a:t>QoS——DWRR</a:t>
            </a:r>
            <a:endParaRPr lang="en-US" altLang="zh-CN" sz="2400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5560" y="591185"/>
            <a:ext cx="656780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10845" y="800735"/>
            <a:ext cx="1576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1"/>
                </a:solidFill>
              </a:rPr>
              <a:t>性能比较</a:t>
            </a:r>
            <a:endParaRPr lang="zh-CN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84555" y="1250315"/>
                <a:ext cx="10241915" cy="3450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lnSpc>
                    <a:spcPct val="130000"/>
                  </a:lnSpc>
                  <a:buFont typeface="+mj-ea"/>
                  <a:buAutoNum type="circleNumDbPlain"/>
                </a:pPr>
                <a:r>
                  <a:rPr lang="en-US" altLang="zh-CN" b="1"/>
                  <a:t>DWRR vs  WRR</a:t>
                </a:r>
                <a:endParaRPr lang="en-US" altLang="zh-CN" b="1"/>
              </a:p>
              <a:p>
                <a:pPr lvl="1" indent="0">
                  <a:lnSpc>
                    <a:spcPct val="130000"/>
                  </a:lnSpc>
                  <a:buFont typeface="+mj-ea"/>
                  <a:buNone/>
                </a:pPr>
                <a:r>
                  <a:rPr lang="en-US" altLang="zh-CN"/>
                  <a:t>DRR</a:t>
                </a:r>
                <a:r>
                  <a:rPr lang="zh-CN" altLang="en-US"/>
                  <a:t>给每一个流提供一个最小速率，不受数据包大小的影响；</a:t>
                </a:r>
                <a:r>
                  <a:rPr lang="en-US" altLang="zh-CN"/>
                  <a:t>WRR</a:t>
                </a:r>
                <a:r>
                  <a:rPr lang="zh-CN" altLang="en-US"/>
                  <a:t>中流的带宽使用占比受数据包大小影响。</a:t>
                </a:r>
                <a:endParaRPr lang="zh-CN" altLang="en-US"/>
              </a:p>
              <a:p>
                <a:pPr marL="342900" lvl="0" indent="-342900">
                  <a:lnSpc>
                    <a:spcPct val="130000"/>
                  </a:lnSpc>
                  <a:buFont typeface="+mj-ea"/>
                  <a:buAutoNum type="circleNumDbPlain"/>
                </a:pPr>
                <a:r>
                  <a:rPr lang="en-US" altLang="zh-CN" b="1">
                    <a:solidFill>
                      <a:schemeClr val="tx1"/>
                    </a:solidFill>
                  </a:rPr>
                  <a:t>DWRR vs WFQ</a:t>
                </a:r>
                <a:endParaRPr lang="en-US" altLang="zh-CN" b="1">
                  <a:solidFill>
                    <a:schemeClr val="tx1"/>
                  </a:solidFill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solidFill>
                      <a:schemeClr val="tx1"/>
                    </a:solidFill>
                  </a:rPr>
                  <a:t>WFQ</a:t>
                </a:r>
                <a:r>
                  <a:rPr lang="zh-CN" altLang="en-US">
                    <a:solidFill>
                      <a:schemeClr val="tx1"/>
                    </a:solidFill>
                  </a:rPr>
                  <a:t>的调度复杂度为</a:t>
                </a:r>
                <a:r>
                  <a:rPr lang="en-US" altLang="zh-CN">
                    <a:solidFill>
                      <a:schemeClr val="tx1"/>
                    </a:solidFill>
                  </a:rPr>
                  <a:t>O(log(n))</a:t>
                </a:r>
                <a:r>
                  <a:rPr lang="zh-CN" altLang="en-US">
                    <a:solidFill>
                      <a:schemeClr val="tx1"/>
                    </a:solidFill>
                  </a:rPr>
                  <a:t>，</a:t>
                </a:r>
                <a:r>
                  <a:rPr lang="en-US" altLang="zh-CN">
                    <a:solidFill>
                      <a:schemeClr val="tx1"/>
                    </a:solidFill>
                  </a:rPr>
                  <a:t>n</a:t>
                </a:r>
                <a:r>
                  <a:rPr lang="zh-CN" altLang="en-US">
                    <a:solidFill>
                      <a:schemeClr val="tx1"/>
                    </a:solidFill>
                  </a:rPr>
                  <a:t>为活跃的流</a:t>
                </a:r>
                <a:r>
                  <a:rPr lang="en-US" altLang="zh-CN">
                    <a:solidFill>
                      <a:schemeClr val="tx1"/>
                    </a:solidFill>
                  </a:rPr>
                  <a:t>/</a:t>
                </a:r>
                <a:r>
                  <a:rPr lang="zh-CN" altLang="en-US">
                    <a:solidFill>
                      <a:schemeClr val="tx1"/>
                    </a:solidFill>
                  </a:rPr>
                  <a:t>队列的数目；</a:t>
                </a:r>
                <a:r>
                  <a:rPr lang="en-US" altLang="zh-CN">
                    <a:solidFill>
                      <a:schemeClr val="tx1"/>
                    </a:solidFill>
                  </a:rPr>
                  <a:t>DRR</a:t>
                </a:r>
                <a:r>
                  <a:rPr lang="zh-CN" altLang="en-US">
                    <a:solidFill>
                      <a:schemeClr val="tx1"/>
                    </a:solidFill>
                  </a:rPr>
                  <a:t>的复杂度为</a:t>
                </a:r>
                <a:r>
                  <a:rPr lang="en-US" altLang="zh-CN">
                    <a:solidFill>
                      <a:schemeClr val="tx1"/>
                    </a:solidFill>
                  </a:rPr>
                  <a:t>O(1)</a:t>
                </a:r>
                <a:r>
                  <a:rPr lang="zh-CN" altLang="en-US">
                    <a:solidFill>
                      <a:schemeClr val="tx1"/>
                    </a:solidFill>
                  </a:rPr>
                  <a:t>，如果原子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大于该流最大的包的大小。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如果</a:t>
                </a:r>
                <a:r>
                  <a:rPr lang="zh-CN" altLang="en-US">
                    <a:sym typeface="+mn-ea"/>
                  </a:rPr>
                  <a:t>原子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小于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该流最大的包的大小，那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DRR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性能受损，延迟（离理想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GPS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距离）大于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WFQ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en-US" altLang="zh-CN">
                  <a:solidFill>
                    <a:schemeClr val="tx1"/>
                  </a:solidFill>
                </a:endParaRPr>
              </a:p>
              <a:p>
                <a:pPr marL="742950" lvl="1" indent="-285750">
                  <a:buFont typeface="Wingdings" panose="05000000000000000000" charset="0"/>
                  <a:buChar char="Ø"/>
                </a:pPr>
                <a:endParaRPr lang="en-US" altLang="zh-CN">
                  <a:solidFill>
                    <a:schemeClr val="tx1"/>
                  </a:solidFill>
                </a:endParaRPr>
              </a:p>
              <a:p>
                <a:pPr lvl="1" indent="0">
                  <a:buFont typeface="+mj-ea"/>
                  <a:buNone/>
                </a:pPr>
                <a:endParaRPr lang="en-US" altLang="zh-CN"/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55" y="1250315"/>
                <a:ext cx="10241915" cy="34505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291465" y="3933190"/>
            <a:ext cx="1576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1"/>
                </a:solidFill>
              </a:rPr>
              <a:t>应用</a:t>
            </a:r>
            <a:endParaRPr 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1995" y="4425950"/>
            <a:ext cx="1040447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en-US" altLang="zh-CN"/>
              <a:t>Linux</a:t>
            </a:r>
            <a:r>
              <a:rPr lang="zh-CN" altLang="en-US"/>
              <a:t>内核实现相应功能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en-US" altLang="zh-CN"/>
              <a:t>Cisco</a:t>
            </a:r>
            <a:r>
              <a:rPr lang="zh-CN" altLang="en-US"/>
              <a:t>（思科）和</a:t>
            </a:r>
            <a:r>
              <a:rPr lang="en-US" altLang="zh-CN"/>
              <a:t>Juniper</a:t>
            </a:r>
            <a:r>
              <a:rPr lang="zh-CN" altLang="en-US"/>
              <a:t>（瞻博）路由器，实现了</a:t>
            </a:r>
            <a:r>
              <a:rPr lang="en-US" altLang="zh-CN"/>
              <a:t>DRR</a:t>
            </a:r>
            <a:r>
              <a:rPr lang="zh-CN" altLang="en-US"/>
              <a:t>修正版本。因为</a:t>
            </a:r>
            <a:r>
              <a:rPr lang="en-US" altLang="zh-CN"/>
              <a:t>DRR</a:t>
            </a:r>
            <a:r>
              <a:rPr lang="zh-CN" altLang="en-US"/>
              <a:t>时延对某些大包流量可能较大。修正版本给予这些队列更高的优先级，其他队列使用标准的</a:t>
            </a:r>
            <a:r>
              <a:rPr lang="en-US" altLang="zh-CN"/>
              <a:t>DRR</a:t>
            </a:r>
            <a:r>
              <a:rPr lang="zh-CN" altLang="en-US"/>
              <a:t>算法。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,&quot;left&quot;:56.4,&quot;top&quot;:140.7,&quot;width&quot;:805.65}"/>
</p:tagLst>
</file>

<file path=ppt/tags/tag2.xml><?xml version="1.0" encoding="utf-8"?>
<p:tagLst xmlns:p="http://schemas.openxmlformats.org/presentationml/2006/main">
  <p:tag name="KSO_WM_DIAGRAM_VIRTUALLY_FRAME" val="{&quot;height&quot;:327,&quot;left&quot;:56.4,&quot;top&quot;:140.7,&quot;width&quot;:805.65}"/>
</p:tagLst>
</file>

<file path=ppt/tags/tag3.xml><?xml version="1.0" encoding="utf-8"?>
<p:tagLst xmlns:p="http://schemas.openxmlformats.org/presentationml/2006/main">
  <p:tag name="KSO_WM_DIAGRAM_VIRTUALLY_FRAME" val="{&quot;height&quot;:327,&quot;left&quot;:56.4,&quot;top&quot;:140.7,&quot;width&quot;:805.65}"/>
</p:tagLst>
</file>

<file path=ppt/tags/tag4.xml><?xml version="1.0" encoding="utf-8"?>
<p:tagLst xmlns:p="http://schemas.openxmlformats.org/presentationml/2006/main">
  <p:tag name="KSO_WM_DIAGRAM_VIRTUALLY_FRAME" val="{&quot;height&quot;:327,&quot;left&quot;:56.4,&quot;top&quot;:140.7,&quot;width&quot;:805.65}"/>
</p:tagLst>
</file>

<file path=ppt/tags/tag5.xml><?xml version="1.0" encoding="utf-8"?>
<p:tagLst xmlns:p="http://schemas.openxmlformats.org/presentationml/2006/main">
  <p:tag name="KSO_WM_DIAGRAM_VIRTUALLY_FRAME" val="{&quot;height&quot;:327,&quot;left&quot;:56.4,&quot;top&quot;:140.7,&quot;width&quot;:805.65}"/>
</p:tagLst>
</file>

<file path=ppt/tags/tag6.xml><?xml version="1.0" encoding="utf-8"?>
<p:tagLst xmlns:p="http://schemas.openxmlformats.org/presentationml/2006/main">
  <p:tag name="KSO_WM_DIAGRAM_VIRTUALLY_FRAME" val="{&quot;height&quot;:327,&quot;left&quot;:56.4,&quot;top&quot;:140.7,&quot;width&quot;:805.6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4463</Words>
  <Application>WPS 演示</Application>
  <PresentationFormat>宽屏</PresentationFormat>
  <Paragraphs>260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Cambria Math</vt:lpstr>
      <vt:lpstr>Times New Roman</vt:lpstr>
      <vt:lpstr>MS Mincho</vt:lpstr>
      <vt:lpstr>Segoe Print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16</cp:revision>
  <dcterms:created xsi:type="dcterms:W3CDTF">2023-08-09T12:44:00Z</dcterms:created>
  <dcterms:modified xsi:type="dcterms:W3CDTF">2025-08-12T08:19:44Z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065BF4D8C8F4459099078CDF3B819713_12</vt:lpwstr>
  </property>
</Properties>
</file>