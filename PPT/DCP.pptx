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292735"/>
            <a:ext cx="9610090" cy="2051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39085" y="3137535"/>
            <a:ext cx="6514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DCP</a:t>
            </a:r>
            <a:r>
              <a:rPr lang="zh-CN" altLang="en-US" sz="2400" b="1"/>
              <a:t>：网卡和交换机结合实现的有损</a:t>
            </a:r>
            <a:r>
              <a:rPr lang="en-US" altLang="zh-CN" sz="2400" b="1"/>
              <a:t>RDMA</a:t>
            </a:r>
            <a:r>
              <a:rPr lang="zh-CN" altLang="en-US" sz="2400" b="1"/>
              <a:t>传输</a:t>
            </a:r>
            <a:endParaRPr lang="zh-CN" altLang="en-US" sz="2400" b="1"/>
          </a:p>
        </p:txBody>
      </p:sp>
      <p:sp>
        <p:nvSpPr>
          <p:cNvPr id="6" name="圆角矩形 5"/>
          <p:cNvSpPr/>
          <p:nvPr/>
        </p:nvSpPr>
        <p:spPr>
          <a:xfrm>
            <a:off x="723265" y="4541520"/>
            <a:ext cx="2929255" cy="1223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当前有损</a:t>
            </a:r>
            <a:r>
              <a:rPr lang="en-US" altLang="zh-CN"/>
              <a:t>RDMA</a:t>
            </a:r>
            <a:r>
              <a:rPr lang="zh-CN" altLang="en-US"/>
              <a:t>存在</a:t>
            </a:r>
            <a:r>
              <a:rPr lang="en-US" altLang="zh-CN"/>
              <a:t>ECMP</a:t>
            </a:r>
            <a:r>
              <a:rPr lang="zh-CN" altLang="en-US"/>
              <a:t>哈希碰撞的问题，过长的超时重传（</a:t>
            </a:r>
            <a:r>
              <a:rPr lang="en-US" altLang="zh-CN"/>
              <a:t>RTO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378190" y="4540885"/>
            <a:ext cx="3079115" cy="12236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DCP</a:t>
            </a:r>
            <a:r>
              <a:rPr lang="zh-CN" altLang="en-US"/>
              <a:t>需要网卡和交换机协作，实现了只依靠包头重传，无位图数据包追踪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23265" y="4541520"/>
            <a:ext cx="2929255" cy="1223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当前有损</a:t>
            </a:r>
            <a:r>
              <a:rPr lang="en-US" altLang="zh-CN"/>
              <a:t>RDMA</a:t>
            </a:r>
            <a:r>
              <a:rPr lang="zh-CN" altLang="en-US"/>
              <a:t>存在</a:t>
            </a:r>
            <a:r>
              <a:rPr lang="en-US" altLang="zh-CN"/>
              <a:t>ECMP</a:t>
            </a:r>
            <a:r>
              <a:rPr lang="zh-CN" altLang="en-US"/>
              <a:t>哈希碰撞的问题，过长的超时重传（</a:t>
            </a:r>
            <a:r>
              <a:rPr lang="en-US" altLang="zh-CN"/>
              <a:t>RTO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8378825" y="4540885"/>
            <a:ext cx="3079115" cy="12236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DCP</a:t>
            </a:r>
            <a:r>
              <a:rPr lang="zh-CN" altLang="en-US"/>
              <a:t>需要网卡和交换机协作，实现了只依靠包头重传，无位图数据包追踪</a:t>
            </a:r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23265" y="4541520"/>
            <a:ext cx="2929255" cy="1223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当前有损</a:t>
            </a:r>
            <a:r>
              <a:rPr lang="en-US" altLang="zh-CN"/>
              <a:t>RDMA</a:t>
            </a:r>
            <a:r>
              <a:rPr lang="zh-CN" altLang="en-US"/>
              <a:t>存在</a:t>
            </a:r>
            <a:r>
              <a:rPr lang="en-US" altLang="zh-CN"/>
              <a:t>ECMP</a:t>
            </a:r>
            <a:r>
              <a:rPr lang="zh-CN" altLang="en-US"/>
              <a:t>哈希碰撞的问题，过长的超时重传（</a:t>
            </a:r>
            <a:r>
              <a:rPr lang="en-US" altLang="zh-CN"/>
              <a:t>RTO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4422775" y="4541520"/>
            <a:ext cx="3185795" cy="122301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需要建立一个独立于</a:t>
            </a:r>
            <a:r>
              <a:rPr lang="en-US" altLang="zh-CN"/>
              <a:t>PFC</a:t>
            </a:r>
            <a:r>
              <a:rPr lang="zh-CN" altLang="en-US"/>
              <a:t>，与包级负载均衡兼容，不需要</a:t>
            </a:r>
            <a:r>
              <a:rPr lang="en-US" altLang="zh-CN"/>
              <a:t>RTO</a:t>
            </a:r>
            <a:r>
              <a:rPr lang="zh-CN" altLang="en-US"/>
              <a:t>，</a:t>
            </a:r>
            <a:r>
              <a:rPr lang="en-US" altLang="zh-CN"/>
              <a:t>CPU</a:t>
            </a:r>
            <a:r>
              <a:rPr lang="zh-CN" altLang="en-US"/>
              <a:t>卸载的方案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24000" y="5870575"/>
            <a:ext cx="943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74055" y="5870575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目标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9652635" y="5870575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3792220" y="4979670"/>
            <a:ext cx="407035" cy="3333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右箭头 2"/>
          <p:cNvSpPr/>
          <p:nvPr/>
        </p:nvSpPr>
        <p:spPr>
          <a:xfrm>
            <a:off x="7789545" y="4979670"/>
            <a:ext cx="407035" cy="3333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RNIC-SR</a:t>
            </a:r>
            <a:r>
              <a:rPr lang="zh-CN" altLang="en-US" sz="2000"/>
              <a:t>在有损</a:t>
            </a:r>
            <a:r>
              <a:rPr lang="en-US" altLang="zh-CN" sz="2000"/>
              <a:t>RDMA</a:t>
            </a:r>
            <a:r>
              <a:rPr lang="zh-CN" altLang="en-US" sz="2000"/>
              <a:t>里存在的问题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52095" y="734695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存在问题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8145" y="1171575"/>
            <a:ext cx="1090295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en-US" altLang="zh-CN"/>
              <a:t>RNIC-SR</a:t>
            </a:r>
            <a:r>
              <a:rPr lang="zh-CN" altLang="en-US"/>
              <a:t>在流层面是</a:t>
            </a:r>
            <a:r>
              <a:rPr lang="zh-CN" altLang="en-US" b="1"/>
              <a:t>单路径传输</a:t>
            </a:r>
            <a:r>
              <a:rPr lang="zh-CN" altLang="en-US"/>
              <a:t>的，所以存在大流只能通过一条路径传输。而且</a:t>
            </a:r>
            <a:r>
              <a:rPr lang="en-US" altLang="zh-CN"/>
              <a:t>ECMP</a:t>
            </a:r>
            <a:r>
              <a:rPr lang="zh-CN" altLang="en-US"/>
              <a:t>存在</a:t>
            </a:r>
            <a:r>
              <a:rPr lang="zh-CN" altLang="en-US" b="1"/>
              <a:t>哈希碰撞</a:t>
            </a:r>
            <a:r>
              <a:rPr lang="zh-CN" altLang="en-US"/>
              <a:t>问题，可能导致多条流只能通过一条路径传输，导致负载不均衡，吞吐量下降。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一些特殊情况下的丢包（</a:t>
            </a:r>
            <a:r>
              <a:rPr lang="zh-CN" altLang="en-US" b="1"/>
              <a:t>尾包</a:t>
            </a:r>
            <a:r>
              <a:rPr lang="en-US" altLang="zh-CN" b="1"/>
              <a:t>/</a:t>
            </a:r>
            <a:r>
              <a:rPr lang="zh-CN" altLang="en-US" b="1"/>
              <a:t>重传包</a:t>
            </a:r>
            <a:r>
              <a:rPr lang="zh-CN" altLang="en-US"/>
              <a:t>）不能通过</a:t>
            </a:r>
            <a:r>
              <a:rPr lang="en-US" altLang="zh-CN"/>
              <a:t>RNIC-SR</a:t>
            </a:r>
            <a:r>
              <a:rPr lang="zh-CN" altLang="en-US"/>
              <a:t>快速重传，他们只能依靠超时重传（</a:t>
            </a:r>
            <a:r>
              <a:rPr lang="en-US" altLang="zh-CN"/>
              <a:t>retransmission timeouts, RTO</a:t>
            </a:r>
            <a:r>
              <a:rPr lang="zh-CN" altLang="en-US"/>
              <a:t>）。</a:t>
            </a:r>
            <a:r>
              <a:rPr lang="en-US" altLang="zh-CN"/>
              <a:t>RTO</a:t>
            </a:r>
            <a:r>
              <a:rPr lang="zh-CN" altLang="en-US"/>
              <a:t>的使用会加剧尾包延迟，降低吞吐量。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58800" y="2880360"/>
            <a:ext cx="1104138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通过包层面的负载均衡（包的撒播和动态路由）机制可以替代</a:t>
            </a:r>
            <a:r>
              <a:rPr lang="en-US" altLang="zh-CN"/>
              <a:t>ECMP</a:t>
            </a:r>
            <a:r>
              <a:rPr lang="zh-CN" altLang="en-US"/>
              <a:t>，但是</a:t>
            </a:r>
            <a:r>
              <a:rPr lang="en-US" altLang="zh-CN"/>
              <a:t>RNIC-SR</a:t>
            </a:r>
            <a:r>
              <a:rPr lang="zh-CN" altLang="en-US"/>
              <a:t>本质上与包层面的负载均衡不兼容。</a:t>
            </a:r>
            <a:r>
              <a:rPr lang="zh-CN" altLang="en-US">
                <a:solidFill>
                  <a:schemeClr val="accent6"/>
                </a:solidFill>
              </a:rPr>
              <a:t>因为包级负载均衡会导致到达包乱序，而乱序的数据包会被</a:t>
            </a:r>
            <a:r>
              <a:rPr lang="en-US" altLang="zh-CN">
                <a:solidFill>
                  <a:schemeClr val="accent6"/>
                </a:solidFill>
              </a:rPr>
              <a:t>RNIC-SR</a:t>
            </a:r>
            <a:r>
              <a:rPr lang="zh-CN" altLang="en-US">
                <a:solidFill>
                  <a:schemeClr val="accent6"/>
                </a:solidFill>
              </a:rPr>
              <a:t>认为是包丢失，触发包重传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91135" y="3869690"/>
            <a:ext cx="1271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DCP</a:t>
            </a:r>
            <a:r>
              <a:rPr lang="zh-CN" altLang="en-US" b="1">
                <a:solidFill>
                  <a:schemeClr val="accent1"/>
                </a:solidFill>
              </a:rPr>
              <a:t>目标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8800" y="4359910"/>
            <a:ext cx="10299065" cy="1640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b="1"/>
              <a:t>独立于</a:t>
            </a:r>
            <a:r>
              <a:rPr lang="en-US" altLang="zh-CN" b="1"/>
              <a:t>PFC</a:t>
            </a:r>
            <a:r>
              <a:rPr lang="zh-CN" altLang="en-US"/>
              <a:t>，高效处理以太网里的丢包</a:t>
            </a:r>
            <a:endParaRPr lang="zh-CN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/>
              <a:t>与包</a:t>
            </a:r>
            <a:r>
              <a:rPr lang="zh-CN" altLang="en-US" b="1"/>
              <a:t>级负载均衡兼容</a:t>
            </a:r>
            <a:r>
              <a:rPr lang="zh-CN" altLang="en-US"/>
              <a:t>，准确区分是丢失包还是乱序包</a:t>
            </a:r>
            <a:endParaRPr lang="zh-CN" altLang="en-US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/>
              <a:t>快速重传丢失的包而不是等待</a:t>
            </a:r>
            <a:r>
              <a:rPr lang="en-US" altLang="zh-CN"/>
              <a:t>RTO</a:t>
            </a:r>
            <a:r>
              <a:rPr lang="zh-CN" altLang="en-US"/>
              <a:t>，有准确的</a:t>
            </a:r>
            <a:r>
              <a:rPr lang="zh-CN" altLang="en-US" b="1"/>
              <a:t>丢包重传机制</a:t>
            </a:r>
            <a:r>
              <a:rPr lang="zh-CN" altLang="en-US"/>
              <a:t>，减少网络时延</a:t>
            </a:r>
            <a:endParaRPr lang="zh-CN" altLang="en-US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zh-CN" altLang="en-US"/>
              <a:t>基于</a:t>
            </a:r>
            <a:r>
              <a:rPr lang="zh-CN" altLang="en-US" b="1"/>
              <a:t>硬件设计</a:t>
            </a:r>
            <a:r>
              <a:rPr lang="zh-CN" altLang="en-US"/>
              <a:t>，最小化内存和计算资源的使用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1" grpId="0"/>
      <p:bldP spid="20" grpId="1"/>
      <p:bldP spid="2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DCP</a:t>
            </a:r>
            <a:r>
              <a:rPr lang="zh-CN" altLang="en-US" sz="2000"/>
              <a:t>概述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607" r="3916"/>
          <a:stretch>
            <a:fillRect/>
          </a:stretch>
        </p:blipFill>
        <p:spPr>
          <a:xfrm>
            <a:off x="106680" y="755015"/>
            <a:ext cx="5892800" cy="3209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6000" y="810895"/>
            <a:ext cx="5628005" cy="3482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如果交换机出口端口队列长度超过阈值，</a:t>
            </a:r>
            <a:r>
              <a:rPr lang="zh-CN" altLang="en-US">
                <a:solidFill>
                  <a:schemeClr val="accent1"/>
                </a:solidFill>
              </a:rPr>
              <a:t>交换机</a:t>
            </a:r>
            <a:r>
              <a:rPr lang="zh-CN" altLang="en-US"/>
              <a:t>将数据包裁剪，变为</a:t>
            </a:r>
            <a:r>
              <a:rPr lang="en-US" altLang="zh-CN"/>
              <a:t>HO(Head-Only)</a:t>
            </a:r>
            <a:r>
              <a:rPr lang="zh-CN" altLang="en-US"/>
              <a:t>包，发送给接收方。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>
                <a:solidFill>
                  <a:schemeClr val="accent1"/>
                </a:solidFill>
              </a:rPr>
              <a:t>接收方</a:t>
            </a:r>
            <a:r>
              <a:rPr lang="zh-CN" altLang="en-US"/>
              <a:t>将</a:t>
            </a:r>
            <a:r>
              <a:rPr lang="en-US" altLang="zh-CN"/>
              <a:t>HO</a:t>
            </a:r>
            <a:r>
              <a:rPr lang="zh-CN" altLang="en-US"/>
              <a:t>包交换源</a:t>
            </a:r>
            <a:r>
              <a:rPr lang="en-US" altLang="zh-CN"/>
              <a:t>/</a:t>
            </a:r>
            <a:r>
              <a:rPr lang="zh-CN" altLang="en-US"/>
              <a:t>目的地址，返回给发送方。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发送方应用一个基于</a:t>
            </a:r>
            <a:r>
              <a:rPr lang="en-US" altLang="zh-CN"/>
              <a:t>HO</a:t>
            </a:r>
            <a:r>
              <a:rPr lang="zh-CN" altLang="en-US"/>
              <a:t>的重传机制，</a:t>
            </a:r>
            <a:r>
              <a:rPr lang="en-US" altLang="zh-CN"/>
              <a:t>HO</a:t>
            </a:r>
            <a:r>
              <a:rPr lang="zh-CN" altLang="en-US"/>
              <a:t>包中携带丢失包的</a:t>
            </a:r>
            <a:r>
              <a:rPr lang="en-US" altLang="zh-CN"/>
              <a:t>PSN</a:t>
            </a:r>
            <a:r>
              <a:rPr lang="zh-CN" altLang="en-US"/>
              <a:t>，发送方重传丢失包。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如果到达接收方的是普通数据包，</a:t>
            </a:r>
            <a:r>
              <a:rPr lang="zh-CN" altLang="en-US">
                <a:solidFill>
                  <a:schemeClr val="accent1"/>
                </a:solidFill>
              </a:rPr>
              <a:t>不管是否乱序</a:t>
            </a:r>
            <a:r>
              <a:rPr lang="zh-CN" altLang="en-US"/>
              <a:t>，</a:t>
            </a:r>
            <a:r>
              <a:rPr lang="en-US" altLang="zh-CN"/>
              <a:t>RNIC</a:t>
            </a:r>
            <a:r>
              <a:rPr lang="zh-CN" altLang="en-US"/>
              <a:t>直接写入主机内存。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接收方的</a:t>
            </a:r>
            <a:r>
              <a:rPr lang="en-US" altLang="zh-CN"/>
              <a:t>DCP</a:t>
            </a:r>
            <a:r>
              <a:rPr lang="zh-CN" altLang="en-US"/>
              <a:t>网卡维护数据包的元数据，通过</a:t>
            </a:r>
            <a:r>
              <a:rPr lang="zh-CN" altLang="en-US">
                <a:solidFill>
                  <a:schemeClr val="accent1"/>
                </a:solidFill>
              </a:rPr>
              <a:t>无位图</a:t>
            </a:r>
            <a:r>
              <a:rPr lang="zh-CN" altLang="en-US"/>
              <a:t>实现消息级数据包追踪，如果有必要返回</a:t>
            </a:r>
            <a:r>
              <a:rPr lang="en-US" altLang="zh-CN"/>
              <a:t>ACK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6900" y="4643120"/>
            <a:ext cx="1085151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b="1"/>
              <a:t>DCP</a:t>
            </a:r>
            <a:r>
              <a:rPr lang="zh-CN" altLang="en-US" b="1"/>
              <a:t>交换机：</a:t>
            </a:r>
            <a:r>
              <a:rPr lang="zh-CN" altLang="en-US"/>
              <a:t>交换机里没有拥塞时，数据包放入</a:t>
            </a:r>
            <a:r>
              <a:rPr lang="en-US" altLang="zh-CN"/>
              <a:t>data queue</a:t>
            </a:r>
            <a:r>
              <a:rPr lang="zh-CN" altLang="en-US"/>
              <a:t>。当</a:t>
            </a:r>
            <a:r>
              <a:rPr lang="en-US" altLang="zh-CN"/>
              <a:t>data queue</a:t>
            </a:r>
            <a:r>
              <a:rPr lang="zh-CN" altLang="en-US"/>
              <a:t>拥塞，交换机把</a:t>
            </a:r>
            <a:r>
              <a:rPr lang="en-US" altLang="zh-CN">
                <a:sym typeface="+mn-ea"/>
              </a:rPr>
              <a:t>data queue</a:t>
            </a:r>
            <a:r>
              <a:rPr lang="zh-CN" altLang="en-US">
                <a:sym typeface="+mn-ea"/>
              </a:rPr>
              <a:t>里的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数据包进行裁剪</a:t>
            </a:r>
            <a:r>
              <a:rPr lang="zh-CN" altLang="en-US">
                <a:sym typeface="+mn-ea"/>
              </a:rPr>
              <a:t>，剪掉负载，更新头部标志位，成为</a:t>
            </a:r>
            <a:r>
              <a:rPr lang="en-US" altLang="zh-CN">
                <a:sym typeface="+mn-ea"/>
              </a:rPr>
              <a:t>HO</a:t>
            </a:r>
            <a:r>
              <a:rPr lang="zh-CN" altLang="en-US">
                <a:sym typeface="+mn-ea"/>
              </a:rPr>
              <a:t>包。把</a:t>
            </a:r>
            <a:r>
              <a:rPr lang="en-US" altLang="zh-CN">
                <a:sym typeface="+mn-ea"/>
              </a:rPr>
              <a:t>HO</a:t>
            </a:r>
            <a:r>
              <a:rPr lang="zh-CN" altLang="en-US">
                <a:sym typeface="+mn-ea"/>
              </a:rPr>
              <a:t>包放入</a:t>
            </a:r>
            <a:r>
              <a:rPr lang="en-US" altLang="zh-CN">
                <a:sym typeface="+mn-ea"/>
              </a:rPr>
              <a:t>control queue</a:t>
            </a:r>
            <a:r>
              <a:rPr lang="zh-CN" altLang="en-US">
                <a:sym typeface="+mn-ea"/>
              </a:rPr>
              <a:t>等待调度，为了保证控制平面无损传输，避免数据平面饿死，交换机使用</a:t>
            </a:r>
            <a:r>
              <a:rPr lang="en-US" altLang="zh-CN">
                <a:sym typeface="+mn-ea"/>
              </a:rPr>
              <a:t>WRR</a:t>
            </a:r>
            <a:r>
              <a:rPr lang="zh-CN" altLang="en-US">
                <a:sym typeface="+mn-ea"/>
              </a:rPr>
              <a:t>调度（</a:t>
            </a:r>
            <a:r>
              <a:rPr lang="en-US" altLang="zh-CN">
                <a:sym typeface="+mn-ea"/>
              </a:rPr>
              <a:t>R1</a:t>
            </a:r>
            <a:r>
              <a:rPr lang="zh-CN" altLang="en-US">
                <a:sym typeface="+mn-ea"/>
              </a:rPr>
              <a:t>）。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DCP</a:t>
            </a:r>
            <a:r>
              <a:rPr lang="zh-CN" altLang="en-US" b="1">
                <a:sym typeface="+mn-ea"/>
              </a:rPr>
              <a:t>网卡：</a:t>
            </a:r>
            <a:r>
              <a:rPr lang="zh-CN" altLang="en-US">
                <a:sym typeface="+mn-ea"/>
              </a:rPr>
              <a:t>接收方将</a:t>
            </a:r>
            <a:r>
              <a:rPr lang="en-US" altLang="zh-CN">
                <a:sym typeface="+mn-ea"/>
              </a:rPr>
              <a:t>HO</a:t>
            </a:r>
            <a:r>
              <a:rPr lang="zh-CN" altLang="en-US">
                <a:sym typeface="+mn-ea"/>
              </a:rPr>
              <a:t>包返回给发送方，发送包收到后根据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HO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包携带的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PSN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重传数据包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R3</a:t>
            </a:r>
            <a:r>
              <a:rPr lang="zh-CN" altLang="en-US">
                <a:sym typeface="+mn-ea"/>
              </a:rPr>
              <a:t>），这个机制不受包级</a:t>
            </a:r>
            <a:r>
              <a:rPr lang="en-US" altLang="zh-CN">
                <a:sym typeface="+mn-ea"/>
              </a:rPr>
              <a:t>LB</a:t>
            </a:r>
            <a:r>
              <a:rPr lang="zh-CN" altLang="en-US">
                <a:sym typeface="+mn-ea"/>
              </a:rPr>
              <a:t>影响（</a:t>
            </a:r>
            <a:r>
              <a:rPr lang="en-US" altLang="zh-CN">
                <a:sym typeface="+mn-ea"/>
              </a:rPr>
              <a:t>R2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网卡使用一种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无位图的数据包追踪机制</a:t>
            </a:r>
            <a:r>
              <a:rPr lang="zh-CN" altLang="en-US">
                <a:sym typeface="+mn-ea"/>
              </a:rPr>
              <a:t>，减少内存消耗（</a:t>
            </a:r>
            <a:r>
              <a:rPr lang="en-US" altLang="zh-CN">
                <a:sym typeface="+mn-ea"/>
              </a:rPr>
              <a:t>R4</a:t>
            </a:r>
            <a:r>
              <a:rPr lang="zh-CN" altLang="en-US">
                <a:sym typeface="+mn-ea"/>
              </a:rPr>
              <a:t>）。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无损的控制平面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760730"/>
            <a:ext cx="6515100" cy="17526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80250" y="1312545"/>
            <a:ext cx="4796790" cy="1279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Non-DCP packets (00)</a:t>
            </a:r>
            <a:r>
              <a:rPr lang="zh-CN" altLang="en-US"/>
              <a:t>：</a:t>
            </a:r>
            <a:r>
              <a:rPr lang="en-US" altLang="zh-CN"/>
              <a:t>buffer</a:t>
            </a:r>
            <a:r>
              <a:rPr lang="zh-CN" altLang="en-US"/>
              <a:t>超过阈值，交换机可以丢的包。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DCP data packets (10)</a:t>
            </a:r>
            <a:r>
              <a:rPr lang="zh-CN" altLang="en-US"/>
              <a:t>：普通</a:t>
            </a:r>
            <a:r>
              <a:rPr lang="en-US" altLang="zh-CN"/>
              <a:t>/</a:t>
            </a:r>
            <a:r>
              <a:rPr lang="zh-CN" altLang="en-US"/>
              <a:t>重传的数据包。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HO packets (11)</a:t>
            </a:r>
            <a:r>
              <a:rPr lang="zh-CN" altLang="en-US"/>
              <a:t>：交换机修剪的</a:t>
            </a:r>
            <a:r>
              <a:rPr lang="en-US" altLang="zh-CN"/>
              <a:t>HO</a:t>
            </a:r>
            <a:r>
              <a:rPr lang="zh-CN" altLang="en-US"/>
              <a:t>包。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DCP ACK packets (01)</a:t>
            </a:r>
            <a:r>
              <a:rPr lang="zh-CN" altLang="en-US"/>
              <a:t>：包含确认消息。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788785" y="542925"/>
            <a:ext cx="4996815" cy="6826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DCP</a:t>
            </a:r>
            <a:r>
              <a:rPr lang="zh-CN" altLang="en-US">
                <a:sym typeface="+mn-ea"/>
              </a:rPr>
              <a:t>数据包头部在</a:t>
            </a:r>
            <a:r>
              <a:rPr lang="en-US" altLang="zh-CN">
                <a:sym typeface="+mn-ea"/>
              </a:rPr>
              <a:t>TOS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Type of service</a:t>
            </a:r>
            <a:r>
              <a:rPr lang="zh-CN" altLang="en-US">
                <a:sym typeface="+mn-ea"/>
              </a:rPr>
              <a:t>）上有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bit</a:t>
            </a:r>
            <a:r>
              <a:rPr lang="zh-CN" altLang="en-US">
                <a:sym typeface="+mn-ea"/>
              </a:rPr>
              <a:t>被留为</a:t>
            </a:r>
            <a:r>
              <a:rPr lang="en-US" altLang="zh-CN">
                <a:sym typeface="+mn-ea"/>
              </a:rPr>
              <a:t>DCP</a:t>
            </a:r>
            <a:r>
              <a:rPr lang="zh-CN" altLang="en-US">
                <a:sym typeface="+mn-ea"/>
              </a:rPr>
              <a:t>标签，分为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类数据包。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43230" y="273113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包修剪模型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64895" y="3148330"/>
            <a:ext cx="9080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交换机队列长度超过阈值，如果</a:t>
            </a:r>
            <a:r>
              <a:rPr lang="en-US" altLang="zh-CN"/>
              <a:t>DCP tag=00/01</a:t>
            </a:r>
            <a:r>
              <a:rPr lang="zh-CN" altLang="en-US"/>
              <a:t>，直接丢弃。如果</a:t>
            </a:r>
            <a:r>
              <a:rPr lang="en-US" altLang="zh-CN"/>
              <a:t>DCP Tag=10</a:t>
            </a:r>
            <a:r>
              <a:rPr lang="zh-CN" altLang="en-US"/>
              <a:t>，那就把包裁剪并把</a:t>
            </a:r>
            <a:r>
              <a:rPr lang="en-US" altLang="zh-CN"/>
              <a:t>DCP Tag</a:t>
            </a:r>
            <a:r>
              <a:rPr lang="zh-CN" altLang="en-US"/>
              <a:t>设为</a:t>
            </a:r>
            <a:r>
              <a:rPr lang="en-US" altLang="zh-CN"/>
              <a:t>11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09270" y="3900805"/>
            <a:ext cx="216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WRR</a:t>
            </a:r>
            <a:r>
              <a:rPr lang="zh-CN" altLang="en-US" b="1">
                <a:solidFill>
                  <a:schemeClr val="accent1"/>
                </a:solidFill>
              </a:rPr>
              <a:t>调度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558800" y="4428490"/>
                <a:ext cx="10773410" cy="1438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/>
                  <a:t>DCP</a:t>
                </a:r>
                <a:r>
                  <a:rPr lang="zh-CN" altLang="en-US"/>
                  <a:t>交换机使用</a:t>
                </a:r>
                <a:r>
                  <a:rPr lang="en-US" altLang="zh-CN"/>
                  <a:t>WRR</a:t>
                </a:r>
                <a:r>
                  <a:rPr lang="zh-CN" altLang="en-US"/>
                  <a:t>来调度</a:t>
                </a:r>
                <a:r>
                  <a:rPr lang="en-US" altLang="zh-CN"/>
                  <a:t>data queue</a:t>
                </a:r>
                <a:r>
                  <a:rPr lang="zh-CN" altLang="en-US"/>
                  <a:t>和</a:t>
                </a:r>
                <a:r>
                  <a:rPr lang="en-US" altLang="zh-CN"/>
                  <a:t>control queue</a:t>
                </a:r>
                <a:r>
                  <a:rPr lang="zh-CN" altLang="en-US"/>
                  <a:t>。</a:t>
                </a:r>
                <a:r>
                  <a:rPr lang="en-US" altLang="zh-CN"/>
                  <a:t>WRR</a:t>
                </a:r>
                <a:r>
                  <a:rPr lang="zh-CN" altLang="en-US"/>
                  <a:t>的权重</a:t>
                </a:r>
                <a:r>
                  <a:rPr lang="en-US" altLang="zh-CN"/>
                  <a:t>w</a:t>
                </a:r>
                <a:r>
                  <a:rPr lang="zh-CN" altLang="en-US"/>
                  <a:t>依赖于</a:t>
                </a:r>
                <a:r>
                  <a:rPr lang="zh-CN" altLang="en-US" b="1"/>
                  <a:t>交换基数</a:t>
                </a:r>
                <a:r>
                  <a:rPr lang="en-US" altLang="zh-CN" b="1"/>
                  <a:t>N</a:t>
                </a:r>
                <a:r>
                  <a:rPr lang="zh-CN" altLang="en-US"/>
                  <a:t>和</a:t>
                </a:r>
                <a:r>
                  <a:rPr lang="en-US" altLang="zh-CN"/>
                  <a:t>HO</a:t>
                </a:r>
                <a:r>
                  <a:rPr lang="zh-CN" altLang="en-US"/>
                  <a:t>包大小与数据包的大小比例</a:t>
                </a:r>
                <a:r>
                  <a:rPr lang="zh-CN" altLang="en-US" b="1"/>
                  <a:t>（</a:t>
                </a:r>
                <a:r>
                  <a:rPr lang="en-US" altLang="zh-CN" b="1"/>
                  <a:t>1:r</a:t>
                </a:r>
                <a:r>
                  <a:rPr lang="zh-CN" altLang="en-US" b="1"/>
                  <a:t>）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控制队列生成速度：如果交换机里</a:t>
                </a:r>
                <a:r>
                  <a:rPr lang="en-US" altLang="zh-CN"/>
                  <a:t>N-1</a:t>
                </a:r>
                <a:r>
                  <a:rPr lang="zh-CN" altLang="en-US"/>
                  <a:t>到</a:t>
                </a:r>
                <a:r>
                  <a:rPr lang="en-US" altLang="zh-CN"/>
                  <a:t>1</a:t>
                </a:r>
                <a:r>
                  <a:rPr lang="zh-CN" altLang="en-US"/>
                  <a:t>的突发流，</a:t>
                </a:r>
                <a:r>
                  <a:rPr lang="en-US" altLang="zh-CN"/>
                  <a:t>N-1</a:t>
                </a:r>
                <a:r>
                  <a:rPr lang="zh-CN" altLang="en-US"/>
                  <a:t>个流全被修剪了，那生成速度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zh-CN" altLang="en-US"/>
                  <a:t>控制队列消耗速度：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，其中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为端口带宽。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00" y="4428490"/>
                <a:ext cx="10773410" cy="14382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圆角矩形 15"/>
              <p:cNvSpPr/>
              <p:nvPr/>
            </p:nvSpPr>
            <p:spPr>
              <a:xfrm>
                <a:off x="1033780" y="5945505"/>
                <a:ext cx="9671050" cy="621030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为保证控制平面无损，控制队列消耗速度不小于生成速度，</a:t>
                </a:r>
                <a:r>
                  <a:rPr lang="en-US" altLang="zh-CN"/>
                  <a:t>w</a:t>
                </a:r>
                <a:r>
                  <a:rPr lang="zh-CN" altLang="en-US"/>
                  <a:t>可以设为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den>
                    </m:f>
                  </m:oMath>
                </a14:m>
                <a:endParaRPr lang="zh-CN" altLang="en-US"/>
              </a:p>
            </p:txBody>
          </p:sp>
        </mc:Choice>
        <mc:Fallback>
          <p:sp>
            <p:nvSpPr>
              <p:cNvPr id="16" name="圆角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80" y="5945505"/>
                <a:ext cx="9671050" cy="621030"/>
              </a:xfrm>
              <a:prstGeom prst="roundRect">
                <a:avLst/>
              </a:prstGeom>
              <a:blipFill rotWithShape="1">
                <a:blip r:embed="rId3"/>
                <a:stretch>
                  <a:fillRect l="-66" t="-1022" r="-66" b="-1022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高效的</a:t>
            </a:r>
            <a:r>
              <a:rPr lang="en-US" altLang="zh-CN" sz="2000"/>
              <a:t>HO</a:t>
            </a:r>
            <a:r>
              <a:rPr lang="zh-CN" altLang="en-US" sz="2000"/>
              <a:t>重传机制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52400" y="711835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问题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2905" y="1080135"/>
            <a:ext cx="1087374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b="1"/>
              <a:t>不高效的重传机制</a:t>
            </a:r>
            <a:r>
              <a:rPr lang="zh-CN" altLang="en-US"/>
              <a:t>：每次收到</a:t>
            </a:r>
            <a:r>
              <a:rPr lang="en-US" altLang="zh-CN"/>
              <a:t>HO</a:t>
            </a:r>
            <a:r>
              <a:rPr lang="zh-CN" altLang="en-US"/>
              <a:t>包后，</a:t>
            </a:r>
            <a:r>
              <a:rPr lang="zh-CN" altLang="en-US">
                <a:solidFill>
                  <a:srgbClr val="FF0000"/>
                </a:solidFill>
              </a:rPr>
              <a:t>只发送一个丢失包</a:t>
            </a:r>
            <a:r>
              <a:rPr lang="zh-CN" altLang="en-US"/>
              <a:t>。但是</a:t>
            </a:r>
            <a:r>
              <a:rPr lang="en-US" altLang="zh-CN"/>
              <a:t>RNIC</a:t>
            </a:r>
            <a:r>
              <a:rPr lang="zh-CN" altLang="en-US"/>
              <a:t>要先通过</a:t>
            </a:r>
            <a:r>
              <a:rPr lang="en-US" altLang="zh-CN"/>
              <a:t>PCIe</a:t>
            </a:r>
            <a:r>
              <a:rPr lang="zh-CN" altLang="en-US"/>
              <a:t>抓取</a:t>
            </a:r>
            <a:r>
              <a:rPr lang="en-US" altLang="zh-CN"/>
              <a:t>WQE</a:t>
            </a:r>
            <a:r>
              <a:rPr lang="zh-CN" altLang="en-US"/>
              <a:t>，解析</a:t>
            </a:r>
            <a:r>
              <a:rPr lang="en-US" altLang="zh-CN"/>
              <a:t>WQE</a:t>
            </a:r>
            <a:r>
              <a:rPr lang="zh-CN" altLang="en-US"/>
              <a:t>，再通过</a:t>
            </a:r>
            <a:r>
              <a:rPr lang="en-US" altLang="zh-CN"/>
              <a:t>PCIe</a:t>
            </a:r>
            <a:r>
              <a:rPr lang="zh-CN" altLang="en-US"/>
              <a:t>从主机内存里抓数据，经过两次</a:t>
            </a:r>
            <a:r>
              <a:rPr lang="en-US" altLang="zh-CN"/>
              <a:t>PCIe</a:t>
            </a:r>
            <a:r>
              <a:rPr lang="zh-CN" altLang="en-US"/>
              <a:t>传输。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 b="1"/>
              <a:t>不兼容的</a:t>
            </a:r>
            <a:r>
              <a:rPr lang="en-US" altLang="zh-CN" b="1"/>
              <a:t>CC</a:t>
            </a:r>
            <a:r>
              <a:rPr lang="zh-CN" altLang="en-US" b="1"/>
              <a:t>模式</a:t>
            </a:r>
            <a:r>
              <a:rPr lang="zh-CN" altLang="en-US"/>
              <a:t>：返回的</a:t>
            </a:r>
            <a:r>
              <a:rPr lang="en-US" altLang="zh-CN">
                <a:solidFill>
                  <a:srgbClr val="FF0000"/>
                </a:solidFill>
              </a:rPr>
              <a:t>HO</a:t>
            </a:r>
            <a:r>
              <a:rPr lang="zh-CN" altLang="en-US">
                <a:solidFill>
                  <a:srgbClr val="FF0000"/>
                </a:solidFill>
              </a:rPr>
              <a:t>包无状态</a:t>
            </a:r>
            <a:r>
              <a:rPr lang="zh-CN" altLang="en-US"/>
              <a:t>，但重传速率与</a:t>
            </a:r>
            <a:r>
              <a:rPr lang="en-US" altLang="zh-CN"/>
              <a:t>HO</a:t>
            </a:r>
            <a:r>
              <a:rPr lang="zh-CN" altLang="en-US"/>
              <a:t>包的接收速率有关，因此</a:t>
            </a:r>
            <a:r>
              <a:rPr lang="en-US" altLang="zh-CN"/>
              <a:t>CC</a:t>
            </a:r>
            <a:r>
              <a:rPr lang="zh-CN" altLang="en-US"/>
              <a:t>包</a:t>
            </a:r>
            <a:r>
              <a:rPr lang="zh-CN" altLang="en-US">
                <a:solidFill>
                  <a:srgbClr val="FF0000"/>
                </a:solidFill>
              </a:rPr>
              <a:t>不能对重传速率调节</a:t>
            </a:r>
            <a:r>
              <a:rPr lang="zh-CN" altLang="en-US"/>
              <a:t>。如果存在严重拥塞并导致大量丢包，生成</a:t>
            </a:r>
            <a:r>
              <a:rPr lang="en-US" altLang="zh-CN"/>
              <a:t>HO</a:t>
            </a:r>
            <a:r>
              <a:rPr lang="zh-CN" altLang="en-US"/>
              <a:t>包只会触发更多重传。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1135" y="2557780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解决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2557780"/>
            <a:ext cx="5286375" cy="37750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096000" y="2964180"/>
            <a:ext cx="5803900" cy="854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+mj-ea"/>
              <a:buNone/>
            </a:pPr>
            <a:r>
              <a:rPr lang="en-US" altLang="zh-CN" b="1">
                <a:solidFill>
                  <a:srgbClr val="FF0000"/>
                </a:solidFill>
              </a:rPr>
              <a:t>Rx:</a:t>
            </a:r>
            <a:r>
              <a:rPr lang="en-US" altLang="zh-CN"/>
              <a:t> </a:t>
            </a:r>
            <a:r>
              <a:rPr lang="zh-CN" altLang="en-US"/>
              <a:t>接收到</a:t>
            </a:r>
            <a:r>
              <a:rPr lang="en-US" altLang="zh-CN"/>
              <a:t>HO</a:t>
            </a:r>
            <a:r>
              <a:rPr lang="zh-CN" altLang="en-US"/>
              <a:t>包后，</a:t>
            </a:r>
            <a:r>
              <a:rPr lang="en-US" altLang="zh-CN"/>
              <a:t>RNIC</a:t>
            </a:r>
            <a:r>
              <a:rPr lang="zh-CN" altLang="en-US"/>
              <a:t>提取包头部的元数据，</a:t>
            </a:r>
            <a:r>
              <a:rPr lang="en-US" altLang="zh-CN"/>
              <a:t>DMA</a:t>
            </a:r>
            <a:r>
              <a:rPr lang="zh-CN" altLang="en-US"/>
              <a:t>引擎将</a:t>
            </a:r>
            <a:r>
              <a:rPr lang="en-US" altLang="zh-CN"/>
              <a:t>(MSN</a:t>
            </a:r>
            <a:r>
              <a:rPr lang="zh-CN" altLang="en-US"/>
              <a:t>，</a:t>
            </a:r>
            <a:r>
              <a:rPr lang="en-US" altLang="zh-CN"/>
              <a:t>PSN)</a:t>
            </a:r>
            <a:r>
              <a:rPr lang="zh-CN" altLang="en-US"/>
              <a:t>写入</a:t>
            </a:r>
            <a:r>
              <a:rPr lang="en-US" altLang="zh-CN"/>
              <a:t>RetransQ</a:t>
            </a:r>
            <a:r>
              <a:rPr lang="zh-CN" altLang="en-US"/>
              <a:t>对应的条目中。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是在创建</a:t>
            </a:r>
            <a:r>
              <a:rPr lang="en-US" altLang="zh-CN">
                <a:sym typeface="+mn-ea"/>
              </a:rPr>
              <a:t>QP</a:t>
            </a:r>
            <a:r>
              <a:rPr lang="zh-CN" altLang="en-US">
                <a:sym typeface="+mn-ea"/>
              </a:rPr>
              <a:t>时与</a:t>
            </a:r>
            <a:r>
              <a:rPr lang="en-US" altLang="zh-CN">
                <a:sym typeface="+mn-ea"/>
              </a:rPr>
              <a:t>SQ,RQ,CQ</a:t>
            </a:r>
            <a:r>
              <a:rPr lang="zh-CN" altLang="en-US">
                <a:sym typeface="+mn-ea"/>
              </a:rPr>
              <a:t>一起分配的。</a:t>
            </a:r>
            <a:endParaRPr lang="zh-CN" altLang="en-US">
              <a:sym typeface="+mn-ea"/>
            </a:endParaRPr>
          </a:p>
          <a:p>
            <a:pPr indent="0">
              <a:buFont typeface="+mj-ea"/>
              <a:buNone/>
            </a:pPr>
            <a:endParaRPr lang="en-US" altLang="zh-CN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44895" y="3822700"/>
            <a:ext cx="689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Tx: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84240" y="4044950"/>
            <a:ext cx="5839460" cy="2527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/>
              <a:t>当一个</a:t>
            </a:r>
            <a:r>
              <a:rPr lang="en-US" altLang="zh-CN"/>
              <a:t>QP</a:t>
            </a:r>
            <a:r>
              <a:rPr lang="zh-CN" altLang="en-US"/>
              <a:t>被调度，先检查他的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里是否有记录。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如果有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记录，查看</a:t>
            </a:r>
            <a:r>
              <a:rPr lang="en-US" altLang="zh-CN">
                <a:sym typeface="+mn-ea"/>
              </a:rPr>
              <a:t>CC</a:t>
            </a:r>
            <a:r>
              <a:rPr lang="zh-CN" altLang="en-US">
                <a:sym typeface="+mn-ea"/>
              </a:rPr>
              <a:t>允许发送窗口大小，抓取等多条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记录。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通过</a:t>
            </a:r>
            <a:r>
              <a:rPr lang="en-US" altLang="zh-CN">
                <a:sym typeface="+mn-ea"/>
              </a:rPr>
              <a:t>DMA</a:t>
            </a:r>
            <a:r>
              <a:rPr lang="zh-CN" altLang="en-US">
                <a:sym typeface="+mn-ea"/>
              </a:rPr>
              <a:t>引擎从</a:t>
            </a:r>
            <a:r>
              <a:rPr lang="en-US" altLang="zh-CN">
                <a:sym typeface="+mn-ea"/>
              </a:rPr>
              <a:t>QP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SQ</a:t>
            </a:r>
            <a:r>
              <a:rPr lang="zh-CN" altLang="en-US">
                <a:sym typeface="+mn-ea"/>
              </a:rPr>
              <a:t>里抓取多条</a:t>
            </a:r>
            <a:r>
              <a:rPr lang="en-US" altLang="zh-CN">
                <a:sym typeface="+mn-ea"/>
              </a:rPr>
              <a:t>WQE</a:t>
            </a:r>
            <a:r>
              <a:rPr lang="zh-CN" altLang="en-US">
                <a:sym typeface="+mn-ea"/>
              </a:rPr>
              <a:t>记录。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根据</a:t>
            </a:r>
            <a:r>
              <a:rPr lang="en-US" altLang="zh-CN">
                <a:sym typeface="+mn-ea"/>
              </a:rPr>
              <a:t>MTT</a:t>
            </a:r>
            <a:r>
              <a:rPr lang="zh-CN" altLang="en-US">
                <a:sym typeface="+mn-ea"/>
              </a:rPr>
              <a:t>获取</a:t>
            </a:r>
            <a:r>
              <a:rPr lang="en-US" altLang="zh-CN">
                <a:sym typeface="+mn-ea"/>
              </a:rPr>
              <a:t>WQE</a:t>
            </a:r>
            <a:r>
              <a:rPr lang="zh-CN" altLang="en-US">
                <a:sym typeface="+mn-ea"/>
              </a:rPr>
              <a:t>里面的真实地址。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从主机内存里获取数据，发送数据包。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>
                <a:sym typeface="+mn-ea"/>
              </a:rPr>
              <a:t>重传包被发送了，</a:t>
            </a:r>
            <a:r>
              <a:rPr lang="en-US" altLang="zh-CN">
                <a:sym typeface="+mn-ea"/>
              </a:rPr>
              <a:t>RNIC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长度，调整</a:t>
            </a:r>
            <a:r>
              <a:rPr lang="en-US" altLang="zh-CN">
                <a:sym typeface="+mn-ea"/>
              </a:rPr>
              <a:t>CC</a:t>
            </a:r>
            <a:r>
              <a:rPr lang="zh-CN" altLang="en-US">
                <a:sym typeface="+mn-ea"/>
              </a:rPr>
              <a:t>允许发送窗口大小。</a:t>
            </a:r>
            <a:endParaRPr lang="zh-CN" altLang="en-US"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487795" y="1460500"/>
            <a:ext cx="3569970" cy="3562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批处理，一次抓取多个</a:t>
            </a:r>
            <a:r>
              <a:rPr lang="en-US" altLang="zh-CN"/>
              <a:t>WQE</a:t>
            </a:r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532880" y="2499995"/>
            <a:ext cx="4723765" cy="3562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使用</a:t>
            </a:r>
            <a:r>
              <a:rPr lang="en-US" altLang="zh-CN">
                <a:sym typeface="+mn-ea"/>
              </a:rPr>
              <a:t>RetransQ</a:t>
            </a:r>
            <a:r>
              <a:rPr lang="zh-CN" altLang="en-US">
                <a:sym typeface="+mn-ea"/>
              </a:rPr>
              <a:t>，使得</a:t>
            </a:r>
            <a:r>
              <a:rPr lang="en-US" altLang="zh-CN">
                <a:sym typeface="+mn-ea"/>
              </a:rPr>
              <a:t>CC</a:t>
            </a:r>
            <a:r>
              <a:rPr lang="zh-CN" altLang="en-US">
                <a:sym typeface="+mn-ea"/>
              </a:rPr>
              <a:t>能调节重传速率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15" grpId="0"/>
      <p:bldP spid="18" grpId="0"/>
      <p:bldP spid="15" grpId="1"/>
      <p:bldP spid="18" grpId="1"/>
      <p:bldP spid="20" grpId="0"/>
      <p:bldP spid="19" grpId="0"/>
      <p:bldP spid="20" grpId="1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接收方允许乱序到达包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2905" y="485140"/>
            <a:ext cx="6515100" cy="1752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135" y="911225"/>
            <a:ext cx="517398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/>
              <a:t>包丢失</a:t>
            </a:r>
            <a:r>
              <a:rPr lang="en-US" altLang="zh-CN"/>
              <a:t>/</a:t>
            </a:r>
            <a:r>
              <a:rPr lang="zh-CN" altLang="en-US"/>
              <a:t>负载均衡可能导致数据包乱序到达，在网卡</a:t>
            </a:r>
            <a:r>
              <a:rPr lang="en-US" altLang="zh-CN"/>
              <a:t>/</a:t>
            </a:r>
            <a:r>
              <a:rPr lang="zh-CN" altLang="en-US"/>
              <a:t>主机里分配重排序缓冲区占用内存</a:t>
            </a:r>
            <a:r>
              <a:rPr lang="en-US" altLang="zh-CN"/>
              <a:t>/CPU</a:t>
            </a:r>
            <a:r>
              <a:rPr lang="zh-CN" altLang="en-US"/>
              <a:t>资源。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06070" y="1875155"/>
            <a:ext cx="229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扩展</a:t>
            </a:r>
            <a:r>
              <a:rPr lang="en-US" altLang="zh-CN" b="1">
                <a:solidFill>
                  <a:schemeClr val="accent1"/>
                </a:solidFill>
              </a:rPr>
              <a:t>RDMA</a:t>
            </a:r>
            <a:r>
              <a:rPr lang="zh-CN" altLang="en-US" b="1">
                <a:solidFill>
                  <a:schemeClr val="accent1"/>
                </a:solidFill>
              </a:rPr>
              <a:t>头部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4040" y="2473960"/>
            <a:ext cx="10038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RNIC</a:t>
            </a:r>
            <a:r>
              <a:rPr lang="zh-CN" altLang="en-US"/>
              <a:t>直接把包（不管是否乱序）写入主机内存，对</a:t>
            </a:r>
            <a:r>
              <a:rPr lang="en-US" altLang="zh-CN" b="1"/>
              <a:t>Send, Write</a:t>
            </a:r>
            <a:r>
              <a:rPr lang="zh-CN" altLang="en-US"/>
              <a:t>和</a:t>
            </a:r>
            <a:r>
              <a:rPr lang="en-US" altLang="zh-CN" b="1">
                <a:sym typeface="+mn-ea"/>
              </a:rPr>
              <a:t>Write-with-immediate</a:t>
            </a:r>
            <a:r>
              <a:rPr lang="zh-CN" altLang="en-US">
                <a:sym typeface="+mn-ea"/>
              </a:rPr>
              <a:t>分析。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8975" y="3031490"/>
            <a:ext cx="10506710" cy="2414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en-US" altLang="zh-CN"/>
              <a:t>Write</a:t>
            </a:r>
            <a:r>
              <a:rPr lang="zh-CN" altLang="en-US"/>
              <a:t>：单边操作，发送方只要知道接收方的内存地址和密钥，直接发送数据即可。但是包含接收方位置的</a:t>
            </a:r>
            <a:r>
              <a:rPr lang="en-US" altLang="zh-CN">
                <a:solidFill>
                  <a:srgbClr val="FF0000"/>
                </a:solidFill>
              </a:rPr>
              <a:t>RDMA</a:t>
            </a:r>
            <a:r>
              <a:rPr lang="zh-CN" altLang="en-US">
                <a:solidFill>
                  <a:srgbClr val="FF0000"/>
                </a:solidFill>
              </a:rPr>
              <a:t>扩展头</a:t>
            </a:r>
            <a:r>
              <a:rPr lang="en-US" altLang="zh-CN">
                <a:solidFill>
                  <a:srgbClr val="FF0000"/>
                </a:solidFill>
              </a:rPr>
              <a:t>(RETH)</a:t>
            </a:r>
            <a:r>
              <a:rPr lang="zh-CN" altLang="en-US">
                <a:solidFill>
                  <a:srgbClr val="FF0000"/>
                </a:solidFill>
              </a:rPr>
              <a:t>仅出现在写入的第一个数据包里</a:t>
            </a:r>
            <a:r>
              <a:rPr lang="zh-CN" altLang="en-US"/>
              <a:t>，若中间包先到达，无法确认位置。</a:t>
            </a:r>
            <a:r>
              <a:rPr lang="en-US" altLang="zh-CN"/>
              <a:t>DCP</a:t>
            </a:r>
            <a:r>
              <a:rPr lang="zh-CN" altLang="en-US"/>
              <a:t>将</a:t>
            </a:r>
            <a:r>
              <a:rPr lang="en-US" altLang="zh-CN"/>
              <a:t>RETH</a:t>
            </a:r>
            <a:r>
              <a:rPr lang="zh-CN" altLang="en-US"/>
              <a:t>写入每一个包。</a:t>
            </a:r>
            <a:endParaRPr lang="zh-CN" altLang="en-US"/>
          </a:p>
          <a:p>
            <a:pPr marL="342900" indent="-342900">
              <a:lnSpc>
                <a:spcPct val="140000"/>
              </a:lnSpc>
              <a:buFont typeface="+mj-ea"/>
              <a:buAutoNum type="circleNumDbPlain"/>
            </a:pPr>
            <a:r>
              <a:rPr lang="en-US" altLang="zh-CN">
                <a:sym typeface="+mn-ea"/>
              </a:rPr>
              <a:t>Send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Write-with-immediate</a:t>
            </a:r>
            <a:r>
              <a:rPr lang="zh-CN" altLang="en-US">
                <a:sym typeface="+mn-ea"/>
              </a:rPr>
              <a:t>：双边操作，需要消耗接收方的</a:t>
            </a:r>
            <a:r>
              <a:rPr lang="en-US" altLang="zh-CN">
                <a:sym typeface="+mn-ea"/>
              </a:rPr>
              <a:t>Receive WQE</a:t>
            </a:r>
            <a:r>
              <a:rPr lang="zh-CN" altLang="en-US">
                <a:sym typeface="+mn-ea"/>
              </a:rPr>
              <a:t>完成消息确认。</a:t>
            </a:r>
            <a:r>
              <a:rPr lang="en-US" altLang="zh-CN">
                <a:sym typeface="+mn-ea"/>
              </a:rPr>
              <a:t>Receive WQE</a:t>
            </a:r>
            <a:r>
              <a:rPr lang="zh-CN" altLang="en-US">
                <a:sym typeface="+mn-ea"/>
              </a:rPr>
              <a:t>在双边操作中，必须按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发送顺序依次被消耗</a:t>
            </a:r>
            <a:r>
              <a:rPr lang="zh-CN" altLang="en-US">
                <a:sym typeface="+mn-ea"/>
              </a:rPr>
              <a:t>。本文引入了</a:t>
            </a:r>
            <a:r>
              <a:rPr lang="en-US" altLang="zh-CN">
                <a:sym typeface="+mn-ea"/>
              </a:rPr>
              <a:t>SSN(send sequence number)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SSN</a:t>
            </a:r>
            <a:r>
              <a:rPr lang="zh-CN" altLang="en-US">
                <a:sym typeface="+mn-ea"/>
              </a:rPr>
              <a:t>指示了发送顺序，用来确认需要对应处理的</a:t>
            </a:r>
            <a:r>
              <a:rPr lang="en-US" altLang="zh-CN">
                <a:sym typeface="+mn-ea"/>
              </a:rPr>
              <a:t>Receive WQE</a:t>
            </a:r>
            <a:r>
              <a:rPr lang="zh-CN" altLang="en-US">
                <a:sym typeface="+mn-ea"/>
              </a:rPr>
              <a:t>。没有</a:t>
            </a:r>
            <a:r>
              <a:rPr lang="en-US" altLang="zh-CN">
                <a:sym typeface="+mn-ea"/>
              </a:rPr>
              <a:t>SSN</a:t>
            </a:r>
            <a:r>
              <a:rPr lang="zh-CN" altLang="en-US">
                <a:sym typeface="+mn-ea"/>
              </a:rPr>
              <a:t>的话，</a:t>
            </a:r>
            <a:r>
              <a:rPr lang="en-US" altLang="zh-CN">
                <a:sym typeface="+mn-ea"/>
              </a:rPr>
              <a:t>RNIC</a:t>
            </a:r>
            <a:r>
              <a:rPr lang="zh-CN" altLang="en-US">
                <a:sym typeface="+mn-ea"/>
              </a:rPr>
              <a:t>需要缓存乱序到达的包。</a:t>
            </a:r>
            <a:endParaRPr lang="zh-CN" altLang="en-US"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566410" y="5635625"/>
            <a:ext cx="6411595" cy="87312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除此以外</a:t>
            </a:r>
            <a:r>
              <a:rPr lang="en-US" altLang="zh-CN"/>
              <a:t>,DCP</a:t>
            </a:r>
            <a:r>
              <a:rPr lang="zh-CN" altLang="en-US"/>
              <a:t>还引入其他字段来关联</a:t>
            </a:r>
            <a:r>
              <a:rPr lang="en-US" altLang="zh-CN"/>
              <a:t>RNIC</a:t>
            </a:r>
            <a:r>
              <a:rPr lang="zh-CN" altLang="en-US"/>
              <a:t>元数据，一个是</a:t>
            </a:r>
            <a:r>
              <a:rPr lang="en-US" altLang="zh-CN"/>
              <a:t>MSN</a:t>
            </a:r>
            <a:r>
              <a:rPr lang="zh-CN" altLang="en-US"/>
              <a:t>消息序列号，另一个是</a:t>
            </a:r>
            <a:r>
              <a:rPr lang="en-US" altLang="zh-CN"/>
              <a:t>sRetryNo</a:t>
            </a:r>
            <a:r>
              <a:rPr lang="zh-CN" altLang="en-US"/>
              <a:t>用来</a:t>
            </a:r>
            <a:r>
              <a:rPr lang="en-US" altLang="zh-CN"/>
              <a:t>ACK</a:t>
            </a:r>
            <a:r>
              <a:rPr lang="zh-CN" altLang="en-US"/>
              <a:t>重传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无位图包追踪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110" y="202565"/>
            <a:ext cx="5349875" cy="3584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1135" y="772795"/>
            <a:ext cx="51904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用位图来判断数据包是接收</a:t>
            </a:r>
            <a:r>
              <a:rPr lang="en-US" altLang="zh-CN"/>
              <a:t>/</a:t>
            </a:r>
            <a:r>
              <a:rPr lang="zh-CN" altLang="en-US"/>
              <a:t>丢失，位图需要权衡内存开销和处理效率。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88925" y="1491615"/>
            <a:ext cx="4866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现有的位图方案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43865" y="1884045"/>
                <a:ext cx="5903595" cy="1591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accent4"/>
                    </a:solidFill>
                  </a:rPr>
                  <a:t>方案</a:t>
                </a:r>
                <a:r>
                  <a:rPr lang="en-US" altLang="zh-CN">
                    <a:solidFill>
                      <a:schemeClr val="accent4"/>
                    </a:solidFill>
                  </a:rPr>
                  <a:t>1</a:t>
                </a:r>
                <a:r>
                  <a:rPr lang="zh-CN" altLang="en-US">
                    <a:solidFill>
                      <a:schemeClr val="accent4"/>
                    </a:solidFill>
                  </a:rPr>
                  <a:t>：</a:t>
                </a:r>
                <a:r>
                  <a:rPr lang="zh-CN" altLang="en-US"/>
                  <a:t>每个</a:t>
                </a:r>
                <a:r>
                  <a:rPr lang="en-US" altLang="zh-CN"/>
                  <a:t>QP</a:t>
                </a:r>
                <a:r>
                  <a:rPr lang="zh-CN" altLang="en-US"/>
                  <a:t>位图固定长度（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𝐵𝐷𝑃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𝑀𝑇𝑈</m:t>
                        </m:r>
                      </m:den>
                    </m:f>
                  </m:oMath>
                </a14:m>
                <a:r>
                  <a:rPr lang="en-US" altLang="zh-CN"/>
                  <a:t> bits</a:t>
                </a:r>
                <a:r>
                  <a:rPr lang="zh-CN" altLang="en-US"/>
                  <a:t>），该方法有恒定的包处理时延，但是有显著的内存开销，图</a:t>
                </a:r>
                <a:r>
                  <a:rPr lang="en-US" altLang="zh-CN"/>
                  <a:t>6(a)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>
                    <a:solidFill>
                      <a:schemeClr val="accent4"/>
                    </a:solidFill>
                  </a:rPr>
                  <a:t>方案</a:t>
                </a:r>
                <a:r>
                  <a:rPr lang="en-US" altLang="zh-CN">
                    <a:solidFill>
                      <a:schemeClr val="accent4"/>
                    </a:solidFill>
                  </a:rPr>
                  <a:t>2</a:t>
                </a:r>
                <a:r>
                  <a:rPr lang="zh-CN" altLang="en-US">
                    <a:solidFill>
                      <a:schemeClr val="accent4"/>
                    </a:solidFill>
                  </a:rPr>
                  <a:t>：</a:t>
                </a:r>
                <a:r>
                  <a:rPr lang="zh-CN" altLang="en-US"/>
                  <a:t>维护一个块池，每个块</a:t>
                </a:r>
                <a:r>
                  <a:rPr lang="en-US" altLang="zh-CN"/>
                  <a:t>128bits</a:t>
                </a:r>
                <a:r>
                  <a:rPr lang="zh-CN" altLang="en-US"/>
                  <a:t>，每个</a:t>
                </a:r>
                <a:r>
                  <a:rPr lang="en-US" altLang="zh-CN"/>
                  <a:t>QP</a:t>
                </a:r>
                <a:r>
                  <a:rPr lang="zh-CN" altLang="en-US"/>
                  <a:t>开始时分配一个块，根据需要连接其他块。减少内存开销，但处理时延跟访问第几个块有关，图</a:t>
                </a:r>
                <a:r>
                  <a:rPr lang="en-US" altLang="zh-CN"/>
                  <a:t>6(b)</a:t>
                </a:r>
                <a:r>
                  <a:rPr lang="zh-CN" altLang="en-US"/>
                  <a:t>。</a:t>
                </a:r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" y="1884045"/>
                <a:ext cx="5903595" cy="15919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370205" y="3594735"/>
            <a:ext cx="154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机遇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1665" y="4076065"/>
            <a:ext cx="11021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DCP</a:t>
            </a:r>
            <a:r>
              <a:rPr lang="zh-CN" altLang="en-US"/>
              <a:t>的无损控制平面使得只有丢包才会被重传</a:t>
            </a:r>
            <a:r>
              <a:rPr lang="en-US" altLang="zh-CN"/>
              <a:t>         </a:t>
            </a:r>
            <a:r>
              <a:rPr lang="zh-CN" altLang="en-US"/>
              <a:t>每个数据包，接收方只收受到一次。所以可以只通过统计到达的数据包数目是否等于消息的大小，就可以判断消息是否传送完成。</a:t>
            </a: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5258435" y="4200525"/>
            <a:ext cx="340995" cy="1187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296795" y="3535680"/>
            <a:ext cx="4509770" cy="4445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数据包重传是根据</a:t>
            </a:r>
            <a:r>
              <a:rPr lang="en-US" altLang="zh-CN"/>
              <a:t>HO</a:t>
            </a:r>
            <a:r>
              <a:rPr lang="zh-CN" altLang="en-US"/>
              <a:t>重传的，与位图无关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43865" y="4921250"/>
            <a:ext cx="154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5015" y="5365115"/>
            <a:ext cx="11036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DCP</a:t>
            </a:r>
            <a:r>
              <a:rPr lang="zh-CN" altLang="en-US"/>
              <a:t>网卡里接收方使用包计数来聚合消息层信息，而不是追踪每个数据包状态。图</a:t>
            </a:r>
            <a:r>
              <a:rPr lang="en-US" altLang="zh-CN"/>
              <a:t>6(c)</a:t>
            </a:r>
            <a:r>
              <a:rPr lang="zh-CN" altLang="en-US"/>
              <a:t>中</a:t>
            </a:r>
            <a:r>
              <a:rPr lang="en-US" altLang="zh-CN"/>
              <a:t>QPC</a:t>
            </a:r>
            <a:r>
              <a:rPr lang="zh-CN" altLang="en-US"/>
              <a:t>为每个消息维护一个计数器，有数据包到达，接收方网卡将相应消息的计数器</a:t>
            </a:r>
            <a:r>
              <a:rPr lang="en-US" altLang="zh-CN"/>
              <a:t>+1</a:t>
            </a:r>
            <a:r>
              <a:rPr lang="zh-CN" altLang="en-US"/>
              <a:t>。当包计数器大小</a:t>
            </a:r>
            <a:r>
              <a:rPr lang="en-US" altLang="zh-CN"/>
              <a:t>=</a:t>
            </a:r>
            <a:r>
              <a:rPr lang="zh-CN" altLang="en-US"/>
              <a:t>消息大小，</a:t>
            </a:r>
            <a:r>
              <a:rPr lang="en-US" altLang="zh-CN"/>
              <a:t>mcf=1</a:t>
            </a:r>
            <a:r>
              <a:rPr lang="zh-CN" altLang="en-US"/>
              <a:t>。对于每个</a:t>
            </a:r>
            <a:r>
              <a:rPr lang="en-US" altLang="zh-CN"/>
              <a:t>QP</a:t>
            </a:r>
            <a:r>
              <a:rPr lang="zh-CN" altLang="en-US"/>
              <a:t>，接收方维护一个预期的得到的消息序列号</a:t>
            </a:r>
            <a:r>
              <a:rPr lang="en-US" altLang="zh-CN"/>
              <a:t>eMSN</a:t>
            </a:r>
            <a:r>
              <a:rPr lang="zh-CN" altLang="en-US"/>
              <a:t>，接收方等待</a:t>
            </a:r>
            <a:r>
              <a:rPr lang="en-US" altLang="zh-CN"/>
              <a:t>eMSN</a:t>
            </a:r>
            <a:r>
              <a:rPr lang="zh-CN" altLang="en-US"/>
              <a:t>个消息全部接收，更新</a:t>
            </a:r>
            <a:r>
              <a:rPr lang="en-US" altLang="zh-CN"/>
              <a:t>eMSN</a:t>
            </a:r>
            <a:r>
              <a:rPr lang="zh-CN" altLang="en-US"/>
              <a:t>，并生成</a:t>
            </a:r>
            <a:r>
              <a:rPr lang="en-US" altLang="zh-CN"/>
              <a:t>CQE</a:t>
            </a:r>
            <a:r>
              <a:rPr lang="zh-CN" altLang="en-US"/>
              <a:t>，以及携带</a:t>
            </a:r>
            <a:r>
              <a:rPr lang="zh-CN" altLang="en-US">
                <a:sym typeface="+mn-ea"/>
              </a:rPr>
              <a:t>更新</a:t>
            </a:r>
            <a:r>
              <a:rPr lang="en-US" altLang="zh-CN">
                <a:sym typeface="+mn-ea"/>
              </a:rPr>
              <a:t>eMSN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ACK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4" grpId="0"/>
      <p:bldP spid="15" grpId="0"/>
      <p:bldP spid="16" grpId="0" animBg="1"/>
      <p:bldP spid="14" grpId="1"/>
      <p:bldP spid="15" grpId="1"/>
      <p:bldP spid="16" grpId="1" animBg="1"/>
      <p:bldP spid="18" grpId="0"/>
      <p:bldP spid="19" grpId="0"/>
      <p:bldP spid="18" grpId="1"/>
      <p:bldP spid="1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135" y="144145"/>
            <a:ext cx="3992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粗粒度超时重传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06680" y="584835"/>
            <a:ext cx="5310505" cy="762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73710" y="1276350"/>
            <a:ext cx="104952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如果出现链路</a:t>
            </a:r>
            <a:r>
              <a:rPr lang="en-US" altLang="zh-CN"/>
              <a:t>/</a:t>
            </a:r>
            <a:r>
              <a:rPr lang="zh-CN" altLang="en-US"/>
              <a:t>交换机故障，那控制平面无损传输的假设被打破，也不能使用</a:t>
            </a:r>
            <a:r>
              <a:rPr lang="en-US" altLang="zh-CN"/>
              <a:t>HO</a:t>
            </a:r>
            <a:r>
              <a:rPr lang="zh-CN" altLang="en-US"/>
              <a:t>重传，只能启用超时重传。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发送方为每个</a:t>
            </a:r>
            <a:r>
              <a:rPr lang="en-US" altLang="zh-CN"/>
              <a:t>QP</a:t>
            </a:r>
            <a:r>
              <a:rPr lang="zh-CN" altLang="en-US"/>
              <a:t>维护一个最小未确认序列号（</a:t>
            </a:r>
            <a:r>
              <a:rPr lang="en-US" altLang="zh-CN"/>
              <a:t>unaMSN</a:t>
            </a:r>
            <a:r>
              <a:rPr lang="zh-CN" altLang="en-US"/>
              <a:t>），并关联一个计时器，若得到的</a:t>
            </a:r>
            <a:r>
              <a:rPr lang="en-US" altLang="zh-CN"/>
              <a:t>eMSN</a:t>
            </a:r>
            <a:r>
              <a:rPr lang="zh-CN" altLang="en-US"/>
              <a:t>大于</a:t>
            </a:r>
            <a:r>
              <a:rPr lang="en-US" altLang="zh-CN">
                <a:sym typeface="+mn-ea"/>
              </a:rPr>
              <a:t>unaMSN</a:t>
            </a:r>
            <a:r>
              <a:rPr lang="zh-CN" altLang="en-US">
                <a:sym typeface="+mn-ea"/>
              </a:rPr>
              <a:t>，那就更新</a:t>
            </a:r>
            <a:r>
              <a:rPr lang="en-US" altLang="zh-CN">
                <a:sym typeface="+mn-ea"/>
              </a:rPr>
              <a:t>unaMSN</a:t>
            </a:r>
            <a:r>
              <a:rPr lang="zh-CN" altLang="en-US">
                <a:sym typeface="+mn-ea"/>
              </a:rPr>
              <a:t>，计时器归零，否则继续计时，超时重传。</a:t>
            </a:r>
            <a:endParaRPr lang="zh-CN" altLang="en-US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0360" y="913765"/>
            <a:ext cx="970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场景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055" y="3894455"/>
            <a:ext cx="5420995" cy="25273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21640" y="2654300"/>
            <a:ext cx="1036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修正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0410" y="3150235"/>
            <a:ext cx="7251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这违背了</a:t>
            </a:r>
            <a:r>
              <a:rPr lang="en-US" altLang="zh-CN"/>
              <a:t>“</a:t>
            </a:r>
            <a:r>
              <a:rPr lang="zh-CN" altLang="en-US"/>
              <a:t>只传一次</a:t>
            </a:r>
            <a:r>
              <a:rPr lang="en-US" altLang="zh-CN"/>
              <a:t>”</a:t>
            </a:r>
            <a:r>
              <a:rPr lang="zh-CN" altLang="en-US"/>
              <a:t>的交付保证，影响接收方包计数的准确性。发送方为每个</a:t>
            </a:r>
            <a:r>
              <a:rPr lang="en-US" altLang="zh-CN"/>
              <a:t>QP</a:t>
            </a:r>
            <a:r>
              <a:rPr lang="zh-CN" altLang="en-US"/>
              <a:t>维护一个</a:t>
            </a:r>
            <a:r>
              <a:rPr lang="en-US" altLang="zh-CN"/>
              <a:t>sRetryNo</a:t>
            </a:r>
            <a:r>
              <a:rPr lang="zh-CN" altLang="en-US"/>
              <a:t>（初始为</a:t>
            </a:r>
            <a:r>
              <a:rPr lang="en-US" altLang="zh-CN"/>
              <a:t>0</a:t>
            </a:r>
            <a:r>
              <a:rPr lang="zh-CN" altLang="en-US"/>
              <a:t>）的值，用来记录</a:t>
            </a:r>
            <a:r>
              <a:rPr lang="en-US" altLang="zh-CN">
                <a:sym typeface="+mn-ea"/>
              </a:rPr>
              <a:t>unaMSN</a:t>
            </a:r>
            <a:r>
              <a:rPr lang="zh-CN" altLang="en-US">
                <a:sym typeface="+mn-ea"/>
              </a:rPr>
              <a:t>超时次数，数据包在头部包含</a:t>
            </a:r>
            <a:r>
              <a:rPr lang="en-US" altLang="zh-CN">
                <a:sym typeface="+mn-ea"/>
              </a:rPr>
              <a:t>sRetryNo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接收方为</a:t>
            </a:r>
            <a:r>
              <a:rPr lang="en-US" altLang="zh-CN">
                <a:sym typeface="+mn-ea"/>
              </a:rPr>
              <a:t>eMSN</a:t>
            </a:r>
            <a:r>
              <a:rPr lang="zh-CN" altLang="en-US">
                <a:sym typeface="+mn-ea"/>
              </a:rPr>
              <a:t>维护一个</a:t>
            </a:r>
            <a:r>
              <a:rPr lang="en-US" altLang="zh-CN">
                <a:sym typeface="+mn-ea"/>
              </a:rPr>
              <a:t>rRetryNo</a:t>
            </a:r>
            <a:r>
              <a:rPr lang="zh-CN" altLang="en-US">
                <a:sym typeface="+mn-ea"/>
              </a:rPr>
              <a:t>，当接收方收到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3217</Words>
  <Application>WPS 演示</Application>
  <PresentationFormat>宽屏</PresentationFormat>
  <Paragraphs>141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Cambria Math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10</cp:revision>
  <dcterms:created xsi:type="dcterms:W3CDTF">2023-08-09T12:44:00Z</dcterms:created>
  <dcterms:modified xsi:type="dcterms:W3CDTF">2025-08-18T16:19:14Z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661260D770E540CFAB2B9559F77B76C4_12</vt:lpwstr>
  </property>
</Properties>
</file>