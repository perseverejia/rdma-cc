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05" y="408305"/>
            <a:ext cx="8161655" cy="2120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70835" y="3271520"/>
            <a:ext cx="6449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PACC</a:t>
            </a:r>
            <a:r>
              <a:rPr lang="zh-CN" altLang="en-US" sz="2400"/>
              <a:t>：对</a:t>
            </a:r>
            <a:r>
              <a:rPr lang="en-US" altLang="zh-CN" sz="2400"/>
              <a:t>RDMA</a:t>
            </a:r>
            <a:r>
              <a:rPr lang="zh-CN" altLang="en-US" sz="2400"/>
              <a:t>拥塞控制的主动精确控制反馈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3350895" y="4199255"/>
            <a:ext cx="7298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网卡设备与</a:t>
            </a:r>
            <a:r>
              <a:rPr lang="en-US" altLang="zh-CN" b="1">
                <a:solidFill>
                  <a:schemeClr val="accent1"/>
                </a:solidFill>
              </a:rPr>
              <a:t>DCQCN</a:t>
            </a:r>
            <a:r>
              <a:rPr lang="zh-CN" altLang="en-US" b="1">
                <a:solidFill>
                  <a:schemeClr val="accent1"/>
                </a:solidFill>
              </a:rPr>
              <a:t>兼容，在交换机上进行改进计算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6530" y="143510"/>
            <a:ext cx="5793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改进的三个方面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68605" y="569595"/>
            <a:ext cx="4208780" cy="177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33705" y="803910"/>
            <a:ext cx="3658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缓慢的拥塞回复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7430" y="1214120"/>
            <a:ext cx="9498330" cy="1453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600"/>
              <a:t>当前的三种主流拥塞控制方案（</a:t>
            </a:r>
            <a:r>
              <a:rPr lang="en-US" altLang="zh-CN" sz="1600"/>
              <a:t>DCQCN, TIMELY, HPCC</a:t>
            </a:r>
            <a:r>
              <a:rPr lang="zh-CN" altLang="en-US" sz="1600"/>
              <a:t>）都是由接收端反馈给发送端，长距离的控制回路需要消耗发送方至少一个</a:t>
            </a:r>
            <a:r>
              <a:rPr lang="en-US" altLang="zh-CN" sz="1600"/>
              <a:t>RTT</a:t>
            </a:r>
            <a:r>
              <a:rPr lang="zh-CN" altLang="en-US" sz="1600"/>
              <a:t>来感知并响应拥塞。</a:t>
            </a:r>
            <a:endParaRPr lang="zh-CN" altLang="en-US" sz="1600"/>
          </a:p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</a:rPr>
              <a:t>产生影响</a:t>
            </a:r>
            <a:r>
              <a:rPr lang="zh-CN" altLang="en-US" sz="1600">
                <a:solidFill>
                  <a:schemeClr val="accent1"/>
                </a:solidFill>
              </a:rPr>
              <a:t>：</a:t>
            </a:r>
            <a:endParaRPr lang="zh-CN" altLang="en-US" sz="160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/>
              <a:t>    1</a:t>
            </a:r>
            <a:r>
              <a:rPr lang="zh-CN" altLang="en-US" sz="1600"/>
              <a:t>）在瓶颈交换机队列长度达到顶峰后，队列长度还会继续增长</a:t>
            </a:r>
            <a:r>
              <a:rPr lang="en-US" altLang="zh-CN" sz="1600"/>
              <a:t>2~3</a:t>
            </a:r>
            <a:r>
              <a:rPr lang="zh-CN" altLang="en-US" sz="1600"/>
              <a:t>个</a:t>
            </a:r>
            <a:r>
              <a:rPr lang="en-US" altLang="zh-CN" sz="1600"/>
              <a:t>RTT</a:t>
            </a:r>
            <a:r>
              <a:rPr lang="zh-CN" altLang="en-US" sz="1600"/>
              <a:t>时间</a:t>
            </a:r>
            <a:r>
              <a:rPr lang="en-US" altLang="zh-CN" sz="1600"/>
              <a:t>    </a:t>
            </a:r>
            <a:endParaRPr lang="en-US" altLang="zh-CN" sz="1600"/>
          </a:p>
          <a:p>
            <a:pPr>
              <a:lnSpc>
                <a:spcPct val="120000"/>
              </a:lnSpc>
            </a:pPr>
            <a:r>
              <a:rPr lang="en-US" altLang="zh-CN" sz="1600"/>
              <a:t>    2</a:t>
            </a:r>
            <a:r>
              <a:rPr lang="zh-CN" altLang="en-US" sz="1600"/>
              <a:t>）在解决突发流量拥塞时，</a:t>
            </a:r>
            <a:r>
              <a:rPr lang="en-US" altLang="zh-CN" sz="1600"/>
              <a:t>HPCC</a:t>
            </a:r>
            <a:r>
              <a:rPr lang="zh-CN" altLang="en-US" sz="1600"/>
              <a:t>和</a:t>
            </a:r>
            <a:r>
              <a:rPr lang="en-US" altLang="zh-CN" sz="1600"/>
              <a:t>TIMELY</a:t>
            </a:r>
            <a:r>
              <a:rPr lang="zh-CN" altLang="en-US" sz="1600"/>
              <a:t>大约需要</a:t>
            </a:r>
            <a:r>
              <a:rPr lang="en-US" altLang="zh-CN" sz="1600"/>
              <a:t>5</a:t>
            </a:r>
            <a:r>
              <a:rPr lang="zh-CN" altLang="en-US" sz="1600"/>
              <a:t>个</a:t>
            </a:r>
            <a:r>
              <a:rPr lang="en-US" altLang="zh-CN" sz="1600"/>
              <a:t>RTT</a:t>
            </a:r>
            <a:r>
              <a:rPr lang="zh-CN" altLang="en-US" sz="1600"/>
              <a:t>来恢复吞吐量，</a:t>
            </a:r>
            <a:r>
              <a:rPr lang="en-US" altLang="zh-CN" sz="1600"/>
              <a:t>DCQCN</a:t>
            </a:r>
            <a:r>
              <a:rPr lang="zh-CN" altLang="en-US" sz="1600"/>
              <a:t>在这段时间内一直链路利用率不足。</a:t>
            </a:r>
            <a:endParaRPr lang="zh-CN" altLang="en-US" sz="1600"/>
          </a:p>
          <a:p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433705" y="3244850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DCQCN</a:t>
            </a:r>
            <a:r>
              <a:rPr lang="zh-CN" altLang="en-US"/>
              <a:t>方案中</a:t>
            </a:r>
            <a:r>
              <a:rPr lang="en-US" altLang="zh-CN"/>
              <a:t>CNP</a:t>
            </a:r>
            <a:r>
              <a:rPr lang="zh-CN" altLang="en-US"/>
              <a:t>生成的不精确性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83895" y="3692525"/>
            <a:ext cx="2907030" cy="7156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sym typeface="+mn-ea"/>
            </a:endParaRPr>
          </a:p>
          <a:p>
            <a:pPr algn="ctr"/>
            <a:r>
              <a:rPr lang="zh-CN" altLang="en-US" sz="1600">
                <a:sym typeface="+mn-ea"/>
              </a:rPr>
              <a:t>交换机判断</a:t>
            </a:r>
            <a:r>
              <a:rPr lang="en-US" altLang="zh-CN" sz="1600">
                <a:sym typeface="+mn-ea"/>
              </a:rPr>
              <a:t>egress port</a:t>
            </a:r>
            <a:r>
              <a:rPr lang="zh-CN" altLang="en-US" sz="1600">
                <a:sym typeface="+mn-ea"/>
              </a:rPr>
              <a:t>（出口端口）队列长度</a:t>
            </a:r>
            <a:r>
              <a:rPr lang="en-US" altLang="zh-CN" sz="1600">
                <a:sym typeface="+mn-ea"/>
              </a:rPr>
              <a:t>&gt;</a:t>
            </a:r>
            <a:r>
              <a:rPr lang="zh-CN" altLang="en-US" sz="1600">
                <a:sym typeface="+mn-ea"/>
              </a:rPr>
              <a:t>阈值</a:t>
            </a:r>
            <a:endParaRPr lang="zh-CN" altLang="en-US" sz="1600"/>
          </a:p>
          <a:p>
            <a:pPr algn="ctr"/>
            <a:endParaRPr lang="zh-CN" altLang="en-US" sz="1600"/>
          </a:p>
        </p:txBody>
      </p:sp>
      <p:sp>
        <p:nvSpPr>
          <p:cNvPr id="14" name="矩形 13"/>
          <p:cNvSpPr/>
          <p:nvPr/>
        </p:nvSpPr>
        <p:spPr>
          <a:xfrm>
            <a:off x="4029075" y="3692525"/>
            <a:ext cx="2428240" cy="7162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交换机给所有经过该端口的包按概率打</a:t>
            </a:r>
            <a:r>
              <a:rPr lang="en-US" altLang="zh-CN" sz="1600"/>
              <a:t>ECN</a:t>
            </a:r>
            <a:r>
              <a:rPr lang="zh-CN" altLang="en-US" sz="1600"/>
              <a:t>标记</a:t>
            </a:r>
            <a:endParaRPr lang="zh-CN" altLang="en-US" sz="1600"/>
          </a:p>
        </p:txBody>
      </p:sp>
      <p:sp>
        <p:nvSpPr>
          <p:cNvPr id="15" name="矩形 14"/>
          <p:cNvSpPr/>
          <p:nvPr/>
        </p:nvSpPr>
        <p:spPr>
          <a:xfrm>
            <a:off x="7020560" y="3693795"/>
            <a:ext cx="2150110" cy="71501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接收方收到</a:t>
            </a:r>
            <a:r>
              <a:rPr lang="en-US" altLang="zh-CN" sz="1600"/>
              <a:t>ECN</a:t>
            </a:r>
            <a:r>
              <a:rPr lang="zh-CN" altLang="en-US" sz="1600"/>
              <a:t>包，封装</a:t>
            </a:r>
            <a:r>
              <a:rPr lang="en-US" altLang="zh-CN" sz="1600"/>
              <a:t>CNP(</a:t>
            </a:r>
            <a:r>
              <a:rPr lang="zh-CN" altLang="en-US" sz="1600"/>
              <a:t>拥塞通知包</a:t>
            </a:r>
            <a:r>
              <a:rPr lang="en-US" altLang="zh-CN" sz="1600"/>
              <a:t>)</a:t>
            </a:r>
            <a:endParaRPr lang="en-US" altLang="zh-CN" sz="1600"/>
          </a:p>
        </p:txBody>
      </p:sp>
      <p:sp>
        <p:nvSpPr>
          <p:cNvPr id="16" name="矩形 15"/>
          <p:cNvSpPr/>
          <p:nvPr/>
        </p:nvSpPr>
        <p:spPr>
          <a:xfrm>
            <a:off x="9594215" y="3676650"/>
            <a:ext cx="2011045" cy="7308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发送方收到</a:t>
            </a:r>
            <a:r>
              <a:rPr lang="en-US" altLang="zh-CN" sz="1600"/>
              <a:t>CNP,</a:t>
            </a:r>
            <a:r>
              <a:rPr lang="zh-CN" altLang="en-US" sz="1600"/>
              <a:t>降低对应流的传输速率</a:t>
            </a:r>
            <a:endParaRPr lang="zh-CN" altLang="en-US" sz="160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721100" y="4012565"/>
            <a:ext cx="20510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6636385" y="4020185"/>
            <a:ext cx="20510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9349740" y="4027805"/>
            <a:ext cx="20510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957580" y="4554855"/>
            <a:ext cx="196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产生影响：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59535" y="5037455"/>
            <a:ext cx="9456420" cy="1271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1600"/>
              <a:t>1</a:t>
            </a:r>
            <a:r>
              <a:rPr lang="zh-CN" altLang="en-US" sz="1600"/>
              <a:t>）由于发生拥塞时，短流的</a:t>
            </a:r>
            <a:r>
              <a:rPr lang="en-US" altLang="zh-CN" sz="1600"/>
              <a:t>ECN</a:t>
            </a:r>
            <a:r>
              <a:rPr lang="zh-CN" altLang="en-US" sz="1600"/>
              <a:t>标记更容易被捕获，所以突发短流造成的拥塞传送的</a:t>
            </a:r>
            <a:r>
              <a:rPr lang="en-US" altLang="zh-CN" sz="1600"/>
              <a:t>CNP</a:t>
            </a:r>
            <a:r>
              <a:rPr lang="zh-CN" altLang="en-US" sz="1600"/>
              <a:t>数据包更多，相反长流造成的拥塞传送的</a:t>
            </a:r>
            <a:r>
              <a:rPr lang="en-US" altLang="zh-CN" sz="1600"/>
              <a:t>CNP</a:t>
            </a:r>
            <a:r>
              <a:rPr lang="zh-CN" altLang="en-US" sz="1600"/>
              <a:t>较少，长流和短流之间使吞吐量最多差</a:t>
            </a:r>
            <a:r>
              <a:rPr lang="en-US" altLang="zh-CN" sz="1600"/>
              <a:t>60%</a:t>
            </a:r>
            <a:r>
              <a:rPr lang="zh-CN" altLang="en-US" sz="1600"/>
              <a:t>。</a:t>
            </a:r>
            <a:endParaRPr lang="zh-CN" altLang="en-US" sz="1600"/>
          </a:p>
          <a:p>
            <a:pPr>
              <a:lnSpc>
                <a:spcPct val="120000"/>
              </a:lnSpc>
            </a:pPr>
            <a:r>
              <a:rPr lang="en-US" altLang="zh-CN" sz="1600"/>
              <a:t>2</a:t>
            </a:r>
            <a:r>
              <a:rPr lang="zh-CN" altLang="en-US" sz="1600"/>
              <a:t>）由于长反馈循环，突发短流造成拥塞时，冗余的</a:t>
            </a:r>
            <a:r>
              <a:rPr lang="en-US" altLang="zh-CN" sz="1600"/>
              <a:t>CNP</a:t>
            </a:r>
            <a:r>
              <a:rPr lang="zh-CN" altLang="en-US" sz="1600"/>
              <a:t>抑制发送方速率恢复，残余的流不能以理想速率发送。</a:t>
            </a:r>
            <a:endParaRPr lang="zh-CN" altLang="en-US" sz="1600"/>
          </a:p>
        </p:txBody>
      </p:sp>
      <p:sp>
        <p:nvSpPr>
          <p:cNvPr id="22" name="剪去单角的矩形 21"/>
          <p:cNvSpPr/>
          <p:nvPr/>
        </p:nvSpPr>
        <p:spPr>
          <a:xfrm>
            <a:off x="6633210" y="2920365"/>
            <a:ext cx="3159125" cy="508635"/>
          </a:xfrm>
          <a:prstGeom prst="snip1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后台线程</a:t>
            </a:r>
            <a:r>
              <a:rPr lang="en-US" altLang="zh-CN"/>
              <a:t>80</a:t>
            </a:r>
            <a:r>
              <a:rPr lang="en-US" altLang="zh-CN">
                <a:sym typeface="+mn-ea"/>
              </a:rPr>
              <a:t>μs</a:t>
            </a:r>
            <a:r>
              <a:rPr lang="zh-CN" altLang="en-US">
                <a:sym typeface="+mn-ea"/>
              </a:rPr>
              <a:t>更新一次</a:t>
            </a:r>
            <a:endParaRPr lang="zh-CN" altLang="en-US">
              <a:sym typeface="+mn-ea"/>
            </a:endParaRPr>
          </a:p>
        </p:txBody>
      </p:sp>
      <p:sp>
        <p:nvSpPr>
          <p:cNvPr id="23" name="剪去单角的矩形 22"/>
          <p:cNvSpPr/>
          <p:nvPr/>
        </p:nvSpPr>
        <p:spPr>
          <a:xfrm>
            <a:off x="6576060" y="6095365"/>
            <a:ext cx="3803015" cy="508635"/>
          </a:xfrm>
          <a:prstGeom prst="snip1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交换机</a:t>
            </a:r>
            <a:r>
              <a:rPr lang="en-US" altLang="zh-CN">
                <a:sym typeface="+mn-ea"/>
              </a:rPr>
              <a:t>PI</a:t>
            </a:r>
            <a:r>
              <a:rPr lang="zh-CN" altLang="en-US">
                <a:sym typeface="+mn-ea"/>
              </a:rPr>
              <a:t>控制器，指导</a:t>
            </a:r>
            <a:r>
              <a:rPr lang="en-US" altLang="zh-CN">
                <a:sym typeface="+mn-ea"/>
              </a:rPr>
              <a:t>CNP</a:t>
            </a:r>
            <a:r>
              <a:rPr lang="zh-CN" altLang="en-US">
                <a:sym typeface="+mn-ea"/>
              </a:rPr>
              <a:t>生成数目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8" grpId="0"/>
      <p:bldP spid="13" grpId="0" animBg="1"/>
      <p:bldP spid="14" grpId="0" animBg="1"/>
      <p:bldP spid="15" grpId="0" animBg="1"/>
      <p:bldP spid="16" grpId="0" animBg="1"/>
      <p:bldP spid="8" grpId="1"/>
      <p:bldP spid="13" grpId="1" animBg="1"/>
      <p:bldP spid="14" grpId="1" animBg="1"/>
      <p:bldP spid="15" grpId="1" animBg="1"/>
      <p:bldP spid="16" grpId="1" animBg="1"/>
      <p:bldP spid="20" grpId="0"/>
      <p:bldP spid="21" grpId="0"/>
      <p:bldP spid="20" grpId="1"/>
      <p:bldP spid="21" grpId="1"/>
      <p:bldP spid="23" grpId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6530" y="143510"/>
            <a:ext cx="5793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改进的三个方面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68605" y="569595"/>
            <a:ext cx="4208780" cy="177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33705" y="803910"/>
            <a:ext cx="3658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不能意识到微小突发流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5780" y="2679700"/>
            <a:ext cx="196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产生影响：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3" name="剪去单角的矩形 22"/>
          <p:cNvSpPr/>
          <p:nvPr/>
        </p:nvSpPr>
        <p:spPr>
          <a:xfrm>
            <a:off x="6296660" y="4202430"/>
            <a:ext cx="4410075" cy="508635"/>
          </a:xfrm>
          <a:prstGeom prst="snip1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交换机要能区分微小突发流，不生成</a:t>
            </a:r>
            <a:r>
              <a:rPr lang="en-US" altLang="zh-CN">
                <a:sym typeface="+mn-ea"/>
              </a:rPr>
              <a:t>CNP</a:t>
            </a:r>
            <a:endParaRPr lang="en-US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9960" y="1300480"/>
            <a:ext cx="9296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应用负载的流有</a:t>
            </a:r>
            <a:r>
              <a:rPr lang="en-US" altLang="zh-CN"/>
              <a:t>60%</a:t>
            </a:r>
            <a:r>
              <a:rPr lang="zh-CN" altLang="en-US"/>
              <a:t>到</a:t>
            </a:r>
            <a:r>
              <a:rPr lang="en-US" altLang="zh-CN"/>
              <a:t>90%</a:t>
            </a:r>
            <a:r>
              <a:rPr lang="zh-CN" altLang="en-US"/>
              <a:t>可以在少于</a:t>
            </a:r>
            <a:r>
              <a:rPr lang="en-US" altLang="zh-CN"/>
              <a:t>1RTT</a:t>
            </a:r>
            <a:r>
              <a:rPr lang="zh-CN" altLang="en-US"/>
              <a:t>时间内完成，虽然这个过程很短，但微小流积累引发的队列深度堆积，也能导致拥塞控制。最后一个</a:t>
            </a:r>
            <a:r>
              <a:rPr lang="en-US" altLang="zh-CN"/>
              <a:t>RTT</a:t>
            </a:r>
            <a:r>
              <a:rPr lang="zh-CN" altLang="en-US"/>
              <a:t>发的拥塞信号会抑制发送方的发送速率，但是此时已经不拥塞了，会导致吞吐量下降，没有拥塞的新流受抑制。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11250" y="3121660"/>
            <a:ext cx="94856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）长流造成的拥塞恢复吞吐量需要</a:t>
            </a:r>
            <a:r>
              <a:rPr lang="en-US" altLang="zh-CN"/>
              <a:t>150</a:t>
            </a:r>
            <a:r>
              <a:rPr lang="en-US" altLang="zh-CN">
                <a:sym typeface="+mn-ea"/>
              </a:rPr>
              <a:t>μs</a:t>
            </a:r>
            <a:r>
              <a:rPr lang="zh-CN" altLang="en-US">
                <a:sym typeface="+mn-ea"/>
              </a:rPr>
              <a:t>，短流造成的拥塞恢复吞吐量需要</a:t>
            </a:r>
            <a:r>
              <a:rPr lang="en-US" altLang="zh-CN">
                <a:sym typeface="+mn-ea"/>
              </a:rPr>
              <a:t>350μs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）发送方不知道网络内部拥塞情况，一旦拥塞反馈延迟超过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，或说拥塞已经解决了，那再进行速率控制是无意义且有害的。</a:t>
            </a:r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240" y="5695315"/>
            <a:ext cx="2237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本文主要改进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2186305" y="5447030"/>
            <a:ext cx="270510" cy="90678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86025" y="5410835"/>
            <a:ext cx="725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减少给发送端的拥塞反馈时间：交换机反馈拥塞，</a:t>
            </a:r>
            <a:r>
              <a:rPr lang="en-US" altLang="zh-CN">
                <a:sym typeface="+mn-ea"/>
              </a:rPr>
              <a:t>80</a:t>
            </a:r>
            <a:r>
              <a:rPr lang="en-US" altLang="zh-CN">
                <a:sym typeface="+mn-ea"/>
              </a:rPr>
              <a:t>μs</a:t>
            </a:r>
            <a:r>
              <a:rPr lang="zh-CN" altLang="en-US">
                <a:sym typeface="+mn-ea"/>
              </a:rPr>
              <a:t>定期反馈。</a:t>
            </a:r>
            <a:endParaRPr lang="zh-CN" altLang="en-US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456815" y="5845175"/>
            <a:ext cx="756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解决微小流突发带来的</a:t>
            </a:r>
            <a:r>
              <a:rPr lang="en-US" altLang="zh-CN"/>
              <a:t>CNP</a:t>
            </a:r>
            <a:r>
              <a:rPr lang="zh-CN" altLang="en-US"/>
              <a:t>冗余问题：区分微小流突发这种特殊情况，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控制</a:t>
            </a:r>
            <a:r>
              <a:rPr lang="en-US" altLang="zh-CN"/>
              <a:t>CNP</a:t>
            </a:r>
            <a:r>
              <a:rPr lang="zh-CN" altLang="en-US"/>
              <a:t>的生成。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20" grpId="1"/>
      <p:bldP spid="3" grpId="1"/>
      <p:bldP spid="23" grpId="0" animBg="1"/>
      <p:bldP spid="23" grpId="1" animBg="1"/>
      <p:bldP spid="9" grpId="0"/>
      <p:bldP spid="11" grpId="0" animBg="1"/>
      <p:bldP spid="12" grpId="0"/>
      <p:bldP spid="24" grpId="0"/>
      <p:bldP spid="9" grpId="1"/>
      <p:bldP spid="11" grpId="1" animBg="1"/>
      <p:bldP spid="12" grpId="1"/>
      <p:bldP spid="2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6060" y="151765"/>
            <a:ext cx="3832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实现方案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68605" y="569595"/>
            <a:ext cx="4208780" cy="177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33400" y="824865"/>
            <a:ext cx="1609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网卡</a:t>
            </a:r>
            <a:endParaRPr lang="zh-CN" altLang="en-US" sz="2000" b="1"/>
          </a:p>
        </p:txBody>
      </p:sp>
      <p:sp>
        <p:nvSpPr>
          <p:cNvPr id="8" name="文本框 7"/>
          <p:cNvSpPr txBox="1"/>
          <p:nvPr/>
        </p:nvSpPr>
        <p:spPr>
          <a:xfrm>
            <a:off x="949960" y="1300480"/>
            <a:ext cx="8930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主机网卡架构继承自</a:t>
            </a:r>
            <a:r>
              <a:rPr lang="en-US" altLang="zh-CN"/>
              <a:t>DCQCN</a:t>
            </a:r>
            <a:r>
              <a:rPr lang="zh-CN" altLang="en-US"/>
              <a:t>，但是因为交换机给发送方返回拥塞控制信息，所以只需要</a:t>
            </a:r>
            <a:r>
              <a:rPr lang="en-US" altLang="zh-CN"/>
              <a:t>RP</a:t>
            </a:r>
            <a:r>
              <a:rPr lang="zh-CN" altLang="en-US"/>
              <a:t>（</a:t>
            </a:r>
            <a:r>
              <a:rPr lang="en-US" altLang="zh-CN"/>
              <a:t>reaction point</a:t>
            </a:r>
            <a:r>
              <a:rPr lang="zh-CN" altLang="en-US"/>
              <a:t>，发送方）和</a:t>
            </a:r>
            <a:r>
              <a:rPr lang="en-US" altLang="zh-CN"/>
              <a:t>CP</a:t>
            </a:r>
            <a:r>
              <a:rPr lang="zh-CN" altLang="en-US"/>
              <a:t>（</a:t>
            </a:r>
            <a:r>
              <a:rPr lang="en-US" altLang="zh-CN"/>
              <a:t>congestion point</a:t>
            </a:r>
            <a:r>
              <a:rPr lang="zh-CN" altLang="en-US"/>
              <a:t>，交换机）。</a:t>
            </a:r>
            <a:endParaRPr lang="zh-CN" altLang="en-US"/>
          </a:p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49960" y="2272665"/>
                <a:ext cx="9253855" cy="657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2. </a:t>
                </a:r>
                <a:r>
                  <a:rPr lang="zh-CN" altLang="en-US"/>
                  <a:t>当收到</a:t>
                </a:r>
                <a:r>
                  <a:rPr lang="en-US" altLang="zh-CN"/>
                  <a:t>CNP</a:t>
                </a:r>
                <a:r>
                  <a:rPr lang="zh-CN" altLang="en-US"/>
                  <a:t>后，发送端调整当前速率函数如下所示，当前速率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，目标速率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，减速系数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a关系如下，其中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g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是一个预设置的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0~1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Cambria Math" panose="02040503050406030204" charset="0"/>
                  </a:rPr>
                  <a:t>之间常量：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60" y="2272665"/>
                <a:ext cx="9253855" cy="6578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3253740"/>
            <a:ext cx="4829175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6060" y="151765"/>
            <a:ext cx="3832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实现方案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68605" y="569595"/>
            <a:ext cx="4208780" cy="177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33400" y="824865"/>
            <a:ext cx="1609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交换机</a:t>
            </a:r>
            <a:endParaRPr lang="zh-CN" altLang="en-US" sz="2000" b="1"/>
          </a:p>
        </p:txBody>
      </p:sp>
      <p:sp>
        <p:nvSpPr>
          <p:cNvPr id="2" name="文本框 1"/>
          <p:cNvSpPr txBox="1"/>
          <p:nvPr/>
        </p:nvSpPr>
        <p:spPr>
          <a:xfrm>
            <a:off x="755015" y="1191260"/>
            <a:ext cx="729615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交换机上三个重要组成部分：</a:t>
            </a:r>
            <a:r>
              <a:rPr lang="en-US" altLang="zh-CN">
                <a:solidFill>
                  <a:srgbClr val="FF0000"/>
                </a:solidFill>
              </a:rPr>
              <a:t>CNP</a:t>
            </a:r>
            <a:r>
              <a:rPr lang="zh-CN" altLang="en-US">
                <a:solidFill>
                  <a:srgbClr val="FF0000"/>
                </a:solidFill>
              </a:rPr>
              <a:t>数目计算器，</a:t>
            </a:r>
            <a:r>
              <a:rPr lang="en-US" altLang="zh-CN">
                <a:solidFill>
                  <a:srgbClr val="FF0000"/>
                </a:solidFill>
              </a:rPr>
              <a:t>CNP</a:t>
            </a:r>
            <a:r>
              <a:rPr lang="zh-CN" altLang="en-US">
                <a:solidFill>
                  <a:srgbClr val="FF0000"/>
                </a:solidFill>
              </a:rPr>
              <a:t>控制器，</a:t>
            </a:r>
            <a:r>
              <a:rPr lang="en-US" altLang="zh-CN">
                <a:solidFill>
                  <a:srgbClr val="FF0000"/>
                </a:solidFill>
              </a:rPr>
              <a:t>CNP</a:t>
            </a:r>
            <a:r>
              <a:rPr lang="zh-CN" altLang="en-US">
                <a:solidFill>
                  <a:srgbClr val="FF0000"/>
                </a:solidFill>
              </a:rPr>
              <a:t>生成器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</a:rPr>
              <a:t>交换机端口处维护一个流表：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2275" y="3325495"/>
            <a:ext cx="625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）计算</a:t>
            </a:r>
            <a:r>
              <a:rPr lang="en-US" altLang="zh-CN"/>
              <a:t>CNP</a:t>
            </a:r>
            <a:r>
              <a:rPr lang="zh-CN" altLang="en-US"/>
              <a:t>数目：</a:t>
            </a:r>
            <a:r>
              <a:rPr lang="en-US" altLang="zh-CN"/>
              <a:t>PI</a:t>
            </a:r>
            <a:r>
              <a:rPr lang="zh-CN" altLang="en-US"/>
              <a:t>控制器（比例</a:t>
            </a:r>
            <a:r>
              <a:rPr lang="en-US" altLang="zh-CN"/>
              <a:t>-</a:t>
            </a:r>
            <a:r>
              <a:rPr lang="zh-CN" altLang="en-US"/>
              <a:t>积分控制器）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895" y="4034155"/>
            <a:ext cx="5780405" cy="517525"/>
          </a:xfrm>
          <a:prstGeom prst="rect">
            <a:avLst/>
          </a:prstGeom>
        </p:spPr>
      </p:pic>
      <p:sp>
        <p:nvSpPr>
          <p:cNvPr id="8" name="左大括号 7"/>
          <p:cNvSpPr/>
          <p:nvPr/>
        </p:nvSpPr>
        <p:spPr>
          <a:xfrm rot="16200000">
            <a:off x="3259455" y="4015105"/>
            <a:ext cx="148590" cy="12217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22880" y="4739640"/>
            <a:ext cx="1844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</a:rPr>
              <a:t>比例控制项</a:t>
            </a:r>
            <a:endParaRPr lang="zh-CN" altLang="en-US" sz="1600">
              <a:solidFill>
                <a:schemeClr val="accent1"/>
              </a:solidFill>
            </a:endParaRPr>
          </a:p>
        </p:txBody>
      </p:sp>
      <p:sp>
        <p:nvSpPr>
          <p:cNvPr id="10" name="左大括号 9"/>
          <p:cNvSpPr/>
          <p:nvPr/>
        </p:nvSpPr>
        <p:spPr>
          <a:xfrm rot="16200000">
            <a:off x="5530215" y="4015105"/>
            <a:ext cx="148590" cy="12217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93640" y="4740275"/>
            <a:ext cx="1844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</a:rPr>
              <a:t>积分控制项</a:t>
            </a:r>
            <a:endParaRPr lang="zh-CN" altLang="en-US" sz="160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275" y="5558155"/>
            <a:ext cx="8236585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accent4"/>
                </a:solidFill>
              </a:rPr>
              <a:t>比例控制项：</a:t>
            </a:r>
            <a:r>
              <a:rPr lang="zh-CN" altLang="en-US"/>
              <a:t>通过计算与队列阈值的偏差，对系统稳态误差程度做出快速响应。</a:t>
            </a: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 b="1">
                <a:solidFill>
                  <a:schemeClr val="accent4"/>
                </a:solidFill>
              </a:rPr>
              <a:t>积分控制项：</a:t>
            </a:r>
            <a:r>
              <a:rPr lang="zh-CN" altLang="en-US"/>
              <a:t>与队列变化方向结合，队列长度快速收敛到队列阈值。</a:t>
            </a:r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433050" y="4901565"/>
            <a:ext cx="88900" cy="3187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圆角矩形 16"/>
              <p:cNvSpPr/>
              <p:nvPr/>
            </p:nvSpPr>
            <p:spPr>
              <a:xfrm>
                <a:off x="9147810" y="3754755"/>
                <a:ext cx="2658745" cy="1021715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是后台线程周期性计算，参数仅交换机出口队列长度。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endParaRPr lang="zh-CN" altLang="en-US"/>
              </a:p>
            </p:txBody>
          </p:sp>
        </mc:Choice>
        <mc:Fallback>
          <p:sp>
            <p:nvSpPr>
              <p:cNvPr id="17" name="圆角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810" y="3754755"/>
                <a:ext cx="2658745" cy="1021715"/>
              </a:xfrm>
              <a:prstGeom prst="roundRect">
                <a:avLst/>
              </a:prstGeom>
              <a:blipFill rotWithShape="1">
                <a:blip r:embed="rId2"/>
                <a:stretch>
                  <a:fillRect l="-239" t="-17154" r="-239" b="-17091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/>
          <p:nvPr/>
        </p:nvSpPr>
        <p:spPr>
          <a:xfrm>
            <a:off x="9147175" y="5302250"/>
            <a:ext cx="2733675" cy="9258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交换机队列长度稳定在阈值，所有拥塞流都获得了公平份额。</a:t>
            </a:r>
            <a:endParaRPr lang="en-US" altLang="zh-CN"/>
          </a:p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/>
              <p:nvPr>
                <p:custDataLst>
                  <p:tags r:id="rId3"/>
                </p:custDataLst>
              </p:nvPr>
            </p:nvGraphicFramePr>
            <p:xfrm>
              <a:off x="1317625" y="2108200"/>
              <a:ext cx="9035415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3130"/>
                    <a:gridCol w="2183130"/>
                    <a:gridCol w="2517140"/>
                    <a:gridCol w="215201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sip/dip(</a:t>
                          </a:r>
                          <a:r>
                            <a:rPr lang="zh-CN" altLang="en-US"/>
                            <a:t>源</a:t>
                          </a:r>
                          <a:r>
                            <a:rPr lang="en-US" altLang="zh-CN"/>
                            <a:t>IP/</a:t>
                          </a:r>
                          <a:r>
                            <a:rPr lang="zh-CN" altLang="en-US"/>
                            <a:t>目的</a:t>
                          </a:r>
                          <a:r>
                            <a:rPr lang="en-US" altLang="zh-CN"/>
                            <a:t>IP)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txBytes(</a:t>
                          </a:r>
                          <a:r>
                            <a:rPr lang="zh-CN" altLang="en-US"/>
                            <a:t>传输字节数</a:t>
                          </a:r>
                          <a:r>
                            <a:rPr lang="en-US" altLang="zh-CN"/>
                            <a:t>)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𝒄𝒐𝒏𝒈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/>
                            <a:t>(</a:t>
                          </a:r>
                          <a:r>
                            <a:rPr lang="zh-CN" altLang="en-US"/>
                            <a:t>流的拥塞包数目</a:t>
                          </a:r>
                          <a:r>
                            <a:rPr lang="en-US" altLang="zh-CN"/>
                            <a:t>)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𝒄𝒏𝒑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r>
                            <a:rPr lang="en-US" altLang="zh-CN" sz="1800">
                              <a:sym typeface="+mn-ea"/>
                            </a:rPr>
                            <a:t>(</a:t>
                          </a:r>
                          <a:r>
                            <a:rPr lang="zh-CN" altLang="en-US" sz="1800">
                              <a:sym typeface="+mn-ea"/>
                            </a:rPr>
                            <a:t>流的</a:t>
                          </a:r>
                          <a:r>
                            <a:rPr lang="en-US" altLang="zh-CN" sz="1800">
                              <a:sym typeface="+mn-ea"/>
                            </a:rPr>
                            <a:t>CNP</a:t>
                          </a:r>
                          <a:r>
                            <a:rPr lang="zh-CN" altLang="en-US" sz="1800">
                              <a:sym typeface="+mn-ea"/>
                            </a:rPr>
                            <a:t>数目</a:t>
                          </a:r>
                          <a:r>
                            <a:rPr lang="en-US" altLang="zh-CN" sz="1800">
                              <a:sym typeface="+mn-ea"/>
                            </a:rPr>
                            <a:t>)</a:t>
                          </a:r>
                          <a:endParaRPr lang="zh-CN" altLang="en-US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64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32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8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8 bits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/>
              <p:nvPr>
                <p:custDataLst>
                  <p:tags r:id="rId4"/>
                </p:custDataLst>
              </p:nvPr>
            </p:nvGraphicFramePr>
            <p:xfrm>
              <a:off x="1317625" y="2108200"/>
              <a:ext cx="9035415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3130"/>
                    <a:gridCol w="2183130"/>
                    <a:gridCol w="2517140"/>
                    <a:gridCol w="2152015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sip/dip(</a:t>
                          </a:r>
                          <a:r>
                            <a:rPr lang="zh-CN" altLang="en-US"/>
                            <a:t>源</a:t>
                          </a:r>
                          <a:r>
                            <a:rPr lang="en-US" altLang="zh-CN"/>
                            <a:t>IP/</a:t>
                          </a:r>
                          <a:r>
                            <a:rPr lang="zh-CN" altLang="en-US"/>
                            <a:t>目的</a:t>
                          </a:r>
                          <a:r>
                            <a:rPr lang="en-US" altLang="zh-CN"/>
                            <a:t>IP)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txBytes(</a:t>
                          </a:r>
                          <a:r>
                            <a:rPr lang="zh-CN" altLang="en-US"/>
                            <a:t>传输字节数</a:t>
                          </a:r>
                          <a:r>
                            <a:rPr lang="en-US" altLang="zh-CN"/>
                            <a:t>)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64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32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8 bits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8 bits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6060" y="151765"/>
            <a:ext cx="3832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实现方案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68605" y="569595"/>
            <a:ext cx="4208780" cy="177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33400" y="824865"/>
            <a:ext cx="1609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交换机</a:t>
            </a:r>
            <a:endParaRPr lang="zh-CN" altLang="en-US" sz="2000" b="1"/>
          </a:p>
        </p:txBody>
      </p:sp>
      <p:sp>
        <p:nvSpPr>
          <p:cNvPr id="3" name="文本框 2"/>
          <p:cNvSpPr txBox="1"/>
          <p:nvPr/>
        </p:nvSpPr>
        <p:spPr>
          <a:xfrm>
            <a:off x="643890" y="1307465"/>
            <a:ext cx="625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）区分和处理微突发流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1147445" y="1776730"/>
                <a:ext cx="9711055" cy="1223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为了避免由微突发流引起的拥塞，</a:t>
                </a:r>
                <a:r>
                  <a:rPr lang="en-US" altLang="zh-CN"/>
                  <a:t>PACC</a:t>
                </a:r>
                <a:r>
                  <a:rPr lang="zh-CN" altLang="en-US"/>
                  <a:t>计算完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𝑎𝑙𝑙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后不会立刻生成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CNP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包，他要先比较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𝑎𝑣𝑔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（平均队列长度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𝑏𝑟𝑢𝑠𝑡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（阈值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）之间的关系，来确定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𝑎𝑙𝑙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是否生效。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45" y="1776730"/>
                <a:ext cx="9711055" cy="12236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70" y="2501265"/>
            <a:ext cx="5505450" cy="5524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665845" y="2632075"/>
            <a:ext cx="2533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指数移动平均</a:t>
            </a:r>
            <a:endParaRPr lang="zh-CN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58570" y="3145790"/>
                <a:ext cx="8681085" cy="988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𝑎𝑣𝑔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&lt;</m:t>
                    </m:r>
                  </m:oMath>
                </a14:m>
                <a:r>
                  <a:rPr lang="en-US" altLang="zh-CN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𝑏𝑟𝑢𝑠𝑡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：认为该流是微小突发流，可以在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1RTT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内完成，不需要拥塞控制。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𝑎𝑣𝑔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&gt;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sym typeface="+mn-ea"/>
                      </a:rPr>
                      <m:t>   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𝑏𝑟𝑢𝑠𝑡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PACC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根据流表给拥塞的流分配和生成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CNP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570" y="3145790"/>
                <a:ext cx="8681085" cy="988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643890" y="4134485"/>
            <a:ext cx="8268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CNP</a:t>
            </a:r>
            <a:r>
              <a:rPr lang="zh-CN" altLang="en-US"/>
              <a:t>在流之间的分配</a:t>
            </a:r>
            <a:endParaRPr lang="zh-CN" altLang="en-US"/>
          </a:p>
          <a:p>
            <a:endParaRPr lang="zh-CN" altLang="en-US"/>
          </a:p>
          <a:p>
            <a:endParaRPr lang="zh-CN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211580" y="4559935"/>
                <a:ext cx="8618220" cy="647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r>
                  <a:rPr lang="zh-CN" altLang="en-US">
                    <a:sym typeface="+mn-ea"/>
                  </a:rPr>
                  <a:t>每个流分配的</a:t>
                </a:r>
                <a:r>
                  <a:rPr lang="en-US" altLang="zh-CN">
                    <a:sym typeface="+mn-ea"/>
                  </a:rPr>
                  <a:t>CNP</a:t>
                </a:r>
                <a:r>
                  <a:rPr lang="zh-CN" altLang="en-US">
                    <a:sym typeface="+mn-ea"/>
                  </a:rPr>
                  <a:t>是根据流的拥塞程度。拥塞流的</a:t>
                </a:r>
                <a:r>
                  <a:rPr lang="en-US" altLang="zh-CN">
                    <a:sym typeface="+mn-ea"/>
                  </a:rPr>
                  <a:t>CNP</a:t>
                </a:r>
                <a:r>
                  <a:rPr lang="zh-CN" altLang="en-US">
                    <a:sym typeface="+mn-ea"/>
                  </a:rPr>
                  <a:t>数目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𝑐𝑛𝑝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是根据流表条目中记录的拥塞包数目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𝑐𝑜𝑛𝑔</m:t>
                        </m:r>
                      </m:sub>
                    </m:sSub>
                  </m:oMath>
                </a14:m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加权平均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获得。</a:t>
                </a:r>
                <a:endParaRPr lang="zh-CN" altLang="en-US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4559935"/>
                <a:ext cx="8618220" cy="6477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643890" y="5379720"/>
            <a:ext cx="8268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CNP</a:t>
            </a:r>
            <a:r>
              <a:rPr lang="zh-CN" altLang="en-US"/>
              <a:t>的生成</a:t>
            </a:r>
            <a:endParaRPr lang="zh-CN" altLang="en-US"/>
          </a:p>
          <a:p>
            <a:endParaRPr lang="zh-CN" altLang="en-US"/>
          </a:p>
          <a:p>
            <a:endParaRPr lang="zh-CN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38580" y="5884545"/>
            <a:ext cx="861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/>
              <a:t>在交换机上生成，</a:t>
            </a:r>
            <a:r>
              <a:rPr lang="en-US" altLang="zh-CN"/>
              <a:t>PACC</a:t>
            </a:r>
            <a:r>
              <a:rPr lang="zh-CN" altLang="en-US" b="1"/>
              <a:t>固定时间间隔</a:t>
            </a:r>
            <a:r>
              <a:rPr lang="zh-CN" altLang="en-US"/>
              <a:t>，以</a:t>
            </a:r>
            <a:r>
              <a:rPr lang="zh-CN" altLang="en-US" b="1"/>
              <a:t>最高优先级</a:t>
            </a:r>
            <a:r>
              <a:rPr lang="zh-CN" altLang="en-US"/>
              <a:t>从交换机向发送端发送</a:t>
            </a:r>
            <a:r>
              <a:rPr lang="en-US" altLang="zh-CN"/>
              <a:t>CNP</a:t>
            </a:r>
            <a:r>
              <a:rPr lang="zh-CN" altLang="en-US"/>
              <a:t>包。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7*80"/>
  <p:tag name="TABLE_ENDDRAG_RECT" val="103*166*687*80"/>
</p:tagLst>
</file>

<file path=ppt/tags/tag2.xml><?xml version="1.0" encoding="utf-8"?>
<p:tagLst xmlns:p="http://schemas.openxmlformats.org/presentationml/2006/main">
  <p:tag name="TABLE_ENDDRAG_ORIGIN_RECT" val="687*80"/>
  <p:tag name="TABLE_ENDDRAG_RECT" val="103*166*687*8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</Words>
  <Application>WPS 演示</Application>
  <PresentationFormat>宽屏</PresentationFormat>
  <Paragraphs>131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Cambria Math</vt:lpstr>
      <vt:lpstr>Wingdings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8</cp:revision>
  <dcterms:created xsi:type="dcterms:W3CDTF">2023-08-09T12:44:00Z</dcterms:created>
  <dcterms:modified xsi:type="dcterms:W3CDTF">2025-07-08T11:27:29Z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F92D2CCCC5DF4BABA8D588FE0007EDDF_12</vt:lpwstr>
  </property>
</Properties>
</file>