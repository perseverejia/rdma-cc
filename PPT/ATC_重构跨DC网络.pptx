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3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3.png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655" y="768350"/>
            <a:ext cx="9561195" cy="22053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47795" y="3309620"/>
            <a:ext cx="66624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2000" b="1"/>
              <a:t>ATC :  </a:t>
            </a:r>
            <a:r>
              <a:rPr lang="zh-CN" altLang="en-US" sz="2000" b="1"/>
              <a:t>重架构跨</a:t>
            </a:r>
            <a:r>
              <a:rPr lang="en-US" altLang="zh-CN" sz="2000" b="1"/>
              <a:t>DC</a:t>
            </a:r>
            <a:r>
              <a:rPr lang="zh-CN" altLang="en-US" sz="2000" b="1"/>
              <a:t>网络的拥塞控制</a:t>
            </a:r>
            <a:endParaRPr lang="zh-CN" altLang="en-US" sz="2000" b="1"/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1123950" y="4448175"/>
            <a:ext cx="2679700" cy="10382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两个数据中心连接，存在</a:t>
            </a:r>
            <a:r>
              <a:rPr lang="en-US" altLang="zh-CN"/>
              <a:t>DC</a:t>
            </a:r>
            <a:r>
              <a:rPr lang="zh-CN" altLang="en-US"/>
              <a:t>内和</a:t>
            </a:r>
            <a:r>
              <a:rPr lang="en-US" altLang="zh-CN"/>
              <a:t>DC</a:t>
            </a:r>
            <a:r>
              <a:rPr lang="zh-CN" altLang="en-US"/>
              <a:t>间流量混合冲突，导致拥塞。</a:t>
            </a:r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4763770" y="4448175"/>
            <a:ext cx="2667635" cy="10382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现有方案分别针对</a:t>
            </a:r>
            <a:r>
              <a:rPr lang="en-US" altLang="zh-CN"/>
              <a:t>DC</a:t>
            </a:r>
            <a:r>
              <a:rPr lang="zh-CN" altLang="en-US"/>
              <a:t>内和</a:t>
            </a:r>
            <a:r>
              <a:rPr lang="en-US" altLang="zh-CN"/>
              <a:t>DC</a:t>
            </a:r>
            <a:r>
              <a:rPr lang="zh-CN" altLang="en-US"/>
              <a:t>间，没有同时满足两者的架构。</a:t>
            </a:r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8391525" y="4447540"/>
            <a:ext cx="2905760" cy="10388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通过长链路两端的外部交换机（</a:t>
            </a:r>
            <a:r>
              <a:rPr lang="en-US" altLang="zh-CN"/>
              <a:t>DCI</a:t>
            </a:r>
            <a:r>
              <a:rPr lang="zh-CN" altLang="en-US"/>
              <a:t>交换机）来重架构跨</a:t>
            </a:r>
            <a:r>
              <a:rPr lang="en-US" altLang="zh-CN"/>
              <a:t>DC</a:t>
            </a:r>
            <a:r>
              <a:rPr lang="zh-CN" altLang="en-US"/>
              <a:t>网络的拥塞控制。</a:t>
            </a:r>
            <a:endParaRPr lang="zh-CN" altLang="en-US"/>
          </a:p>
        </p:txBody>
      </p:sp>
      <p:sp>
        <p:nvSpPr>
          <p:cNvPr id="9" name="右箭头 8"/>
          <p:cNvSpPr/>
          <p:nvPr>
            <p:custDataLst>
              <p:tags r:id="rId5"/>
            </p:custDataLst>
          </p:nvPr>
        </p:nvSpPr>
        <p:spPr>
          <a:xfrm>
            <a:off x="4102100" y="4852035"/>
            <a:ext cx="374650" cy="18034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右箭头 9"/>
          <p:cNvSpPr/>
          <p:nvPr>
            <p:custDataLst>
              <p:tags r:id="rId6"/>
            </p:custDataLst>
          </p:nvPr>
        </p:nvSpPr>
        <p:spPr>
          <a:xfrm>
            <a:off x="7724140" y="4852035"/>
            <a:ext cx="374650" cy="18034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1974850" y="5616575"/>
            <a:ext cx="1456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问题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5776595" y="5616575"/>
            <a:ext cx="641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现状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9523095" y="5616575"/>
            <a:ext cx="641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方案</a:t>
            </a:r>
            <a:endParaRPr lang="zh-CN" altLang="en-US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4125" y="428625"/>
            <a:ext cx="9220200" cy="20993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6060" y="111760"/>
            <a:ext cx="50901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问题</a:t>
            </a:r>
            <a:r>
              <a:rPr lang="en-US" altLang="zh-CN" sz="2000"/>
              <a:t>&amp;</a:t>
            </a:r>
            <a:r>
              <a:rPr lang="zh-CN" altLang="en-US" sz="2000"/>
              <a:t>现有解决方案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80010" y="601980"/>
            <a:ext cx="4483100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79730" y="2065020"/>
            <a:ext cx="1440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问题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79730" y="2574925"/>
            <a:ext cx="111315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/>
              <a:t>跨</a:t>
            </a:r>
            <a:r>
              <a:rPr lang="en-US" altLang="zh-CN"/>
              <a:t>DC</a:t>
            </a:r>
            <a:r>
              <a:rPr lang="zh-CN" altLang="en-US"/>
              <a:t>的网络</a:t>
            </a:r>
            <a:r>
              <a:rPr lang="en-US" altLang="zh-CN" b="1"/>
              <a:t>RTT</a:t>
            </a:r>
            <a:r>
              <a:rPr lang="zh-CN" altLang="en-US" b="1"/>
              <a:t>明显大于</a:t>
            </a:r>
            <a:r>
              <a:rPr lang="en-US" altLang="zh-CN"/>
              <a:t>DC</a:t>
            </a:r>
            <a:r>
              <a:rPr lang="zh-CN" altLang="en-US"/>
              <a:t>内网络的</a:t>
            </a:r>
            <a:r>
              <a:rPr lang="en-US" altLang="zh-CN"/>
              <a:t>RTT</a:t>
            </a:r>
            <a:r>
              <a:rPr lang="zh-CN" altLang="en-US"/>
              <a:t>，长距离传输导致一个长的控制回路，将</a:t>
            </a:r>
            <a:r>
              <a:rPr lang="zh-CN" altLang="en-US" b="1"/>
              <a:t>长距离流量</a:t>
            </a:r>
            <a:r>
              <a:rPr lang="zh-CN" altLang="en-US"/>
              <a:t>与</a:t>
            </a:r>
            <a:r>
              <a:rPr lang="en-US" altLang="zh-CN" b="1"/>
              <a:t>DC</a:t>
            </a:r>
            <a:r>
              <a:rPr lang="zh-CN" altLang="en-US" b="1"/>
              <a:t>内流量</a:t>
            </a:r>
            <a:r>
              <a:rPr lang="zh-CN" altLang="en-US"/>
              <a:t>混合会让网络状态变得复杂，易导致严重拥塞。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/>
              <a:t>DC</a:t>
            </a:r>
            <a:r>
              <a:rPr lang="zh-CN" altLang="en-US"/>
              <a:t>内交换机的浅缓冲区相较于长距离传输中的大</a:t>
            </a:r>
            <a:r>
              <a:rPr lang="en-US" altLang="zh-CN"/>
              <a:t>BDP</a:t>
            </a:r>
            <a:r>
              <a:rPr lang="zh-CN" altLang="en-US"/>
              <a:t>是有限的，容易导致缓存溢出，触发</a:t>
            </a:r>
            <a:r>
              <a:rPr lang="en-US" altLang="zh-CN"/>
              <a:t>PFC Pause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6545580" y="3058795"/>
            <a:ext cx="3715385" cy="4610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信号传递时延大，有害的控制信息</a:t>
            </a:r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7101205" y="3961765"/>
            <a:ext cx="3795395" cy="3956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PFC</a:t>
            </a:r>
            <a:r>
              <a:rPr lang="zh-CN" altLang="en-US"/>
              <a:t>等控制信号容易产生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35915" y="3987800"/>
            <a:ext cx="1440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现有方案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4190" y="4375150"/>
            <a:ext cx="106629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/>
              <a:t>主机驱动方案</a:t>
            </a:r>
            <a:r>
              <a:rPr lang="zh-CN" altLang="en-US"/>
              <a:t>（</a:t>
            </a:r>
            <a:r>
              <a:rPr lang="en-US" altLang="zh-CN"/>
              <a:t>DCQCN,  TIMELY, HPCC</a:t>
            </a:r>
            <a:r>
              <a:rPr lang="zh-CN" altLang="en-US"/>
              <a:t>）：经历长控制回路，控制信号不能及时传递。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/>
              <a:t>交换机驱动方案</a:t>
            </a:r>
            <a:endParaRPr lang="zh-CN" altLang="en-US" b="1"/>
          </a:p>
        </p:txBody>
      </p:sp>
      <p:sp>
        <p:nvSpPr>
          <p:cNvPr id="23" name="文本框 22"/>
          <p:cNvSpPr txBox="1"/>
          <p:nvPr/>
        </p:nvSpPr>
        <p:spPr>
          <a:xfrm>
            <a:off x="3169920" y="4928870"/>
            <a:ext cx="5909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/>
                </a:solidFill>
              </a:rPr>
              <a:t>需要平衡部署难度和控制的范围</a:t>
            </a: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81405" y="5297170"/>
            <a:ext cx="1008570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部署在所有交换机上：增加了部署难度，偏向拥塞过度反应</a:t>
            </a:r>
            <a:r>
              <a:rPr lang="en-US" altLang="zh-CN"/>
              <a:t>(RoCC)</a:t>
            </a:r>
            <a:r>
              <a:rPr lang="zh-CN" altLang="en-US"/>
              <a:t>，或给数据中心内交换机的浅缓冲区造成压力</a:t>
            </a:r>
            <a:r>
              <a:rPr lang="en-US" altLang="zh-CN"/>
              <a:t>(BFC)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部署在部分交换机上：不能处理大规模复杂拥塞</a:t>
            </a:r>
            <a:r>
              <a:rPr lang="en-US" altLang="zh-CN"/>
              <a:t>(Annulus)</a:t>
            </a:r>
            <a:r>
              <a:rPr lang="zh-CN" altLang="en-US"/>
              <a:t>或只关注长距离链路拥塞</a:t>
            </a:r>
            <a:r>
              <a:rPr lang="en-US" altLang="zh-CN"/>
              <a:t>(SWING)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9" grpId="0" animBg="1"/>
      <p:bldP spid="19" grpId="1" animBg="1"/>
      <p:bldP spid="23" grpId="0"/>
      <p:bldP spid="2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6060" y="111760"/>
            <a:ext cx="50901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ATC</a:t>
            </a:r>
            <a:r>
              <a:rPr lang="zh-CN" altLang="en-US" sz="2000"/>
              <a:t>设计思路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80010" y="601980"/>
            <a:ext cx="4483100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30" y="822325"/>
            <a:ext cx="8420100" cy="161226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9605010" y="1273175"/>
            <a:ext cx="2014855" cy="8807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r>
              <a:rPr lang="en-US" altLang="zh-CN"/>
              <a:t>4</a:t>
            </a:r>
            <a:r>
              <a:rPr lang="zh-CN" altLang="en-US"/>
              <a:t>个节点</a:t>
            </a:r>
            <a:endParaRPr lang="zh-CN" altLang="en-US"/>
          </a:p>
          <a:p>
            <a:pPr algn="ctr">
              <a:lnSpc>
                <a:spcPct val="130000"/>
              </a:lnSpc>
            </a:pPr>
            <a:r>
              <a:rPr lang="en-US" altLang="zh-CN"/>
              <a:t>3</a:t>
            </a:r>
            <a:r>
              <a:rPr lang="zh-CN" altLang="en-US"/>
              <a:t>个流量控制模块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0045" y="2929890"/>
            <a:ext cx="2184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三个流量控制模块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2645" y="3322320"/>
            <a:ext cx="1049020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b="1"/>
              <a:t>Departure Traffic Control</a:t>
            </a:r>
            <a:r>
              <a:rPr lang="zh-CN" altLang="en-US" b="1"/>
              <a:t>：</a:t>
            </a:r>
            <a:r>
              <a:rPr lang="zh-CN" altLang="en-US">
                <a:solidFill>
                  <a:schemeClr val="accent2"/>
                </a:solidFill>
              </a:rPr>
              <a:t>及时调整发送方速率，</a:t>
            </a:r>
            <a:r>
              <a:rPr lang="zh-CN" altLang="en-US"/>
              <a:t>从本地</a:t>
            </a:r>
            <a:r>
              <a:rPr lang="en-US" altLang="zh-CN"/>
              <a:t>DCI</a:t>
            </a:r>
            <a:r>
              <a:rPr lang="zh-CN" altLang="en-US"/>
              <a:t>交换机到本地数据中心。本地</a:t>
            </a:r>
            <a:r>
              <a:rPr lang="en-US" altLang="zh-CN"/>
              <a:t>DCI</a:t>
            </a:r>
            <a:r>
              <a:rPr lang="zh-CN" altLang="en-US"/>
              <a:t>交换机直接生成</a:t>
            </a:r>
            <a:r>
              <a:rPr lang="en-US" altLang="zh-CN"/>
              <a:t>Departure Feedback</a:t>
            </a:r>
            <a:r>
              <a:rPr lang="zh-CN" altLang="en-US"/>
              <a:t>给发送方，缩短控制回路，发送方依次调整速率。</a:t>
            </a:r>
            <a:endParaRPr lang="zh-CN" altLang="en-US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b="1">
                <a:sym typeface="+mn-ea"/>
              </a:rPr>
              <a:t>Arrival Traffic Control</a:t>
            </a:r>
            <a:r>
              <a:rPr lang="zh-CN" altLang="en-US" b="1">
                <a:sym typeface="+mn-ea"/>
              </a:rPr>
              <a:t>：</a:t>
            </a:r>
            <a:r>
              <a:rPr lang="zh-CN" altLang="en-US">
                <a:solidFill>
                  <a:schemeClr val="accent2"/>
                </a:solidFill>
                <a:sym typeface="+mn-ea"/>
              </a:rPr>
              <a:t>解决远端</a:t>
            </a:r>
            <a:r>
              <a:rPr lang="en-US" altLang="zh-CN">
                <a:solidFill>
                  <a:schemeClr val="accent2"/>
                </a:solidFill>
                <a:sym typeface="+mn-ea"/>
              </a:rPr>
              <a:t>DC</a:t>
            </a:r>
            <a:r>
              <a:rPr lang="zh-CN" altLang="en-US">
                <a:solidFill>
                  <a:schemeClr val="accent2"/>
                </a:solidFill>
                <a:sym typeface="+mn-ea"/>
              </a:rPr>
              <a:t>混合流量拥塞，</a:t>
            </a:r>
            <a:r>
              <a:rPr lang="zh-CN" altLang="en-US">
                <a:sym typeface="+mn-ea"/>
              </a:rPr>
              <a:t>从远端数据中心到远端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交换机。远端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交换机引入新的流调度机制，通过接收方的</a:t>
            </a:r>
            <a:r>
              <a:rPr lang="en-US" altLang="zh-CN">
                <a:sym typeface="+mn-ea"/>
              </a:rPr>
              <a:t>Arrival Feedback</a:t>
            </a:r>
            <a:r>
              <a:rPr lang="zh-CN" altLang="en-US">
                <a:sym typeface="+mn-ea"/>
              </a:rPr>
              <a:t>对数据包传输调度。同时使用</a:t>
            </a:r>
            <a:r>
              <a:rPr lang="en-US" altLang="zh-CN">
                <a:sym typeface="+mn-ea"/>
              </a:rPr>
              <a:t>VoQ</a:t>
            </a:r>
            <a:r>
              <a:rPr lang="zh-CN" altLang="en-US">
                <a:sym typeface="+mn-ea"/>
              </a:rPr>
              <a:t>解决队头堵塞问题。</a:t>
            </a:r>
            <a:endParaRPr lang="zh-CN" altLang="en-US">
              <a:sym typeface="+mn-ea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b="1">
                <a:sym typeface="+mn-ea"/>
              </a:rPr>
              <a:t>Long-haul Traffic Control</a:t>
            </a:r>
            <a:r>
              <a:rPr lang="zh-CN" altLang="en-US" b="1">
                <a:sym typeface="+mn-ea"/>
              </a:rPr>
              <a:t>：</a:t>
            </a:r>
            <a:r>
              <a:rPr lang="zh-CN" altLang="en-US">
                <a:solidFill>
                  <a:schemeClr val="accent2"/>
                </a:solidFill>
                <a:sym typeface="+mn-ea"/>
              </a:rPr>
              <a:t>减少交换机缓存占用</a:t>
            </a:r>
            <a:r>
              <a:rPr lang="zh-CN" altLang="en-US">
                <a:sym typeface="+mn-ea"/>
              </a:rPr>
              <a:t>，从远端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交换机到本地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交换机。引入长距离回复机制来主动调度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之间的包传输。</a:t>
            </a:r>
            <a:endParaRPr lang="zh-CN" altLang="en-US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54935" y="2434590"/>
            <a:ext cx="600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6"/>
                </a:solidFill>
                <a:latin typeface="Calibri" panose="020F0502020204030204" charset="0"/>
              </a:rPr>
              <a:t>①</a:t>
            </a:r>
            <a:endParaRPr lang="zh-CN" altLang="en-US" b="1">
              <a:solidFill>
                <a:schemeClr val="accent6"/>
              </a:solidFill>
              <a:latin typeface="Calibri" panose="020F0502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67245" y="2375535"/>
            <a:ext cx="600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6"/>
                </a:solidFill>
                <a:latin typeface="Calibri" panose="020F0502020204030204" charset="0"/>
              </a:rPr>
              <a:t>②</a:t>
            </a:r>
            <a:endParaRPr lang="zh-CN" altLang="en-US" b="1">
              <a:solidFill>
                <a:schemeClr val="accent6"/>
              </a:solidFill>
              <a:latin typeface="Calibri" panose="020F0502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55845" y="2434590"/>
            <a:ext cx="600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6"/>
                </a:solidFill>
                <a:latin typeface="Calibri" panose="020F0502020204030204" charset="0"/>
              </a:rPr>
              <a:t>③</a:t>
            </a:r>
            <a:endParaRPr lang="zh-CN" altLang="en-US" b="1">
              <a:solidFill>
                <a:schemeClr val="accent6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/>
      <p:bldP spid="9" grpId="0"/>
      <p:bldP spid="8" grpId="1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6060" y="144145"/>
            <a:ext cx="50901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三个核心流量控制模块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80010" y="601980"/>
            <a:ext cx="4483100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60045" y="980440"/>
            <a:ext cx="2184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highlight>
                  <a:srgbClr val="FFFF00"/>
                </a:highlight>
              </a:rPr>
              <a:t>离开流量控制逻辑</a:t>
            </a:r>
            <a:endParaRPr lang="zh-CN" altLang="en-US" b="1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8210" y="1553210"/>
            <a:ext cx="9711055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本地交换机</a:t>
            </a:r>
            <a:r>
              <a:rPr lang="en-US" altLang="zh-CN"/>
              <a:t>DCI</a:t>
            </a:r>
            <a:r>
              <a:rPr lang="zh-CN" altLang="en-US"/>
              <a:t>检测到拥塞</a:t>
            </a:r>
            <a:r>
              <a:rPr lang="zh-CN" altLang="en-US" b="1"/>
              <a:t>立即生成</a:t>
            </a:r>
            <a:r>
              <a:rPr lang="en-US" altLang="zh-CN"/>
              <a:t>Departure Feedback</a:t>
            </a:r>
            <a:r>
              <a:rPr lang="zh-CN" altLang="en-US"/>
              <a:t>返回给发送方。为了方便部署，</a:t>
            </a:r>
            <a:r>
              <a:rPr lang="en-US" altLang="zh-CN"/>
              <a:t>ATC</a:t>
            </a:r>
            <a:r>
              <a:rPr lang="zh-CN" altLang="en-US"/>
              <a:t>使用和主机驱动方案相同的拥塞反馈。主机使用</a:t>
            </a:r>
            <a:r>
              <a:rPr lang="en-US" altLang="zh-CN"/>
              <a:t>DCQCN</a:t>
            </a:r>
            <a:r>
              <a:rPr lang="zh-CN" altLang="en-US"/>
              <a:t>，那</a:t>
            </a:r>
            <a:r>
              <a:rPr lang="en-US" altLang="zh-CN"/>
              <a:t>ATC</a:t>
            </a:r>
            <a:r>
              <a:rPr lang="zh-CN" altLang="en-US"/>
              <a:t>就生成</a:t>
            </a:r>
            <a:r>
              <a:rPr lang="en-US" altLang="zh-CN"/>
              <a:t>CNP</a:t>
            </a:r>
            <a:r>
              <a:rPr lang="zh-CN" altLang="en-US"/>
              <a:t>如果到来的数据包有</a:t>
            </a:r>
            <a:r>
              <a:rPr lang="en-US" altLang="zh-CN"/>
              <a:t>ECN</a:t>
            </a:r>
            <a:r>
              <a:rPr lang="zh-CN" altLang="en-US"/>
              <a:t>标记；主机使用</a:t>
            </a:r>
            <a:r>
              <a:rPr lang="en-US" altLang="zh-CN"/>
              <a:t>HPCC</a:t>
            </a:r>
            <a:r>
              <a:rPr lang="zh-CN" altLang="en-US"/>
              <a:t>，</a:t>
            </a:r>
            <a:r>
              <a:rPr lang="en-US" altLang="zh-CN"/>
              <a:t>ATC</a:t>
            </a:r>
            <a:r>
              <a:rPr lang="zh-CN" altLang="en-US"/>
              <a:t>截断</a:t>
            </a:r>
            <a:r>
              <a:rPr lang="en-US" altLang="zh-CN"/>
              <a:t>INT</a:t>
            </a:r>
            <a:r>
              <a:rPr lang="zh-CN" altLang="en-US"/>
              <a:t>头部，反馈给发送方。发送方收到</a:t>
            </a:r>
            <a:r>
              <a:rPr lang="en-US" altLang="zh-CN">
                <a:sym typeface="+mn-ea"/>
              </a:rPr>
              <a:t>Departure Feedback</a:t>
            </a:r>
            <a:r>
              <a:rPr lang="zh-CN" altLang="en-US">
                <a:sym typeface="+mn-ea"/>
              </a:rPr>
              <a:t>，根据相应算法控制传输速率。</a:t>
            </a:r>
            <a:endParaRPr lang="zh-CN" altLang="en-US"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36245" y="3051175"/>
            <a:ext cx="2184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highlight>
                  <a:srgbClr val="FFFF00"/>
                </a:highlight>
              </a:rPr>
              <a:t>到达流量控制逻辑</a:t>
            </a:r>
            <a:endParaRPr lang="zh-CN" altLang="en-US" b="1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645" y="635"/>
            <a:ext cx="7793355" cy="149225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1023620" y="3679190"/>
            <a:ext cx="1930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主要思想</a:t>
            </a:r>
            <a:endParaRPr lang="zh-CN" altLang="en-US" b="1"/>
          </a:p>
        </p:txBody>
      </p:sp>
      <p:sp>
        <p:nvSpPr>
          <p:cNvPr id="20" name="矩形 19"/>
          <p:cNvSpPr/>
          <p:nvPr>
            <p:custDataLst>
              <p:tags r:id="rId4"/>
            </p:custDataLst>
          </p:nvPr>
        </p:nvSpPr>
        <p:spPr>
          <a:xfrm>
            <a:off x="2722245" y="3327400"/>
            <a:ext cx="7298055" cy="72009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很多流的包通过长链路发送到远端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交换机上，远端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交换机需要将其发送到对应的接收方服务器上。</a:t>
            </a:r>
            <a:endParaRPr lang="zh-CN" altLang="en-US"/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2722245" y="4454525"/>
            <a:ext cx="7348855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传统</a:t>
            </a:r>
            <a:r>
              <a:rPr lang="en-US" altLang="zh-CN">
                <a:sym typeface="+mn-ea"/>
              </a:rPr>
              <a:t>Crossbar</a:t>
            </a:r>
            <a:r>
              <a:rPr lang="zh-CN" altLang="en-US">
                <a:sym typeface="+mn-ea"/>
              </a:rPr>
              <a:t>交换机里，不同（发送方，接收方）对应着不同的物理线路，根据拥塞情况也有不同的速率限制。</a:t>
            </a:r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671445" y="5623560"/>
            <a:ext cx="7348855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通过远端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交换机维护</a:t>
            </a:r>
            <a:r>
              <a:rPr lang="en-US" altLang="zh-CN" b="1">
                <a:sym typeface="+mn-ea"/>
              </a:rPr>
              <a:t>Schedule Tacle</a:t>
            </a:r>
            <a:r>
              <a:rPr lang="zh-CN" altLang="en-US">
                <a:sym typeface="+mn-ea"/>
              </a:rPr>
              <a:t>保存每个目的地的速率限制，通过动态</a:t>
            </a:r>
            <a:r>
              <a:rPr lang="en-US" altLang="zh-CN">
                <a:sym typeface="+mn-ea"/>
              </a:rPr>
              <a:t>VoQs</a:t>
            </a:r>
            <a:r>
              <a:rPr lang="zh-CN" altLang="en-US">
                <a:sym typeface="+mn-ea"/>
              </a:rPr>
              <a:t>避免</a:t>
            </a:r>
            <a:r>
              <a:rPr lang="en-US" altLang="zh-CN">
                <a:sym typeface="+mn-ea"/>
              </a:rPr>
              <a:t>HoL(Head of Line)</a:t>
            </a:r>
            <a:r>
              <a:rPr lang="zh-CN" altLang="en-US">
                <a:sym typeface="+mn-ea"/>
              </a:rPr>
              <a:t>堵塞问题。</a:t>
            </a:r>
            <a:endParaRPr lang="zh-CN" altLang="en-US"/>
          </a:p>
        </p:txBody>
      </p:sp>
      <p:sp>
        <p:nvSpPr>
          <p:cNvPr id="23" name="下箭头 22"/>
          <p:cNvSpPr/>
          <p:nvPr>
            <p:custDataLst>
              <p:tags r:id="rId6"/>
            </p:custDataLst>
          </p:nvPr>
        </p:nvSpPr>
        <p:spPr>
          <a:xfrm>
            <a:off x="6078220" y="4145280"/>
            <a:ext cx="372745" cy="2114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下箭头 23"/>
          <p:cNvSpPr/>
          <p:nvPr/>
        </p:nvSpPr>
        <p:spPr>
          <a:xfrm>
            <a:off x="6159500" y="5314315"/>
            <a:ext cx="372745" cy="2114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20" grpId="0" animBg="1"/>
      <p:bldP spid="21" grpId="0" animBg="1"/>
      <p:bldP spid="23" grpId="0" animBg="1"/>
      <p:bldP spid="24" grpId="0" animBg="1"/>
      <p:bldP spid="22" grpId="0" animBg="1"/>
      <p:bldP spid="6" grpId="1"/>
      <p:bldP spid="15" grpId="1"/>
      <p:bldP spid="20" grpId="1" animBg="1"/>
      <p:bldP spid="21" grpId="1" animBg="1"/>
      <p:bldP spid="23" grpId="1" animBg="1"/>
      <p:bldP spid="24" grpId="1" animBg="1"/>
      <p:bldP spid="2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26060" y="144145"/>
            <a:ext cx="50901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Crossbar</a:t>
            </a:r>
            <a:r>
              <a:rPr lang="zh-CN" altLang="en-US" sz="2000"/>
              <a:t>交换机和</a:t>
            </a:r>
            <a:r>
              <a:rPr lang="en-US" altLang="zh-CN" sz="2000"/>
              <a:t>VoQ</a:t>
            </a:r>
            <a:endParaRPr lang="en-US" altLang="zh-CN" sz="2000"/>
          </a:p>
        </p:txBody>
      </p:sp>
      <p:cxnSp>
        <p:nvCxnSpPr>
          <p:cNvPr id="7" name="直接连接符 6"/>
          <p:cNvCxnSpPr/>
          <p:nvPr/>
        </p:nvCxnSpPr>
        <p:spPr>
          <a:xfrm>
            <a:off x="80010" y="601980"/>
            <a:ext cx="4483100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74320" y="854710"/>
            <a:ext cx="3310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Crossbar</a:t>
            </a:r>
            <a:r>
              <a:rPr lang="zh-CN" altLang="en-US" b="1">
                <a:solidFill>
                  <a:schemeClr val="accent1"/>
                </a:solidFill>
              </a:rPr>
              <a:t>交换机</a:t>
            </a:r>
            <a:endParaRPr lang="zh-CN" altLang="en-US" b="1">
              <a:solidFill>
                <a:schemeClr val="accent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5525" y="89535"/>
            <a:ext cx="3469005" cy="43160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32130" y="1223010"/>
            <a:ext cx="7569200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b="1"/>
              <a:t>wiki</a:t>
            </a:r>
            <a:r>
              <a:rPr lang="zh-CN" altLang="en-US" b="1"/>
              <a:t>定义</a:t>
            </a:r>
            <a:r>
              <a:rPr lang="zh-CN" altLang="en-US"/>
              <a:t>：</a:t>
            </a:r>
            <a:r>
              <a:rPr lang="en-US" altLang="zh-CN"/>
              <a:t>Crossbar Switch</a:t>
            </a:r>
            <a:r>
              <a:rPr lang="zh-CN" altLang="en-US"/>
              <a:t>（交叉条形开关）是以矩阵配置排列的开关集合。交点开关有多条输入和输出线，这些输入和输出线形成交叉模式的互连线，通过关闭位于每个交叉点的开关，可在这些互连线之间建立连接。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2921635" y="2442845"/>
            <a:ext cx="5419090" cy="8547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交换机使用</a:t>
            </a:r>
            <a:r>
              <a:rPr lang="en-US" altLang="zh-CN">
                <a:sym typeface="+mn-ea"/>
              </a:rPr>
              <a:t>Crossbar Switch</a:t>
            </a:r>
            <a:r>
              <a:rPr lang="zh-CN" altLang="en-US">
                <a:sym typeface="+mn-ea"/>
              </a:rPr>
              <a:t>来实现输入端口和输出端口（</a:t>
            </a:r>
            <a:r>
              <a:rPr lang="en-US" altLang="zh-CN">
                <a:sym typeface="+mn-ea"/>
              </a:rPr>
              <a:t>i, j</a:t>
            </a:r>
            <a:r>
              <a:rPr lang="zh-CN" altLang="en-US">
                <a:sym typeface="+mn-ea"/>
              </a:rPr>
              <a:t>）间物理通路，但存在队头堵塞问题。</a:t>
            </a:r>
            <a:endParaRPr lang="zh-CN" altLang="en-US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03565" y="4474845"/>
            <a:ext cx="3658235" cy="2249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当前排列在</a:t>
            </a:r>
            <a:r>
              <a:rPr lang="en-US" altLang="zh-CN"/>
              <a:t>1</a:t>
            </a:r>
            <a:r>
              <a:rPr lang="zh-CN" altLang="en-US"/>
              <a:t>号输入端口的数据包为</a:t>
            </a:r>
            <a:r>
              <a:rPr lang="en-US" altLang="zh-CN"/>
              <a:t>(1,a), (1,b), (1,c), (1,d)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如果</a:t>
            </a:r>
            <a:r>
              <a:rPr lang="en-US" altLang="zh-CN"/>
              <a:t>a</a:t>
            </a:r>
            <a:r>
              <a:rPr lang="zh-CN" altLang="en-US"/>
              <a:t>号输出端口堵住了，（</a:t>
            </a:r>
            <a:r>
              <a:rPr lang="en-US" altLang="zh-CN"/>
              <a:t>1,a</a:t>
            </a:r>
            <a:r>
              <a:rPr lang="zh-CN" altLang="en-US"/>
              <a:t>）没发送出去，那剩下三个包只能等待（</a:t>
            </a:r>
            <a:r>
              <a:rPr lang="en-US" altLang="zh-CN"/>
              <a:t>HoL Bloocking</a:t>
            </a:r>
            <a:r>
              <a:rPr lang="zh-CN" altLang="en-US"/>
              <a:t>），即使</a:t>
            </a:r>
            <a:r>
              <a:rPr lang="en-US" altLang="zh-CN"/>
              <a:t>b</a:t>
            </a:r>
            <a:r>
              <a:rPr lang="zh-CN" altLang="en-US"/>
              <a:t>，</a:t>
            </a:r>
            <a:r>
              <a:rPr lang="en-US" altLang="zh-CN"/>
              <a:t>c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zh-CN" altLang="en-US"/>
              <a:t>号端口可以发送。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8964930" y="833755"/>
            <a:ext cx="25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highlight>
                  <a:srgbClr val="FFFF00"/>
                </a:highlight>
              </a:rPr>
              <a:t>1</a:t>
            </a:r>
            <a:endParaRPr lang="en-US" altLang="zh-CN" b="1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8109585" y="4465955"/>
            <a:ext cx="4022090" cy="232854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26060" y="3555365"/>
            <a:ext cx="4673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VoQ</a:t>
            </a:r>
            <a:r>
              <a:rPr lang="zh-CN" altLang="en-US" b="1">
                <a:solidFill>
                  <a:schemeClr val="accent1"/>
                </a:solidFill>
              </a:rPr>
              <a:t>（</a:t>
            </a:r>
            <a:r>
              <a:rPr lang="en-US" altLang="zh-CN" b="1">
                <a:solidFill>
                  <a:schemeClr val="accent1"/>
                </a:solidFill>
              </a:rPr>
              <a:t>Virtual of Queue</a:t>
            </a:r>
            <a:r>
              <a:rPr lang="zh-CN" altLang="en-US" b="1">
                <a:solidFill>
                  <a:schemeClr val="accent1"/>
                </a:solidFill>
              </a:rPr>
              <a:t>）虚拟队列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32130" y="4181475"/>
            <a:ext cx="7221855" cy="2249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/>
              <a:t>VoQ</a:t>
            </a:r>
            <a:r>
              <a:rPr lang="zh-CN" altLang="en-US"/>
              <a:t>是用来解决队头堵塞问题的，根据输入数据包</a:t>
            </a:r>
            <a:r>
              <a:rPr lang="zh-CN" altLang="en-US" b="1"/>
              <a:t>不同的输出端口</a:t>
            </a:r>
            <a:r>
              <a:rPr lang="zh-CN" altLang="en-US"/>
              <a:t>，分别建立虚拟队列。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比如说右侧示例中，输入的数据包有</a:t>
            </a:r>
            <a:r>
              <a:rPr lang="en-US" altLang="zh-CN">
                <a:sym typeface="+mn-ea"/>
              </a:rPr>
              <a:t>(1,a), (1,b), (1,c), (1,d)</a:t>
            </a:r>
            <a:r>
              <a:rPr lang="zh-CN" altLang="en-US">
                <a:sym typeface="+mn-ea"/>
              </a:rPr>
              <a:t>，那么就会根据这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个不同的输出端口，分别建立</a:t>
            </a:r>
            <a:r>
              <a:rPr lang="en-US" altLang="zh-CN" b="1">
                <a:sym typeface="+mn-ea"/>
              </a:rPr>
              <a:t>4</a:t>
            </a:r>
            <a:r>
              <a:rPr lang="zh-CN" altLang="en-US" b="1">
                <a:sym typeface="+mn-ea"/>
              </a:rPr>
              <a:t>条虚拟队列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如果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号输出端口拥塞，交换机可以调度第二条虚拟队列进行传送，因此（</a:t>
            </a:r>
            <a:r>
              <a:rPr lang="en-US" altLang="zh-CN">
                <a:sym typeface="+mn-ea"/>
              </a:rPr>
              <a:t>1,b</a:t>
            </a:r>
            <a:r>
              <a:rPr lang="zh-CN" altLang="en-US">
                <a:sym typeface="+mn-ea"/>
              </a:rPr>
              <a:t>）可以进行传输，解决了队头堵塞问题。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8" grpId="0" animBg="1"/>
      <p:bldP spid="16" grpId="0"/>
      <p:bldP spid="18" grpId="1" animBg="1"/>
      <p:bldP spid="16" grpId="1"/>
      <p:bldP spid="19" grpId="0"/>
      <p:bldP spid="25" grpId="0"/>
      <p:bldP spid="19" grpId="1"/>
      <p:bldP spid="2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6060" y="144145"/>
            <a:ext cx="50901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三个核心流量控制模块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80010" y="601980"/>
            <a:ext cx="4483100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60045" y="849630"/>
            <a:ext cx="2184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highlight>
                  <a:srgbClr val="FFFF00"/>
                </a:highlight>
              </a:rPr>
              <a:t>到达流量控制逻辑</a:t>
            </a:r>
            <a:endParaRPr lang="zh-CN" altLang="en-US" b="1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832735" y="763270"/>
            <a:ext cx="7348855" cy="762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通过远端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交换机维护</a:t>
            </a:r>
            <a:r>
              <a:rPr lang="en-US" altLang="zh-CN" b="1">
                <a:sym typeface="+mn-ea"/>
              </a:rPr>
              <a:t>Schedule Tacle</a:t>
            </a:r>
            <a:r>
              <a:rPr lang="zh-CN" altLang="en-US">
                <a:sym typeface="+mn-ea"/>
              </a:rPr>
              <a:t>保存每个目的地的速率限制，通过动态</a:t>
            </a:r>
            <a:r>
              <a:rPr lang="en-US" altLang="zh-CN">
                <a:sym typeface="+mn-ea"/>
              </a:rPr>
              <a:t>VoQs</a:t>
            </a:r>
            <a:r>
              <a:rPr lang="zh-CN" altLang="en-US">
                <a:sym typeface="+mn-ea"/>
              </a:rPr>
              <a:t>避免</a:t>
            </a:r>
            <a:r>
              <a:rPr lang="en-US" altLang="zh-CN">
                <a:sym typeface="+mn-ea"/>
              </a:rPr>
              <a:t>HoL(Head of Line)</a:t>
            </a:r>
            <a:r>
              <a:rPr lang="zh-CN" altLang="en-US">
                <a:sym typeface="+mn-ea"/>
              </a:rPr>
              <a:t>堵塞问题。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29565" y="1680210"/>
            <a:ext cx="3928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）按目的地聚合方案调度传输</a:t>
            </a:r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694690" y="2048510"/>
            <a:ext cx="10015220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/>
              <a:t>Schedule Table</a:t>
            </a:r>
            <a:r>
              <a:rPr lang="zh-CN" altLang="en-US"/>
              <a:t>上的每一个条目包含</a:t>
            </a:r>
            <a:r>
              <a:rPr lang="zh-CN" altLang="en-US">
                <a:solidFill>
                  <a:schemeClr val="accent6"/>
                </a:solidFill>
              </a:rPr>
              <a:t>目标服务器信息以及相关传输限制</a:t>
            </a:r>
            <a:r>
              <a:rPr lang="zh-CN" altLang="en-US"/>
              <a:t>，传输限制可以是速率（转发速率）或窗口（远端</a:t>
            </a:r>
            <a:r>
              <a:rPr lang="en-US" altLang="zh-CN"/>
              <a:t>DCI</a:t>
            </a:r>
            <a:r>
              <a:rPr lang="zh-CN" altLang="en-US"/>
              <a:t>交换机和接收方之间的字节数）。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远端</a:t>
            </a:r>
            <a:r>
              <a:rPr lang="en-US" altLang="zh-CN"/>
              <a:t>DCI</a:t>
            </a:r>
            <a:r>
              <a:rPr lang="zh-CN" altLang="en-US"/>
              <a:t>交换机收到一个数据包，他会检查</a:t>
            </a:r>
            <a:r>
              <a:rPr lang="en-US" altLang="zh-CN">
                <a:sym typeface="+mn-ea"/>
              </a:rPr>
              <a:t>Schedule Table</a:t>
            </a:r>
            <a:r>
              <a:rPr lang="zh-CN" altLang="en-US">
                <a:sym typeface="+mn-ea"/>
              </a:rPr>
              <a:t>，根据上面的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传输限制进行数据包转发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Schedule Table</a:t>
            </a:r>
            <a:r>
              <a:rPr lang="zh-CN" altLang="en-US">
                <a:sym typeface="+mn-ea"/>
              </a:rPr>
              <a:t>的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更新是使用接收方给的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Arrival Feedback</a:t>
            </a:r>
            <a:r>
              <a:rPr lang="zh-CN" altLang="en-US">
                <a:sym typeface="+mn-ea"/>
              </a:rPr>
              <a:t>，远端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交换机计算远端</a:t>
            </a:r>
            <a:r>
              <a:rPr lang="en-US" altLang="zh-CN">
                <a:sym typeface="+mn-ea"/>
              </a:rPr>
              <a:t>DC</a:t>
            </a:r>
            <a:r>
              <a:rPr lang="zh-CN" altLang="en-US">
                <a:sym typeface="+mn-ea"/>
              </a:rPr>
              <a:t>的拥塞风险，并使用与远端</a:t>
            </a:r>
            <a:r>
              <a:rPr lang="en-US" altLang="zh-CN">
                <a:sym typeface="+mn-ea"/>
              </a:rPr>
              <a:t>DC</a:t>
            </a:r>
            <a:r>
              <a:rPr lang="zh-CN" altLang="en-US">
                <a:sym typeface="+mn-ea"/>
              </a:rPr>
              <a:t>中相同的拥塞控制算法更新</a:t>
            </a:r>
            <a:r>
              <a:rPr lang="en-US" altLang="zh-CN">
                <a:sym typeface="+mn-ea"/>
              </a:rPr>
              <a:t>Schedule Table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ATC</a:t>
            </a:r>
            <a:r>
              <a:rPr lang="zh-CN" altLang="en-US">
                <a:sym typeface="+mn-ea"/>
              </a:rPr>
              <a:t>一般将</a:t>
            </a:r>
            <a:r>
              <a:rPr lang="en-US" altLang="zh-CN">
                <a:sym typeface="+mn-ea"/>
              </a:rPr>
              <a:t>ACKs</a:t>
            </a:r>
            <a:r>
              <a:rPr lang="zh-CN" altLang="en-US">
                <a:sym typeface="+mn-ea"/>
              </a:rPr>
              <a:t>作为</a:t>
            </a:r>
            <a:r>
              <a:rPr lang="en-US" altLang="zh-CN">
                <a:sym typeface="+mn-ea"/>
              </a:rPr>
              <a:t>Arrival Feedback</a:t>
            </a:r>
            <a:r>
              <a:rPr lang="zh-CN" altLang="en-US">
                <a:sym typeface="+mn-ea"/>
              </a:rPr>
              <a:t>，因为大多数拥塞算法中</a:t>
            </a:r>
            <a:r>
              <a:rPr lang="en-US" altLang="zh-CN">
                <a:sym typeface="+mn-ea"/>
              </a:rPr>
              <a:t>ACKs</a:t>
            </a:r>
            <a:r>
              <a:rPr lang="zh-CN" altLang="en-US">
                <a:sym typeface="+mn-ea"/>
              </a:rPr>
              <a:t>携带拥塞信息。因为远端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交换机已经分析了这些拥塞信息，所以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远端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DCI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交换机清空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ACKs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携带的拥塞标记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</p:txBody>
      </p:sp>
      <p:sp>
        <p:nvSpPr>
          <p:cNvPr id="9" name="上箭头标注 8"/>
          <p:cNvSpPr/>
          <p:nvPr/>
        </p:nvSpPr>
        <p:spPr>
          <a:xfrm>
            <a:off x="6458585" y="4559300"/>
            <a:ext cx="4427855" cy="812800"/>
          </a:xfrm>
          <a:prstGeom prst="upArrow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减少拥塞信号干扰，节约链路带宽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56565" y="5003800"/>
            <a:ext cx="3928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）动态的</a:t>
            </a:r>
            <a:r>
              <a:rPr lang="en-US" altLang="zh-CN" b="1"/>
              <a:t>VoQs</a:t>
            </a:r>
            <a:r>
              <a:rPr lang="zh-CN" altLang="en-US" b="1"/>
              <a:t>来避免</a:t>
            </a:r>
            <a:r>
              <a:rPr lang="en-US" altLang="zh-CN" b="1"/>
              <a:t>HoL</a:t>
            </a:r>
            <a:r>
              <a:rPr lang="zh-CN" altLang="en-US" b="1"/>
              <a:t>问题</a:t>
            </a:r>
            <a:endParaRPr lang="zh-CN" altLang="en-US" b="1"/>
          </a:p>
        </p:txBody>
      </p:sp>
      <p:sp>
        <p:nvSpPr>
          <p:cNvPr id="12" name="文本框 11"/>
          <p:cNvSpPr txBox="1"/>
          <p:nvPr/>
        </p:nvSpPr>
        <p:spPr>
          <a:xfrm>
            <a:off x="981710" y="5575300"/>
            <a:ext cx="93300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远端</a:t>
            </a:r>
            <a:r>
              <a:rPr lang="en-US" altLang="zh-CN"/>
              <a:t>DCI</a:t>
            </a:r>
            <a:r>
              <a:rPr lang="zh-CN" altLang="en-US"/>
              <a:t>交换机收到一个数据包，他会检查是否已经分配了一个</a:t>
            </a:r>
            <a:r>
              <a:rPr lang="en-US" altLang="zh-CN"/>
              <a:t>VoQ</a:t>
            </a:r>
            <a:r>
              <a:rPr lang="zh-CN" altLang="en-US"/>
              <a:t>，如果已经分配了，说明此时发生拥塞，该数据包到相应的</a:t>
            </a:r>
            <a:r>
              <a:rPr lang="en-US" altLang="zh-CN">
                <a:sym typeface="+mn-ea"/>
              </a:rPr>
              <a:t>VoQ</a:t>
            </a:r>
            <a:r>
              <a:rPr lang="zh-CN" altLang="en-US">
                <a:sym typeface="+mn-ea"/>
              </a:rPr>
              <a:t>里面排队；如果没有分配</a:t>
            </a:r>
            <a:r>
              <a:rPr lang="en-US" altLang="zh-CN">
                <a:sym typeface="+mn-ea"/>
              </a:rPr>
              <a:t>VoQ</a:t>
            </a:r>
            <a:r>
              <a:rPr lang="zh-CN" altLang="en-US">
                <a:sym typeface="+mn-ea"/>
              </a:rPr>
              <a:t>，远端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交换机会根据</a:t>
            </a:r>
            <a:r>
              <a:rPr lang="zh-CN" altLang="en-US" b="1">
                <a:sym typeface="+mn-ea"/>
              </a:rPr>
              <a:t>位图</a:t>
            </a:r>
            <a:r>
              <a:rPr lang="zh-CN" altLang="en-US">
                <a:sym typeface="+mn-ea"/>
              </a:rPr>
              <a:t>，如果此时输出端口被占用了，那新建一个</a:t>
            </a:r>
            <a:r>
              <a:rPr lang="en-US" altLang="zh-CN">
                <a:sym typeface="+mn-ea"/>
              </a:rPr>
              <a:t>VoQ</a:t>
            </a:r>
            <a:r>
              <a:rPr lang="zh-CN" altLang="en-US">
                <a:sym typeface="+mn-ea"/>
              </a:rPr>
              <a:t>，否则直接发送。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6060" y="144145"/>
            <a:ext cx="50901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三个核心流量控制模块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80010" y="601980"/>
            <a:ext cx="4483100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226060" y="849630"/>
            <a:ext cx="486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离开</a:t>
            </a:r>
            <a:r>
              <a:rPr lang="en-US" altLang="zh-CN" b="1">
                <a:solidFill>
                  <a:schemeClr val="accent1"/>
                </a:solidFill>
              </a:rPr>
              <a:t>/</a:t>
            </a:r>
            <a:r>
              <a:rPr lang="zh-CN" altLang="en-US" b="1">
                <a:solidFill>
                  <a:schemeClr val="accent1"/>
                </a:solidFill>
              </a:rPr>
              <a:t>到达流量控制逻辑的一些小调整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4165" y="1380490"/>
            <a:ext cx="4495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与基于窗口的主机驱动算法兼容</a:t>
            </a:r>
            <a:endParaRPr lang="zh-CN" altLang="en-US" b="1"/>
          </a:p>
        </p:txBody>
      </p:sp>
      <p:sp>
        <p:nvSpPr>
          <p:cNvPr id="8" name="文本框 7"/>
          <p:cNvSpPr txBox="1"/>
          <p:nvPr/>
        </p:nvSpPr>
        <p:spPr>
          <a:xfrm>
            <a:off x="304165" y="1748790"/>
            <a:ext cx="1144587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发送方不用区分</a:t>
            </a:r>
            <a:r>
              <a:rPr lang="en-US" altLang="zh-CN"/>
              <a:t>DC</a:t>
            </a:r>
            <a:r>
              <a:rPr lang="zh-CN" altLang="en-US"/>
              <a:t>内</a:t>
            </a:r>
            <a:r>
              <a:rPr lang="en-US" altLang="zh-CN"/>
              <a:t>/</a:t>
            </a:r>
            <a:r>
              <a:rPr lang="zh-CN" altLang="en-US"/>
              <a:t>长链路流量，初始设置窗口大小为</a:t>
            </a:r>
            <a:r>
              <a:rPr lang="en-US" altLang="zh-CN"/>
              <a:t>DC</a:t>
            </a:r>
            <a:r>
              <a:rPr lang="zh-CN" altLang="en-US"/>
              <a:t>内</a:t>
            </a:r>
            <a:r>
              <a:rPr lang="en-US" altLang="zh-CN"/>
              <a:t>BDP</a:t>
            </a:r>
            <a:r>
              <a:rPr lang="zh-CN" altLang="en-US"/>
              <a:t>，后面根据</a:t>
            </a:r>
            <a:r>
              <a:rPr lang="en-US" altLang="zh-CN"/>
              <a:t>Departure Feedback</a:t>
            </a:r>
            <a:r>
              <a:rPr lang="zh-CN" altLang="en-US"/>
              <a:t>更新窗口大小。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远端</a:t>
            </a:r>
            <a:r>
              <a:rPr lang="en-US" altLang="zh-CN"/>
              <a:t>DCI</a:t>
            </a:r>
            <a:r>
              <a:rPr lang="zh-CN" altLang="en-US"/>
              <a:t>交换机初始设置窗口大小为</a:t>
            </a:r>
            <a:r>
              <a:rPr lang="en-US" altLang="zh-CN"/>
              <a:t>DC</a:t>
            </a:r>
            <a:r>
              <a:rPr lang="zh-CN" altLang="en-US"/>
              <a:t>内</a:t>
            </a:r>
            <a:r>
              <a:rPr lang="en-US" altLang="zh-CN"/>
              <a:t>BDP</a:t>
            </a:r>
            <a:r>
              <a:rPr lang="zh-CN" altLang="en-US"/>
              <a:t>，后面根据</a:t>
            </a:r>
            <a:r>
              <a:rPr lang="en-US" altLang="zh-CN"/>
              <a:t>Arrival Feedback</a:t>
            </a:r>
            <a:r>
              <a:rPr lang="zh-CN" altLang="en-US"/>
              <a:t>更新飞行包数目限制。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26060" y="2621280"/>
            <a:ext cx="4495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与远端</a:t>
            </a:r>
            <a:r>
              <a:rPr lang="en-US" altLang="zh-CN" b="1"/>
              <a:t>DC</a:t>
            </a:r>
            <a:r>
              <a:rPr lang="zh-CN" altLang="en-US" b="1"/>
              <a:t>的负载平衡机制兼容</a:t>
            </a:r>
            <a:endParaRPr lang="zh-CN" altLang="en-US" b="1"/>
          </a:p>
        </p:txBody>
      </p:sp>
      <p:sp>
        <p:nvSpPr>
          <p:cNvPr id="13" name="文本框 12"/>
          <p:cNvSpPr txBox="1"/>
          <p:nvPr/>
        </p:nvSpPr>
        <p:spPr>
          <a:xfrm>
            <a:off x="371475" y="3106420"/>
            <a:ext cx="11378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ATC</a:t>
            </a:r>
            <a:r>
              <a:rPr lang="zh-CN" altLang="en-US"/>
              <a:t>在远端</a:t>
            </a:r>
            <a:r>
              <a:rPr lang="en-US" altLang="zh-CN"/>
              <a:t>DCI</a:t>
            </a:r>
            <a:r>
              <a:rPr lang="zh-CN" altLang="en-US"/>
              <a:t>交换机上以目的地聚合方式调度流量。但在</a:t>
            </a:r>
            <a:r>
              <a:rPr lang="en-US" altLang="zh-CN"/>
              <a:t>ECMP</a:t>
            </a:r>
            <a:r>
              <a:rPr lang="zh-CN" altLang="en-US"/>
              <a:t>负载均衡机制下，不同五元组（源</a:t>
            </a:r>
            <a:r>
              <a:rPr lang="en-US" altLang="zh-CN"/>
              <a:t>/</a:t>
            </a:r>
            <a:r>
              <a:rPr lang="zh-CN" altLang="en-US"/>
              <a:t>目的</a:t>
            </a:r>
            <a:r>
              <a:rPr lang="en-US" altLang="zh-CN"/>
              <a:t>IP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源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目的端口号，协议</a:t>
            </a:r>
            <a:r>
              <a:rPr lang="zh-CN" altLang="en-US"/>
              <a:t>）在远端</a:t>
            </a:r>
            <a:r>
              <a:rPr lang="en-US" altLang="zh-CN"/>
              <a:t>DC</a:t>
            </a:r>
            <a:r>
              <a:rPr lang="zh-CN" altLang="en-US"/>
              <a:t>走不同的链路，获得不正确的拥塞信息。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2930" y="3856355"/>
            <a:ext cx="8051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ea"/>
              <a:buAutoNum type="circleNumDbPlain"/>
            </a:pPr>
            <a:r>
              <a:rPr lang="zh-CN" altLang="en-US"/>
              <a:t>特殊</a:t>
            </a:r>
            <a:r>
              <a:rPr lang="en-US" altLang="zh-CN"/>
              <a:t>ECMP</a:t>
            </a:r>
            <a:r>
              <a:rPr lang="zh-CN" altLang="en-US"/>
              <a:t>模块：相同目的地的数据包通过</a:t>
            </a:r>
            <a:r>
              <a:rPr lang="en-US" altLang="zh-CN"/>
              <a:t>ECMP</a:t>
            </a:r>
            <a:r>
              <a:rPr lang="zh-CN" altLang="en-US"/>
              <a:t>路由到同一路径。</a:t>
            </a:r>
            <a:endParaRPr lang="zh-CN" altLang="en-US"/>
          </a:p>
          <a:p>
            <a:pPr marL="342900" indent="-342900">
              <a:buFont typeface="+mj-ea"/>
              <a:buAutoNum type="circleNumDbPlain"/>
            </a:pPr>
            <a:r>
              <a:rPr lang="en-US" altLang="zh-CN"/>
              <a:t>ECMP</a:t>
            </a:r>
            <a:r>
              <a:rPr lang="zh-CN" altLang="en-US"/>
              <a:t>欺骗：</a:t>
            </a:r>
            <a:r>
              <a:rPr lang="en-US" altLang="zh-CN"/>
              <a:t>DCI</a:t>
            </a:r>
            <a:r>
              <a:rPr lang="zh-CN" altLang="en-US"/>
              <a:t>交换机在数据包里注入欺骗头部。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71475" y="4673600"/>
            <a:ext cx="4495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限制</a:t>
            </a:r>
            <a:r>
              <a:rPr lang="en-US" altLang="zh-CN" b="1"/>
              <a:t>VoQs</a:t>
            </a:r>
            <a:r>
              <a:rPr lang="zh-CN" altLang="en-US" b="1"/>
              <a:t>队列长度来减少尾延迟</a:t>
            </a:r>
            <a:endParaRPr lang="zh-CN" altLang="en-US" b="1"/>
          </a:p>
        </p:txBody>
      </p:sp>
      <p:sp>
        <p:nvSpPr>
          <p:cNvPr id="16" name="文本框 15"/>
          <p:cNvSpPr txBox="1"/>
          <p:nvPr/>
        </p:nvSpPr>
        <p:spPr>
          <a:xfrm>
            <a:off x="582930" y="5109210"/>
            <a:ext cx="110058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VoQ</a:t>
            </a:r>
            <a:r>
              <a:rPr lang="zh-CN" altLang="en-US"/>
              <a:t>的持续增长会堵塞新来的流量，增加尾延迟。为了限制</a:t>
            </a:r>
            <a:r>
              <a:rPr lang="en-US" altLang="zh-CN"/>
              <a:t>VoQ</a:t>
            </a:r>
            <a:r>
              <a:rPr lang="zh-CN" altLang="en-US"/>
              <a:t>队列长度，远端</a:t>
            </a:r>
            <a:r>
              <a:rPr lang="en-US" altLang="zh-CN">
                <a:solidFill>
                  <a:schemeClr val="accent6"/>
                </a:solidFill>
              </a:rPr>
              <a:t>DCI</a:t>
            </a:r>
            <a:r>
              <a:rPr lang="zh-CN" altLang="en-US">
                <a:solidFill>
                  <a:schemeClr val="accent6"/>
                </a:solidFill>
              </a:rPr>
              <a:t>交换机在</a:t>
            </a:r>
            <a:r>
              <a:rPr lang="en-US" altLang="zh-CN">
                <a:solidFill>
                  <a:schemeClr val="accent6"/>
                </a:solidFill>
              </a:rPr>
              <a:t>ACKs</a:t>
            </a:r>
            <a:r>
              <a:rPr lang="zh-CN" altLang="en-US">
                <a:solidFill>
                  <a:schemeClr val="accent6"/>
                </a:solidFill>
              </a:rPr>
              <a:t>里插入相应的传输限制</a:t>
            </a:r>
            <a:r>
              <a:rPr lang="zh-CN" altLang="en-US"/>
              <a:t>，收到</a:t>
            </a:r>
            <a:r>
              <a:rPr lang="en-US" altLang="zh-CN"/>
              <a:t>ACK</a:t>
            </a:r>
            <a:r>
              <a:rPr lang="zh-CN" altLang="en-US"/>
              <a:t>后，发送方会在</a:t>
            </a:r>
            <a:r>
              <a:rPr lang="en-US" altLang="zh-CN"/>
              <a:t>Departure Feedback</a:t>
            </a:r>
            <a:r>
              <a:rPr lang="zh-CN" altLang="en-US"/>
              <a:t>和</a:t>
            </a:r>
            <a:r>
              <a:rPr lang="en-US" altLang="zh-CN"/>
              <a:t> DCI-Switch Restriction</a:t>
            </a:r>
            <a:r>
              <a:rPr lang="zh-CN" altLang="en-US"/>
              <a:t>里面选一个高的限制条件进行调度传输。</a:t>
            </a:r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7940675" y="3534410"/>
            <a:ext cx="3573145" cy="4572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不能确定一个目的地是否拥塞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6060" y="144145"/>
            <a:ext cx="50901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三个核心流量控制模块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80010" y="601980"/>
            <a:ext cx="4483100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226060" y="746125"/>
            <a:ext cx="2573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highlight>
                  <a:srgbClr val="FFFF00"/>
                </a:highlight>
              </a:rPr>
              <a:t>长距离流量控制逻辑</a:t>
            </a:r>
            <a:endParaRPr lang="zh-CN" altLang="en-US" b="1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31875" y="1713865"/>
            <a:ext cx="7087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）使用长距离回复主动调度</a:t>
            </a:r>
            <a:r>
              <a:rPr lang="en-US" altLang="zh-CN" b="1"/>
              <a:t>DCI</a:t>
            </a:r>
            <a:r>
              <a:rPr lang="zh-CN" altLang="en-US" b="1"/>
              <a:t>交换机之间的包传输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1031875" y="2535555"/>
            <a:ext cx="5494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）当</a:t>
            </a:r>
            <a:r>
              <a:rPr lang="en-US" altLang="zh-CN" b="1"/>
              <a:t>VoQ</a:t>
            </a:r>
            <a:r>
              <a:rPr lang="zh-CN" altLang="en-US" b="1"/>
              <a:t>被大量使用时，增加传输限制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600710" y="1229995"/>
            <a:ext cx="2472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限制</a:t>
            </a:r>
            <a:r>
              <a:rPr lang="en-US" altLang="zh-CN" b="1">
                <a:solidFill>
                  <a:schemeClr val="accent1"/>
                </a:solidFill>
              </a:rPr>
              <a:t>VoQ</a:t>
            </a:r>
            <a:r>
              <a:rPr lang="zh-CN" altLang="en-US" b="1">
                <a:solidFill>
                  <a:schemeClr val="accent1"/>
                </a:solidFill>
              </a:rPr>
              <a:t>的使用数目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74365" y="1273810"/>
            <a:ext cx="5494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交换机能建立的</a:t>
            </a:r>
            <a:r>
              <a:rPr lang="en-US" altLang="zh-CN"/>
              <a:t>VoQ</a:t>
            </a:r>
            <a:r>
              <a:rPr lang="zh-CN" altLang="en-US"/>
              <a:t>数目小于目标服务器数目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531620" y="2124710"/>
            <a:ext cx="822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远端</a:t>
            </a:r>
            <a:r>
              <a:rPr lang="en-US" altLang="zh-CN"/>
              <a:t>DCI</a:t>
            </a:r>
            <a:r>
              <a:rPr lang="zh-CN" altLang="en-US"/>
              <a:t>交换机每隔时间</a:t>
            </a:r>
            <a:r>
              <a:rPr lang="en-US" altLang="zh-CN"/>
              <a:t>T</a:t>
            </a:r>
            <a:r>
              <a:rPr lang="zh-CN" altLang="en-US"/>
              <a:t>向本地</a:t>
            </a:r>
            <a:r>
              <a:rPr lang="en-US" altLang="zh-CN"/>
              <a:t>DCI</a:t>
            </a:r>
            <a:r>
              <a:rPr lang="zh-CN" altLang="en-US"/>
              <a:t>交换机反馈，</a:t>
            </a:r>
            <a:r>
              <a:rPr lang="zh-CN" altLang="en-US">
                <a:sym typeface="+mn-ea"/>
              </a:rPr>
              <a:t>本地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交换机控制发送速率。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616075" y="2975610"/>
                <a:ext cx="8229600" cy="657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当</a:t>
                </a:r>
                <a:r>
                  <a:rPr lang="en-US" altLang="zh-CN"/>
                  <a:t>VoQ</a:t>
                </a:r>
                <a:r>
                  <a:rPr lang="zh-CN" altLang="en-US"/>
                  <a:t>使用超过阈值，</a:t>
                </a:r>
                <a:r>
                  <a:rPr lang="zh-CN" altLang="en-US">
                    <a:sym typeface="+mn-ea"/>
                  </a:rPr>
                  <a:t>远端</a:t>
                </a:r>
                <a:r>
                  <a:rPr lang="en-US" altLang="zh-CN">
                    <a:sym typeface="+mn-ea"/>
                  </a:rPr>
                  <a:t>DCI</a:t>
                </a:r>
                <a:r>
                  <a:rPr lang="zh-CN" altLang="en-US">
                    <a:sym typeface="+mn-ea"/>
                  </a:rPr>
                  <a:t>交换机反馈给本地</a:t>
                </a:r>
                <a:r>
                  <a:rPr lang="en-US" altLang="zh-CN">
                    <a:sym typeface="+mn-ea"/>
                  </a:rPr>
                  <a:t>DCI</a:t>
                </a:r>
                <a:r>
                  <a:rPr lang="zh-CN" altLang="en-US">
                    <a:sym typeface="+mn-ea"/>
                  </a:rPr>
                  <a:t>交换机。</a:t>
                </a:r>
                <a:r>
                  <a:rPr lang="zh-CN" altLang="en-US">
                    <a:sym typeface="+mn-ea"/>
                  </a:rPr>
                  <a:t>本地</a:t>
                </a:r>
                <a:r>
                  <a:rPr lang="en-US" altLang="zh-CN">
                    <a:sym typeface="+mn-ea"/>
                  </a:rPr>
                  <a:t>DCI</a:t>
                </a:r>
                <a:r>
                  <a:rPr lang="zh-CN" altLang="en-US">
                    <a:sym typeface="+mn-ea"/>
                  </a:rPr>
                  <a:t>交换机控制发送速率为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𝑘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×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𝑙𝑜𝑛𝑔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_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ℎ𝑎𝑢𝑙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。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k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为限制向量，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𝑙𝑜𝑛𝑔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_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ℎ𝑎𝑢𝑙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为长距离链路带宽。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075" y="2975610"/>
                <a:ext cx="8229600" cy="6572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1031875" y="3797300"/>
            <a:ext cx="9025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为充分使用长链路，初始飞行包字节数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820" y="3883660"/>
            <a:ext cx="3505200" cy="2571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710" y="4286250"/>
            <a:ext cx="2472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权衡设计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94765" y="4654550"/>
            <a:ext cx="8763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动态分配</a:t>
            </a:r>
            <a:r>
              <a:rPr lang="en-US" altLang="zh-CN"/>
              <a:t>VoQ</a:t>
            </a:r>
            <a:r>
              <a:rPr lang="zh-CN" altLang="en-US"/>
              <a:t>有出色性能，但也需要长距离控制来避免特殊情况，</a:t>
            </a:r>
            <a:r>
              <a:rPr lang="zh-CN" altLang="en-US">
                <a:solidFill>
                  <a:srgbClr val="FF0000"/>
                </a:solidFill>
              </a:rPr>
              <a:t>两者要一同部署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00710" y="5168265"/>
            <a:ext cx="2472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VoQ</a:t>
            </a:r>
            <a:r>
              <a:rPr lang="zh-CN" altLang="en-US" b="1">
                <a:solidFill>
                  <a:schemeClr val="accent1"/>
                </a:solidFill>
              </a:rPr>
              <a:t>预分配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64920" y="5536565"/>
            <a:ext cx="8237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大范围的数据中心用</a:t>
            </a:r>
            <a:r>
              <a:rPr lang="en-US" altLang="zh-CN"/>
              <a:t>VoQ</a:t>
            </a:r>
            <a:r>
              <a:rPr lang="zh-CN" altLang="en-US"/>
              <a:t>预分配来缓解</a:t>
            </a:r>
            <a:r>
              <a:rPr lang="en-US" altLang="zh-CN"/>
              <a:t>VoQ</a:t>
            </a:r>
            <a:r>
              <a:rPr lang="zh-CN" altLang="en-US"/>
              <a:t>不足问题，将</a:t>
            </a:r>
            <a:r>
              <a:rPr lang="en-US" altLang="zh-CN"/>
              <a:t>VoQ</a:t>
            </a:r>
            <a:r>
              <a:rPr lang="zh-CN" altLang="en-US"/>
              <a:t>预先分配并固定到存储集群的目标服务器中。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1.05,&quot;left&quot;:88.5,&quot;top&quot;:350.2,&quot;width&quot;:801.05}"/>
</p:tagLst>
</file>

<file path=ppt/tags/tag2.xml><?xml version="1.0" encoding="utf-8"?>
<p:tagLst xmlns:p="http://schemas.openxmlformats.org/presentationml/2006/main">
  <p:tag name="KSO_WM_DIAGRAM_VIRTUALLY_FRAME" val="{&quot;height&quot;:121.05,&quot;left&quot;:88.5,&quot;top&quot;:350.2,&quot;width&quot;:801.05}"/>
</p:tagLst>
</file>

<file path=ppt/tags/tag3.xml><?xml version="1.0" encoding="utf-8"?>
<p:tagLst xmlns:p="http://schemas.openxmlformats.org/presentationml/2006/main">
  <p:tag name="KSO_WM_DIAGRAM_VIRTUALLY_FRAME" val="{&quot;height&quot;:121.05,&quot;left&quot;:88.5,&quot;top&quot;:350.2,&quot;width&quot;:801.05}"/>
</p:tagLst>
</file>

<file path=ppt/tags/tag4.xml><?xml version="1.0" encoding="utf-8"?>
<p:tagLst xmlns:p="http://schemas.openxmlformats.org/presentationml/2006/main">
  <p:tag name="KSO_WM_DIAGRAM_VIRTUALLY_FRAME" val="{&quot;height&quot;:121.05,&quot;left&quot;:88.5,&quot;top&quot;:350.2,&quot;width&quot;:801.05}"/>
</p:tagLst>
</file>

<file path=ppt/tags/tag5.xml><?xml version="1.0" encoding="utf-8"?>
<p:tagLst xmlns:p="http://schemas.openxmlformats.org/presentationml/2006/main">
  <p:tag name="KSO_WM_DIAGRAM_VIRTUALLY_FRAME" val="{&quot;height&quot;:121.05,&quot;left&quot;:88.5,&quot;top&quot;:350.2,&quot;width&quot;:801.05}"/>
</p:tagLst>
</file>

<file path=ppt/tags/tag6.xml><?xml version="1.0" encoding="utf-8"?>
<p:tagLst xmlns:p="http://schemas.openxmlformats.org/presentationml/2006/main">
  <p:tag name="KSO_WM_DIAGRAM_VIRTUALLY_FRAME" val="{&quot;height&quot;:121.05,&quot;left&quot;:88.5,&quot;top&quot;:350.2,&quot;width&quot;:801.05}"/>
</p:tagLst>
</file>

<file path=ppt/tags/tag7.xml><?xml version="1.0" encoding="utf-8"?>
<p:tagLst xmlns:p="http://schemas.openxmlformats.org/presentationml/2006/main">
  <p:tag name="KSO_WM_DIAGRAM_VIRTUALLY_FRAME" val="{&quot;height&quot;:121.05,&quot;left&quot;:88.5,&quot;top&quot;:350.2,&quot;width&quot;:801.05}"/>
</p:tagLst>
</file>

<file path=ppt/tags/tag8.xml><?xml version="1.0" encoding="utf-8"?>
<p:tagLst xmlns:p="http://schemas.openxmlformats.org/presentationml/2006/main">
  <p:tag name="KSO_WM_DIAGRAM_VIRTUALLY_FRAME" val="{&quot;height&quot;:121.05,&quot;left&quot;:88.5,&quot;top&quot;:350.2,&quot;width&quot;:801.05}"/>
</p:tagLst>
</file>

<file path=ppt/tags/tag9.xml><?xml version="1.0" encoding="utf-8"?>
<p:tagLst xmlns:p="http://schemas.openxmlformats.org/presentationml/2006/main">
  <p:tag name="KSO_WM_DIAGRAM_VIRTUALLY_FRAME" val="{&quot;height&quot;:170.5,&quot;left&quot;:34.35,&quot;top&quot;:240.25,&quot;width&quot;:758.65}"/>
</p:tagLst>
</file>

<file path=ppt/tags/tag10.xml><?xml version="1.0" encoding="utf-8"?>
<p:tagLst xmlns:p="http://schemas.openxmlformats.org/presentationml/2006/main">
  <p:tag name="KSO_WM_DIAGRAM_VIRTUALLY_FRAME" val="{&quot;height&quot;:170.5,&quot;left&quot;:34.35,&quot;top&quot;:240.25,&quot;width&quot;:758.65}"/>
</p:tagLst>
</file>

<file path=ppt/tags/tag11.xml><?xml version="1.0" encoding="utf-8"?>
<p:tagLst xmlns:p="http://schemas.openxmlformats.org/presentationml/2006/main">
  <p:tag name="KSO_WM_DIAGRAM_VIRTUALLY_FRAME" val="{&quot;height&quot;:170.5,&quot;left&quot;:34.35,&quot;top&quot;:240.25,&quot;width&quot;:758.65}"/>
</p:tagLst>
</file>

<file path=ppt/tags/tag12.xml><?xml version="1.0" encoding="utf-8"?>
<p:tagLst xmlns:p="http://schemas.openxmlformats.org/presentationml/2006/main">
  <p:tag name="KSO_WM_DIAGRAM_VIRTUALLY_FRAME" val="{&quot;height&quot;:170.5,&quot;left&quot;:34.35,&quot;top&quot;:240.25,&quot;width&quot;:758.65}"/>
</p:tagLst>
</file>

<file path=ppt/tags/tag13.xml><?xml version="1.0" encoding="utf-8"?>
<p:tagLst xmlns:p="http://schemas.openxmlformats.org/presentationml/2006/main">
  <p:tag name="KSO_WM_DIAGRAM_VIRTUALLY_FRAME" val="{&quot;height&quot;:170.5,&quot;left&quot;:34.35,&quot;top&quot;:240.25,&quot;width&quot;:758.65}"/>
</p:tagLst>
</file>

<file path=ppt/tags/tag14.xml><?xml version="1.0" encoding="utf-8"?>
<p:tagLst xmlns:p="http://schemas.openxmlformats.org/presentationml/2006/main">
  <p:tag name="KSO_WM_DIAGRAM_VIRTUALLY_FRAME" val="{&quot;height&quot;:50,&quot;left&quot;:28.35,&quot;top&quot;:66.9,&quot;width&quot;:758.65}"/>
</p:tagLst>
</file>

<file path=ppt/tags/tag15.xml><?xml version="1.0" encoding="utf-8"?>
<p:tagLst xmlns:p="http://schemas.openxmlformats.org/presentationml/2006/main">
  <p:tag name="KSO_WM_DIAGRAM_VIRTUALLY_FRAME" val="{&quot;height&quot;:50,&quot;left&quot;:28.35,&quot;top&quot;:66.9,&quot;width&quot;:758.65}"/>
</p:tagLst>
</file>

<file path=ppt/tags/tag16.xml><?xml version="1.0" encoding="utf-8"?>
<p:tagLst xmlns:p="http://schemas.openxmlformats.org/presentationml/2006/main">
  <p:tag name="KSO_WM_DIAGRAM_VIRTUALLY_FRAME" val="{&quot;height&quot;:50,&quot;left&quot;:28.35,&quot;top&quot;:66.9,&quot;width&quot;:758.6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3062</Words>
  <Application>WPS 演示</Application>
  <PresentationFormat>宽屏</PresentationFormat>
  <Paragraphs>155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Calibri</vt:lpstr>
      <vt:lpstr>Cambria Math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10</cp:revision>
  <dcterms:created xsi:type="dcterms:W3CDTF">2023-08-09T12:44:00Z</dcterms:created>
  <dcterms:modified xsi:type="dcterms:W3CDTF">2025-08-12T08:50:20Z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9613784917FE4EE5AB4C1220C36F2F17_12</vt:lpwstr>
  </property>
</Properties>
</file>