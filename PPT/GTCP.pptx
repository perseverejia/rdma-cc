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3" userDrawn="1">
          <p15:clr>
            <a:srgbClr val="A4A3A4"/>
          </p15:clr>
        </p15:guide>
        <p15:guide id="2" pos="38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3"/>
        <p:guide pos="38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7605" y="305435"/>
            <a:ext cx="10020300" cy="609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b="26354"/>
          <a:stretch>
            <a:fillRect/>
          </a:stretch>
        </p:blipFill>
        <p:spPr>
          <a:xfrm>
            <a:off x="1315720" y="951865"/>
            <a:ext cx="9439910" cy="1762125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908050" y="4034155"/>
            <a:ext cx="3006090" cy="11176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DC</a:t>
            </a:r>
            <a:r>
              <a:rPr lang="zh-CN" altLang="en-US"/>
              <a:t>内流和</a:t>
            </a:r>
            <a:r>
              <a:rPr lang="en-US" altLang="zh-CN"/>
              <a:t>DC</a:t>
            </a:r>
            <a:r>
              <a:rPr lang="zh-CN" altLang="en-US"/>
              <a:t>间流同时需要发送时，如何保证两种流量合理带宽竞争。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2955290" y="2929890"/>
            <a:ext cx="67487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解决发送方</a:t>
            </a:r>
            <a:r>
              <a:rPr lang="en-US" altLang="zh-CN" sz="2400" b="1"/>
              <a:t>DC</a:t>
            </a:r>
            <a:r>
              <a:rPr lang="zh-CN" altLang="en-US" sz="2400" b="1"/>
              <a:t>内流和</a:t>
            </a:r>
            <a:r>
              <a:rPr lang="en-US" altLang="zh-CN" sz="2400" b="1"/>
              <a:t>DC</a:t>
            </a:r>
            <a:r>
              <a:rPr lang="zh-CN" altLang="en-US" sz="2400" b="1"/>
              <a:t>间流带宽竞争问题</a:t>
            </a:r>
            <a:endParaRPr lang="zh-CN" altLang="en-US" sz="2400" b="1"/>
          </a:p>
        </p:txBody>
      </p:sp>
      <p:sp>
        <p:nvSpPr>
          <p:cNvPr id="9" name="圆角矩形 8"/>
          <p:cNvSpPr/>
          <p:nvPr/>
        </p:nvSpPr>
        <p:spPr>
          <a:xfrm>
            <a:off x="4601210" y="4034155"/>
            <a:ext cx="3006090" cy="11176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两种速率调节模式：</a:t>
            </a:r>
            <a:endParaRPr lang="zh-CN" altLang="en-US"/>
          </a:p>
          <a:p>
            <a:pPr algn="ctr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）基于发送方传输</a:t>
            </a:r>
            <a:endParaRPr lang="zh-CN" altLang="en-US"/>
          </a:p>
          <a:p>
            <a:pPr algn="ctr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）基于接收方传输</a:t>
            </a:r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8294370" y="4034155"/>
            <a:ext cx="3006090" cy="11176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根据不同的流类型使用不同的速率调节模式，实现不同流的需求。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903095" y="5461000"/>
            <a:ext cx="765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问题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784850" y="5461000"/>
            <a:ext cx="765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/>
                </a:solidFill>
              </a:rPr>
              <a:t>模式</a:t>
            </a:r>
            <a:endParaRPr lang="zh-CN" altLang="en-US" b="1">
              <a:solidFill>
                <a:schemeClr val="accent4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415145" y="5461000"/>
            <a:ext cx="765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方案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5" name="右箭头 14"/>
          <p:cNvSpPr/>
          <p:nvPr/>
        </p:nvSpPr>
        <p:spPr>
          <a:xfrm>
            <a:off x="4084955" y="4452620"/>
            <a:ext cx="346075" cy="28067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7777480" y="4452620"/>
            <a:ext cx="346075" cy="28067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1455" y="137160"/>
            <a:ext cx="49510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速率调节模式</a:t>
            </a:r>
            <a:r>
              <a:rPr lang="en-US" altLang="zh-CN" sz="2000"/>
              <a:t>&amp;</a:t>
            </a:r>
            <a:r>
              <a:rPr lang="zh-CN" altLang="en-US" sz="2000"/>
              <a:t>存在问题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01600" y="605155"/>
            <a:ext cx="5551170" cy="1460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23545" y="831850"/>
            <a:ext cx="4249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1. </a:t>
            </a:r>
            <a:r>
              <a:rPr lang="zh-CN" altLang="en-US" b="1">
                <a:solidFill>
                  <a:schemeClr val="accent1"/>
                </a:solidFill>
              </a:rPr>
              <a:t>基于发送方的传输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23265" y="1200150"/>
            <a:ext cx="9398000" cy="16973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实现：</a:t>
            </a:r>
            <a:r>
              <a:rPr lang="zh-CN" altLang="en-US"/>
              <a:t>发送方探测可用带宽，并根据接收方的反馈调整发送速度。</a:t>
            </a:r>
            <a:endParaRPr lang="zh-CN" altLang="en-US"/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altLang="en-US">
                <a:solidFill>
                  <a:schemeClr val="accent6"/>
                </a:solidFill>
              </a:rPr>
              <a:t>问题：</a:t>
            </a:r>
            <a:r>
              <a:rPr lang="en-US" altLang="zh-CN"/>
              <a:t>(1) </a:t>
            </a:r>
            <a:r>
              <a:rPr lang="zh-CN" altLang="en-US"/>
              <a:t>对于</a:t>
            </a:r>
            <a:r>
              <a:rPr lang="en-US" altLang="zh-CN"/>
              <a:t>DC</a:t>
            </a:r>
            <a:r>
              <a:rPr lang="zh-CN" altLang="en-US"/>
              <a:t>间的数据流，接收方的反馈信号不能及时传递到发送方。</a:t>
            </a:r>
            <a:endParaRPr lang="zh-CN" altLang="en-US"/>
          </a:p>
          <a:p>
            <a:pPr indent="0">
              <a:lnSpc>
                <a:spcPct val="160000"/>
              </a:lnSpc>
              <a:buFont typeface="Wingdings" panose="05000000000000000000" charset="0"/>
              <a:buNone/>
            </a:pPr>
            <a:r>
              <a:rPr lang="en-US" altLang="zh-CN"/>
              <a:t>      </a:t>
            </a:r>
            <a:r>
              <a:rPr lang="zh-CN" altLang="en-US"/>
              <a:t> </a:t>
            </a:r>
            <a:r>
              <a:rPr lang="en-US" altLang="zh-CN"/>
              <a:t>            (2) </a:t>
            </a:r>
            <a:r>
              <a:rPr lang="zh-CN" altLang="en-US"/>
              <a:t>对于</a:t>
            </a:r>
            <a:r>
              <a:rPr lang="en-US" altLang="zh-CN"/>
              <a:t>DC</a:t>
            </a:r>
            <a:r>
              <a:rPr lang="zh-CN" altLang="en-US"/>
              <a:t>内的流，如果发送方没及时减速，会遇到长队列等待。</a:t>
            </a:r>
            <a:endParaRPr lang="zh-CN" altLang="en-US"/>
          </a:p>
          <a:p>
            <a:pPr indent="457200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23545" y="2824480"/>
            <a:ext cx="4249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2. </a:t>
            </a:r>
            <a:r>
              <a:rPr lang="zh-CN" altLang="en-US" b="1">
                <a:solidFill>
                  <a:schemeClr val="accent1"/>
                </a:solidFill>
              </a:rPr>
              <a:t>基于接收方的传输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77240" y="3192780"/>
            <a:ext cx="10451465" cy="21405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实现：</a:t>
            </a:r>
            <a:r>
              <a:rPr lang="zh-CN" altLang="en-US">
                <a:solidFill>
                  <a:schemeClr val="tx1"/>
                </a:solidFill>
              </a:rPr>
              <a:t>为了实现高吞吐，第一个</a:t>
            </a:r>
            <a:r>
              <a:rPr lang="en-US" altLang="zh-CN">
                <a:solidFill>
                  <a:schemeClr val="tx1"/>
                </a:solidFill>
              </a:rPr>
              <a:t>RTT</a:t>
            </a:r>
            <a:r>
              <a:rPr lang="zh-CN" altLang="en-US">
                <a:solidFill>
                  <a:schemeClr val="tx1"/>
                </a:solidFill>
              </a:rPr>
              <a:t>以线性速率传输，从此之后，为了提供低排队时延，发送方在收到一个接收方反馈的</a:t>
            </a:r>
            <a:r>
              <a:rPr lang="en-US" altLang="zh-CN">
                <a:solidFill>
                  <a:schemeClr val="tx1"/>
                </a:solidFill>
              </a:rPr>
              <a:t>token/pull</a:t>
            </a:r>
            <a:r>
              <a:rPr lang="zh-CN" altLang="en-US">
                <a:solidFill>
                  <a:schemeClr val="tx1"/>
                </a:solidFill>
              </a:rPr>
              <a:t>包后，只发送一个包。</a:t>
            </a:r>
            <a:endParaRPr lang="zh-CN" altLang="en-US">
              <a:solidFill>
                <a:schemeClr val="accent4">
                  <a:lumMod val="75000"/>
                </a:schemeClr>
              </a:solidFill>
            </a:endParaRP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altLang="en-US">
                <a:solidFill>
                  <a:schemeClr val="accent6"/>
                </a:solidFill>
              </a:rPr>
              <a:t>问题：</a:t>
            </a:r>
            <a:r>
              <a:rPr lang="en-US" altLang="zh-CN"/>
              <a:t>(1) </a:t>
            </a:r>
            <a:r>
              <a:rPr lang="zh-CN" altLang="en-US"/>
              <a:t>多个流同时线性传输，可能会导致缓存溢出丢包。</a:t>
            </a:r>
            <a:endParaRPr lang="zh-CN" altLang="en-US"/>
          </a:p>
          <a:p>
            <a:pPr indent="0">
              <a:lnSpc>
                <a:spcPct val="160000"/>
              </a:lnSpc>
              <a:buFont typeface="Wingdings" panose="05000000000000000000" charset="0"/>
              <a:buNone/>
            </a:pPr>
            <a:r>
              <a:rPr lang="en-US" altLang="zh-CN"/>
              <a:t>      </a:t>
            </a:r>
            <a:r>
              <a:rPr lang="zh-CN" altLang="en-US"/>
              <a:t> </a:t>
            </a:r>
            <a:r>
              <a:rPr lang="en-US" altLang="zh-CN"/>
              <a:t>            (2) DC</a:t>
            </a:r>
            <a:r>
              <a:rPr lang="zh-CN" altLang="en-US"/>
              <a:t>内的流周期短，完成传输后释放带宽，但</a:t>
            </a:r>
            <a:r>
              <a:rPr lang="en-US" altLang="zh-CN"/>
              <a:t>DC</a:t>
            </a:r>
            <a:r>
              <a:rPr lang="zh-CN" altLang="en-US"/>
              <a:t>间的流不能立即使用这些资源。</a:t>
            </a:r>
            <a:endParaRPr lang="zh-CN" altLang="en-US"/>
          </a:p>
          <a:p>
            <a:pPr indent="457200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2997835" y="5351780"/>
            <a:ext cx="7459980" cy="104203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342900" indent="-342900" algn="l">
              <a:lnSpc>
                <a:spcPct val="120000"/>
              </a:lnSpc>
              <a:buFont typeface="+mj-ea"/>
              <a:buAutoNum type="circleNumDbPlain"/>
            </a:pPr>
            <a:r>
              <a:rPr lang="en-US" altLang="zh-CN"/>
              <a:t>DC</a:t>
            </a:r>
            <a:r>
              <a:rPr lang="zh-CN" altLang="en-US"/>
              <a:t>内的流开始线速传输，可以实现高吞吐量，也引入长排队时延。</a:t>
            </a:r>
            <a:endParaRPr lang="zh-CN" altLang="en-US"/>
          </a:p>
          <a:p>
            <a:pPr marL="342900" indent="-342900" algn="l">
              <a:lnSpc>
                <a:spcPct val="120000"/>
              </a:lnSpc>
              <a:buFont typeface="+mj-ea"/>
              <a:buAutoNum type="circleNumDbPlain"/>
            </a:pPr>
            <a:r>
              <a:rPr lang="en-US" altLang="zh-CN"/>
              <a:t>DC</a:t>
            </a:r>
            <a:r>
              <a:rPr lang="zh-CN" altLang="en-US"/>
              <a:t>内流传输完成，接收方传输模式限制了</a:t>
            </a:r>
            <a:r>
              <a:rPr lang="en-US" altLang="zh-CN"/>
              <a:t>DC</a:t>
            </a:r>
            <a:r>
              <a:rPr lang="zh-CN" altLang="en-US"/>
              <a:t>间流发送速率。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1455" y="137160"/>
            <a:ext cx="49510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GTCP</a:t>
            </a:r>
            <a:r>
              <a:rPr lang="zh-CN" altLang="en-US" sz="2000"/>
              <a:t>设计</a:t>
            </a:r>
            <a:r>
              <a:rPr lang="en-US" altLang="zh-CN" sz="2000"/>
              <a:t>——</a:t>
            </a:r>
            <a:r>
              <a:rPr lang="zh-CN" altLang="en-US" sz="2000"/>
              <a:t>整体设计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01600" y="605155"/>
            <a:ext cx="5551170" cy="1460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9325" y="189865"/>
            <a:ext cx="5784215" cy="3952240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6740525" y="4205605"/>
            <a:ext cx="4493260" cy="6699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DC</a:t>
            </a:r>
            <a:r>
              <a:rPr lang="zh-CN" altLang="en-US"/>
              <a:t>间流的模式转换和</a:t>
            </a:r>
            <a:r>
              <a:rPr lang="en-US" altLang="zh-CN"/>
              <a:t>DC</a:t>
            </a:r>
            <a:r>
              <a:rPr lang="zh-CN" altLang="en-US"/>
              <a:t>内流的暂停机制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23545" y="831850"/>
            <a:ext cx="45688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在跨</a:t>
            </a:r>
            <a:r>
              <a:rPr lang="en-US" altLang="zh-CN">
                <a:solidFill>
                  <a:schemeClr val="tx1"/>
                </a:solidFill>
              </a:rPr>
              <a:t>DC</a:t>
            </a:r>
            <a:r>
              <a:rPr lang="zh-CN" altLang="en-US">
                <a:solidFill>
                  <a:schemeClr val="tx1"/>
                </a:solidFill>
              </a:rPr>
              <a:t>中同时实现（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r>
              <a:rPr lang="en-US" altLang="zh-CN">
                <a:solidFill>
                  <a:schemeClr val="tx1"/>
                </a:solidFill>
              </a:rPr>
              <a:t>DC</a:t>
            </a:r>
            <a:r>
              <a:rPr lang="zh-CN" altLang="en-US">
                <a:solidFill>
                  <a:schemeClr val="tx1"/>
                </a:solidFill>
              </a:rPr>
              <a:t>间流量的高吞吐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r>
              <a:rPr lang="en-US" altLang="zh-CN">
                <a:solidFill>
                  <a:schemeClr val="tx1"/>
                </a:solidFill>
              </a:rPr>
              <a:t>DC</a:t>
            </a:r>
            <a:r>
              <a:rPr lang="zh-CN" altLang="en-US">
                <a:solidFill>
                  <a:schemeClr val="tx1"/>
                </a:solidFill>
              </a:rPr>
              <a:t>内流量的低延迟。</a:t>
            </a:r>
            <a:r>
              <a:rPr lang="en-US" altLang="zh-CN">
                <a:solidFill>
                  <a:schemeClr val="tx1"/>
                </a:solidFill>
              </a:rPr>
              <a:t>             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35915" y="1624965"/>
            <a:ext cx="4249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1. </a:t>
            </a:r>
            <a:r>
              <a:rPr lang="zh-CN" altLang="en-US" b="1">
                <a:solidFill>
                  <a:schemeClr val="accent1"/>
                </a:solidFill>
              </a:rPr>
              <a:t>流区分（</a:t>
            </a:r>
            <a:r>
              <a:rPr lang="en-US" altLang="zh-CN" b="1">
                <a:solidFill>
                  <a:schemeClr val="accent1"/>
                </a:solidFill>
              </a:rPr>
              <a:t>DC</a:t>
            </a:r>
            <a:r>
              <a:rPr lang="zh-CN" altLang="en-US" b="1">
                <a:solidFill>
                  <a:schemeClr val="accent1"/>
                </a:solidFill>
              </a:rPr>
              <a:t>内</a:t>
            </a:r>
            <a:r>
              <a:rPr lang="en-US" altLang="zh-CN" b="1">
                <a:solidFill>
                  <a:schemeClr val="accent1"/>
                </a:solidFill>
              </a:rPr>
              <a:t>/DC</a:t>
            </a:r>
            <a:r>
              <a:rPr lang="zh-CN" altLang="en-US" b="1">
                <a:solidFill>
                  <a:schemeClr val="accent1"/>
                </a:solidFill>
              </a:rPr>
              <a:t>间）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89585" y="1993265"/>
            <a:ext cx="5306060" cy="13093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 b="1">
                <a:solidFill>
                  <a:schemeClr val="accent1"/>
                </a:solidFill>
                <a:sym typeface="+mn-ea"/>
              </a:rPr>
              <a:t> </a:t>
            </a:r>
            <a:r>
              <a:rPr lang="en-US" altLang="zh-CN" b="1">
                <a:solidFill>
                  <a:schemeClr val="accent1"/>
                </a:solidFill>
                <a:sym typeface="+mn-ea"/>
              </a:rPr>
              <a:t>   </a:t>
            </a:r>
            <a:r>
              <a:rPr lang="en-US" altLang="zh-CN">
                <a:sym typeface="+mn-ea"/>
              </a:rPr>
              <a:t>DC</a:t>
            </a:r>
            <a:r>
              <a:rPr lang="zh-CN" altLang="en-US">
                <a:sym typeface="+mn-ea"/>
              </a:rPr>
              <a:t>内流的</a:t>
            </a:r>
            <a:r>
              <a:rPr lang="en-US" altLang="zh-CN">
                <a:sym typeface="+mn-ea"/>
              </a:rPr>
              <a:t>RTT</a:t>
            </a:r>
            <a:r>
              <a:rPr lang="zh-CN" altLang="en-US">
                <a:sym typeface="+mn-ea"/>
              </a:rPr>
              <a:t>是微秒级，</a:t>
            </a:r>
            <a:r>
              <a:rPr lang="en-US" altLang="zh-CN">
                <a:sym typeface="+mn-ea"/>
              </a:rPr>
              <a:t>DC</a:t>
            </a:r>
            <a:r>
              <a:rPr lang="zh-CN" altLang="en-US">
                <a:sym typeface="+mn-ea"/>
              </a:rPr>
              <a:t>间的流</a:t>
            </a:r>
            <a:r>
              <a:rPr lang="en-US" altLang="zh-CN">
                <a:sym typeface="+mn-ea"/>
              </a:rPr>
              <a:t>RTT</a:t>
            </a:r>
            <a:r>
              <a:rPr lang="zh-CN" altLang="en-US">
                <a:sym typeface="+mn-ea"/>
              </a:rPr>
              <a:t>为毫秒级，根据</a:t>
            </a:r>
            <a:r>
              <a:rPr lang="en-US" altLang="zh-CN">
                <a:sym typeface="+mn-ea"/>
              </a:rPr>
              <a:t>RTT</a:t>
            </a:r>
            <a:r>
              <a:rPr lang="zh-CN" altLang="en-US">
                <a:sym typeface="+mn-ea"/>
              </a:rPr>
              <a:t>判断是哪种流。具体来说，</a:t>
            </a:r>
            <a:r>
              <a:rPr lang="en-US" altLang="zh-CN">
                <a:sym typeface="+mn-ea"/>
              </a:rPr>
              <a:t>GTCP</a:t>
            </a:r>
            <a:r>
              <a:rPr lang="zh-CN" altLang="en-US">
                <a:sym typeface="+mn-ea"/>
              </a:rPr>
              <a:t>发送方在建立三次握手时测量</a:t>
            </a:r>
            <a:r>
              <a:rPr lang="en-US" altLang="zh-CN">
                <a:sym typeface="+mn-ea"/>
              </a:rPr>
              <a:t>RTT</a:t>
            </a:r>
            <a:r>
              <a:rPr lang="zh-CN" altLang="en-US">
                <a:sym typeface="+mn-ea"/>
              </a:rPr>
              <a:t>，如果</a:t>
            </a:r>
            <a:r>
              <a:rPr lang="en-US" altLang="zh-CN">
                <a:sym typeface="+mn-ea"/>
              </a:rPr>
              <a:t>RTT&gt;1ms</a:t>
            </a:r>
            <a:r>
              <a:rPr lang="zh-CN" altLang="en-US">
                <a:sym typeface="+mn-ea"/>
              </a:rPr>
              <a:t>，认为是</a:t>
            </a:r>
            <a:r>
              <a:rPr lang="en-US" altLang="zh-CN">
                <a:sym typeface="+mn-ea"/>
              </a:rPr>
              <a:t>DC</a:t>
            </a:r>
            <a:r>
              <a:rPr lang="zh-CN" altLang="en-US">
                <a:sym typeface="+mn-ea"/>
              </a:rPr>
              <a:t>间通信。</a:t>
            </a:r>
            <a:endParaRPr lang="zh-CN" altLang="en-US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23545" y="3536950"/>
            <a:ext cx="4249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2. DC</a:t>
            </a:r>
            <a:r>
              <a:rPr lang="zh-CN" altLang="en-US" b="1">
                <a:solidFill>
                  <a:schemeClr val="accent1"/>
                </a:solidFill>
              </a:rPr>
              <a:t>间流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15925" y="4035425"/>
            <a:ext cx="6092190" cy="24161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/>
              <a:t>发送方先用</a:t>
            </a:r>
            <a:r>
              <a:rPr lang="en-US" altLang="zh-CN">
                <a:solidFill>
                  <a:srgbClr val="FF0000"/>
                </a:solidFill>
              </a:rPr>
              <a:t>sender-based mode</a:t>
            </a:r>
            <a:r>
              <a:rPr lang="zh-CN" altLang="en-US"/>
              <a:t>来探测可用带宽。</a:t>
            </a:r>
            <a:endParaRPr lang="zh-CN" altLang="en-US"/>
          </a:p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/>
              <a:t>一旦发送方收到有</a:t>
            </a:r>
            <a:r>
              <a:rPr lang="en-US" altLang="zh-CN"/>
              <a:t>ECN</a:t>
            </a:r>
            <a:r>
              <a:rPr lang="zh-CN" altLang="en-US"/>
              <a:t>标记的</a:t>
            </a:r>
            <a:r>
              <a:rPr lang="en-US" altLang="zh-CN"/>
              <a:t>ACK</a:t>
            </a:r>
            <a:r>
              <a:rPr lang="zh-CN" altLang="en-US"/>
              <a:t>，发送方转化为</a:t>
            </a:r>
            <a:r>
              <a:rPr lang="en-US" altLang="zh-CN">
                <a:solidFill>
                  <a:srgbClr val="FF0000"/>
                </a:solidFill>
              </a:rPr>
              <a:t>receiver-driven mode</a:t>
            </a:r>
            <a:r>
              <a:rPr lang="zh-CN" altLang="en-US"/>
              <a:t>来避免队列堆积。</a:t>
            </a:r>
            <a:endParaRPr lang="zh-CN" altLang="en-US"/>
          </a:p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/>
              <a:t>发送方周期性调整发送速率来探测可用带宽，</a:t>
            </a:r>
            <a:endParaRPr lang="zh-CN" altLang="en-US"/>
          </a:p>
          <a:p>
            <a:pPr lvl="1" indent="0">
              <a:lnSpc>
                <a:spcPct val="120000"/>
              </a:lnSpc>
              <a:buFont typeface="+mj-ea"/>
              <a:buNone/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）若检测到可用带宽，转化为</a:t>
            </a:r>
            <a:r>
              <a:rPr lang="en-US" altLang="zh-CN">
                <a:solidFill>
                  <a:srgbClr val="00B0F0"/>
                </a:solidFill>
              </a:rPr>
              <a:t>sender-based mode</a:t>
            </a:r>
            <a:r>
              <a:rPr lang="zh-CN" altLang="en-US"/>
              <a:t>；（</a:t>
            </a:r>
            <a:r>
              <a:rPr lang="en-US" altLang="zh-CN"/>
              <a:t>2</a:t>
            </a:r>
            <a:r>
              <a:rPr lang="zh-CN" altLang="en-US"/>
              <a:t>）若没有可用带宽，发送方降速避免队列堆积，保持</a:t>
            </a:r>
            <a:r>
              <a:rPr lang="en-US" altLang="zh-CN">
                <a:solidFill>
                  <a:srgbClr val="00B0F0"/>
                </a:solidFill>
              </a:rPr>
              <a:t>receiver-based mode</a:t>
            </a:r>
            <a:r>
              <a:rPr lang="zh-CN" altLang="en-US"/>
              <a:t>模式。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596380" y="5374005"/>
            <a:ext cx="5031740" cy="122872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注意：</a:t>
            </a:r>
            <a:r>
              <a:rPr lang="zh-CN" altLang="en-US"/>
              <a:t>文章是</a:t>
            </a:r>
            <a:r>
              <a:rPr lang="en-US" altLang="zh-CN"/>
              <a:t>2021</a:t>
            </a:r>
            <a:r>
              <a:rPr lang="zh-CN" altLang="en-US"/>
              <a:t>年的，</a:t>
            </a:r>
            <a:r>
              <a:rPr lang="en-US" altLang="zh-CN"/>
              <a:t>ECN</a:t>
            </a:r>
            <a:r>
              <a:rPr lang="zh-CN" altLang="en-US"/>
              <a:t>没有在</a:t>
            </a:r>
            <a:r>
              <a:rPr lang="en-US" altLang="zh-CN"/>
              <a:t>WAN</a:t>
            </a:r>
            <a:r>
              <a:rPr lang="zh-CN" altLang="en-US"/>
              <a:t>里广泛使用，因此认为</a:t>
            </a:r>
            <a:r>
              <a:rPr lang="en-US" altLang="zh-CN"/>
              <a:t>ECN</a:t>
            </a:r>
            <a:r>
              <a:rPr lang="zh-CN" altLang="en-US"/>
              <a:t>标记拥塞都是来自于</a:t>
            </a:r>
            <a:r>
              <a:rPr lang="en-US" altLang="zh-CN"/>
              <a:t>DC</a:t>
            </a:r>
            <a:r>
              <a:rPr lang="zh-CN" altLang="en-US"/>
              <a:t>内部，没有考虑可能是长链路上交换机产生的。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4165" y="3893820"/>
            <a:ext cx="5464810" cy="250126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11455" y="137160"/>
            <a:ext cx="49510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GTCP</a:t>
            </a:r>
            <a:r>
              <a:rPr lang="zh-CN" altLang="en-US" sz="2000"/>
              <a:t>设计</a:t>
            </a:r>
            <a:r>
              <a:rPr lang="en-US" altLang="zh-CN" sz="2000"/>
              <a:t>——</a:t>
            </a:r>
            <a:r>
              <a:rPr lang="zh-CN" altLang="en-US" sz="2000"/>
              <a:t>整体设计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01600" y="605155"/>
            <a:ext cx="5551170" cy="1460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875" y="137160"/>
            <a:ext cx="4995545" cy="34131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35915" y="835025"/>
            <a:ext cx="4249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3. DC</a:t>
            </a:r>
            <a:r>
              <a:rPr lang="zh-CN" altLang="en-US" b="1">
                <a:solidFill>
                  <a:schemeClr val="accent1"/>
                </a:solidFill>
              </a:rPr>
              <a:t>内流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94690" y="1233170"/>
            <a:ext cx="5272405" cy="2195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b="1"/>
              <a:t>特征：</a:t>
            </a:r>
            <a:r>
              <a:rPr lang="zh-CN" altLang="en-US">
                <a:solidFill>
                  <a:schemeClr val="accent6"/>
                </a:solidFill>
              </a:rPr>
              <a:t>第一个</a:t>
            </a:r>
            <a:r>
              <a:rPr lang="en-US" altLang="zh-CN">
                <a:solidFill>
                  <a:schemeClr val="accent6"/>
                </a:solidFill>
              </a:rPr>
              <a:t>RTT</a:t>
            </a:r>
            <a:r>
              <a:rPr lang="zh-CN" altLang="en-US">
                <a:solidFill>
                  <a:schemeClr val="accent6"/>
                </a:solidFill>
              </a:rPr>
              <a:t>以线性速率传输</a:t>
            </a:r>
            <a:r>
              <a:rPr lang="zh-CN" altLang="en-US"/>
              <a:t>，但是多个并发流以线性速率传输，会导致交换机队列持续增长（延迟</a:t>
            </a:r>
            <a:r>
              <a:rPr lang="en-US" altLang="zh-CN"/>
              <a:t>/</a:t>
            </a:r>
            <a:r>
              <a:rPr lang="zh-CN" altLang="en-US"/>
              <a:t>丢包）。</a:t>
            </a:r>
            <a:endParaRPr lang="zh-CN" altLang="en-US"/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b="1"/>
              <a:t>改进：</a:t>
            </a:r>
            <a:r>
              <a:rPr lang="zh-CN" altLang="en-US"/>
              <a:t>发送方定期估计最小排队延迟，如果最小排队延迟</a:t>
            </a:r>
            <a:r>
              <a:rPr lang="en-US" altLang="zh-CN"/>
              <a:t>&gt;0</a:t>
            </a:r>
            <a:r>
              <a:rPr lang="zh-CN" altLang="en-US"/>
              <a:t>，说明有队列挤压，执行暂停发送操作来消除队列挤压）。</a:t>
            </a:r>
            <a:endParaRPr lang="zh-CN" altLang="en-US" b="1"/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 b="1"/>
          </a:p>
        </p:txBody>
      </p:sp>
      <p:grpSp>
        <p:nvGrpSpPr>
          <p:cNvPr id="14" name="组合 13"/>
          <p:cNvGrpSpPr/>
          <p:nvPr/>
        </p:nvGrpSpPr>
        <p:grpSpPr>
          <a:xfrm>
            <a:off x="817880" y="3258185"/>
            <a:ext cx="5024120" cy="1134110"/>
            <a:chOff x="1645" y="4858"/>
            <a:chExt cx="7912" cy="1786"/>
          </a:xfrm>
        </p:grpSpPr>
        <p:sp>
          <p:nvSpPr>
            <p:cNvPr id="6" name="矩形标注 5"/>
            <p:cNvSpPr/>
            <p:nvPr/>
          </p:nvSpPr>
          <p:spPr>
            <a:xfrm flipH="1" flipV="1">
              <a:off x="1645" y="4858"/>
              <a:ext cx="7913" cy="1787"/>
            </a:xfrm>
            <a:prstGeom prst="wedgeRectCallou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980" y="5088"/>
              <a:ext cx="7279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>
                  <a:solidFill>
                    <a:schemeClr val="bg1"/>
                  </a:solidFill>
                </a:rPr>
                <a:t>（</a:t>
              </a:r>
              <a:r>
                <a:rPr lang="en-US" altLang="zh-CN">
                  <a:solidFill>
                    <a:schemeClr val="bg1"/>
                  </a:solidFill>
                </a:rPr>
                <a:t>1</a:t>
              </a:r>
              <a:r>
                <a:rPr lang="zh-CN" altLang="en-US">
                  <a:solidFill>
                    <a:schemeClr val="bg1"/>
                  </a:solidFill>
                </a:rPr>
                <a:t>）暂停机制只用于</a:t>
              </a:r>
              <a:r>
                <a:rPr lang="en-US" altLang="zh-CN">
                  <a:solidFill>
                    <a:schemeClr val="bg1"/>
                  </a:solidFill>
                </a:rPr>
                <a:t>DC</a:t>
              </a:r>
              <a:r>
                <a:rPr lang="zh-CN" altLang="en-US">
                  <a:solidFill>
                    <a:schemeClr val="bg1"/>
                  </a:solidFill>
                </a:rPr>
                <a:t>内的流。</a:t>
              </a:r>
              <a:endParaRPr lang="zh-CN" altLang="en-US">
                <a:solidFill>
                  <a:schemeClr val="bg1"/>
                </a:solidFill>
              </a:endParaRPr>
            </a:p>
            <a:p>
              <a:r>
                <a:rPr lang="zh-CN" altLang="en-US">
                  <a:solidFill>
                    <a:schemeClr val="bg1"/>
                  </a:solidFill>
                </a:rPr>
                <a:t>（</a:t>
              </a:r>
              <a:r>
                <a:rPr lang="en-US" altLang="zh-CN">
                  <a:solidFill>
                    <a:schemeClr val="bg1"/>
                  </a:solidFill>
                </a:rPr>
                <a:t>2</a:t>
              </a:r>
              <a:r>
                <a:rPr lang="zh-CN" altLang="en-US">
                  <a:solidFill>
                    <a:schemeClr val="bg1"/>
                  </a:solidFill>
                </a:rPr>
                <a:t>）暂停只为了消除队列挤压，不是排空队列，排空队列就降低吞吐量了。</a:t>
              </a:r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461645" y="4650740"/>
            <a:ext cx="6191885" cy="1889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b="1">
                <a:solidFill>
                  <a:srgbClr val="7030A0"/>
                </a:solidFill>
              </a:rPr>
              <a:t>GTCP</a:t>
            </a:r>
            <a:r>
              <a:rPr lang="zh-CN" altLang="en-US" b="1">
                <a:solidFill>
                  <a:srgbClr val="7030A0"/>
                </a:solidFill>
              </a:rPr>
              <a:t>使用</a:t>
            </a:r>
            <a:r>
              <a:rPr lang="en-US" altLang="zh-CN" b="1">
                <a:solidFill>
                  <a:srgbClr val="7030A0"/>
                </a:solidFill>
              </a:rPr>
              <a:t>ACK</a:t>
            </a:r>
            <a:r>
              <a:rPr lang="zh-CN" altLang="en-US" b="1">
                <a:solidFill>
                  <a:srgbClr val="7030A0"/>
                </a:solidFill>
              </a:rPr>
              <a:t>作为</a:t>
            </a:r>
            <a:r>
              <a:rPr lang="en-US" altLang="zh-CN" b="1">
                <a:solidFill>
                  <a:srgbClr val="7030A0"/>
                </a:solidFill>
              </a:rPr>
              <a:t>credit packets</a:t>
            </a:r>
            <a:r>
              <a:rPr lang="zh-CN" altLang="en-US" b="1">
                <a:solidFill>
                  <a:srgbClr val="7030A0"/>
                </a:solidFill>
              </a:rPr>
              <a:t>来驱动数据传输，原因如下：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）简化设计，减少传输</a:t>
            </a:r>
            <a:r>
              <a:rPr lang="en-US" altLang="zh-CN"/>
              <a:t>credit packets</a:t>
            </a:r>
            <a:r>
              <a:rPr lang="zh-CN" altLang="en-US"/>
              <a:t>导致的带宽消耗。</a:t>
            </a:r>
            <a:endParaRPr lang="en-US" altLang="zh-CN"/>
          </a:p>
          <a:p>
            <a:pPr>
              <a:lnSpc>
                <a:spcPct val="130000"/>
              </a:lnSpc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DC</a:t>
            </a:r>
            <a:r>
              <a:rPr lang="zh-CN" altLang="en-US"/>
              <a:t>间流模式的切换无需发送方接收方配合。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）对于</a:t>
            </a:r>
            <a:r>
              <a:rPr lang="en-US" altLang="zh-CN"/>
              <a:t>DC</a:t>
            </a:r>
            <a:r>
              <a:rPr lang="zh-CN" altLang="en-US"/>
              <a:t>间流来说，采用</a:t>
            </a:r>
            <a:r>
              <a:rPr lang="en-US" altLang="zh-CN"/>
              <a:t>ACK</a:t>
            </a:r>
            <a:r>
              <a:rPr lang="zh-CN" altLang="en-US"/>
              <a:t>作为</a:t>
            </a:r>
            <a:r>
              <a:rPr lang="en-US" altLang="zh-CN"/>
              <a:t>credit packet </a:t>
            </a:r>
            <a:r>
              <a:rPr lang="zh-CN" altLang="en-US"/>
              <a:t>可以避免中间设备过滤。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1455" y="137160"/>
            <a:ext cx="49510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GTCP</a:t>
            </a:r>
            <a:r>
              <a:rPr lang="zh-CN" altLang="en-US" sz="2000"/>
              <a:t>设计</a:t>
            </a:r>
            <a:r>
              <a:rPr lang="en-US" altLang="zh-CN" sz="2000"/>
              <a:t>——</a:t>
            </a:r>
            <a:r>
              <a:rPr lang="zh-CN" altLang="en-US" sz="2000"/>
              <a:t>拥塞控制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01600" y="605155"/>
            <a:ext cx="5551170" cy="1460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35915" y="835025"/>
            <a:ext cx="4249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1. DC</a:t>
            </a:r>
            <a:r>
              <a:rPr lang="zh-CN" altLang="en-US" b="1">
                <a:solidFill>
                  <a:schemeClr val="accent1"/>
                </a:solidFill>
              </a:rPr>
              <a:t>间流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30605" y="3404235"/>
            <a:ext cx="46221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（</a:t>
            </a:r>
            <a:r>
              <a:rPr lang="en-US" altLang="zh-CN">
                <a:solidFill>
                  <a:schemeClr val="bg1"/>
                </a:solidFill>
              </a:rPr>
              <a:t>1</a:t>
            </a:r>
            <a:r>
              <a:rPr lang="zh-CN" altLang="en-US">
                <a:solidFill>
                  <a:schemeClr val="bg1"/>
                </a:solidFill>
              </a:rPr>
              <a:t>）暂停机制只用于</a:t>
            </a:r>
            <a:r>
              <a:rPr lang="en-US" altLang="zh-CN">
                <a:solidFill>
                  <a:schemeClr val="bg1"/>
                </a:solidFill>
              </a:rPr>
              <a:t>DC</a:t>
            </a:r>
            <a:r>
              <a:rPr lang="zh-CN" altLang="en-US">
                <a:solidFill>
                  <a:schemeClr val="bg1"/>
                </a:solidFill>
              </a:rPr>
              <a:t>内的流。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（</a:t>
            </a:r>
            <a:r>
              <a:rPr lang="en-US" altLang="zh-CN">
                <a:solidFill>
                  <a:schemeClr val="bg1"/>
                </a:solidFill>
              </a:rPr>
              <a:t>2</a:t>
            </a:r>
            <a:r>
              <a:rPr lang="zh-CN" altLang="en-US">
                <a:solidFill>
                  <a:schemeClr val="bg1"/>
                </a:solidFill>
              </a:rPr>
              <a:t>）暂停只为了消除队列挤压，不是排空队列，排空队列就降低吞吐量了。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2255" y="1300480"/>
            <a:ext cx="1440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6"/>
                </a:solidFill>
              </a:rPr>
              <a:t>目标：</a:t>
            </a:r>
            <a:endParaRPr lang="zh-CN" altLang="en-US" b="1">
              <a:solidFill>
                <a:schemeClr val="accent6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35915" y="1652905"/>
            <a:ext cx="57492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维护</a:t>
            </a:r>
            <a:r>
              <a:rPr lang="en-US" altLang="zh-CN"/>
              <a:t>DC</a:t>
            </a:r>
            <a:r>
              <a:rPr lang="zh-CN" altLang="en-US"/>
              <a:t>间瓶颈链路的高利用率。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DC</a:t>
            </a:r>
            <a:r>
              <a:rPr lang="zh-CN" altLang="en-US"/>
              <a:t>间流与</a:t>
            </a:r>
            <a:r>
              <a:rPr lang="en-US" altLang="zh-CN"/>
              <a:t>DC</a:t>
            </a:r>
            <a:r>
              <a:rPr lang="zh-CN" altLang="en-US"/>
              <a:t>内流同时存在要避免</a:t>
            </a:r>
            <a:r>
              <a:rPr lang="en-US" altLang="zh-CN"/>
              <a:t>DC</a:t>
            </a:r>
            <a:r>
              <a:rPr lang="zh-CN" altLang="en-US"/>
              <a:t>内队列的堆积。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62255" y="2667000"/>
            <a:ext cx="1440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/>
                </a:solidFill>
              </a:rPr>
              <a:t>过程：</a:t>
            </a:r>
            <a:endParaRPr lang="zh-CN" altLang="en-US" b="1">
              <a:solidFill>
                <a:schemeClr val="accent4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35915" y="3070225"/>
            <a:ext cx="6092190" cy="24161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/>
              <a:t>发送方先用</a:t>
            </a:r>
            <a:r>
              <a:rPr lang="en-US" altLang="zh-CN">
                <a:solidFill>
                  <a:srgbClr val="FF0000"/>
                </a:solidFill>
              </a:rPr>
              <a:t>sender-based mode</a:t>
            </a:r>
            <a:r>
              <a:rPr lang="zh-CN" altLang="en-US"/>
              <a:t>来探测可用带宽。</a:t>
            </a:r>
            <a:endParaRPr lang="zh-CN" altLang="en-US"/>
          </a:p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/>
              <a:t>一旦发送方收到有</a:t>
            </a:r>
            <a:r>
              <a:rPr lang="en-US" altLang="zh-CN"/>
              <a:t>ECN</a:t>
            </a:r>
            <a:r>
              <a:rPr lang="zh-CN" altLang="en-US"/>
              <a:t>标记的</a:t>
            </a:r>
            <a:r>
              <a:rPr lang="en-US" altLang="zh-CN"/>
              <a:t>ACK</a:t>
            </a:r>
            <a:r>
              <a:rPr lang="zh-CN" altLang="en-US"/>
              <a:t>，发送方转化为</a:t>
            </a:r>
            <a:r>
              <a:rPr lang="en-US" altLang="zh-CN">
                <a:solidFill>
                  <a:srgbClr val="FF0000"/>
                </a:solidFill>
              </a:rPr>
              <a:t>receiver-driven mode</a:t>
            </a:r>
            <a:r>
              <a:rPr lang="zh-CN" altLang="en-US"/>
              <a:t>来避免队列堆积。</a:t>
            </a:r>
            <a:endParaRPr lang="zh-CN" altLang="en-US"/>
          </a:p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/>
              <a:t>发送方周期性调整发送速率来探测可用带宽，</a:t>
            </a:r>
            <a:endParaRPr lang="zh-CN" altLang="en-US"/>
          </a:p>
          <a:p>
            <a:pPr lvl="1" indent="0">
              <a:lnSpc>
                <a:spcPct val="120000"/>
              </a:lnSpc>
              <a:buFont typeface="+mj-ea"/>
              <a:buNone/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）若检测到可用带宽，转化为</a:t>
            </a:r>
            <a:r>
              <a:rPr lang="en-US" altLang="zh-CN">
                <a:solidFill>
                  <a:srgbClr val="00B0F0"/>
                </a:solidFill>
              </a:rPr>
              <a:t>sender-based mode</a:t>
            </a:r>
            <a:r>
              <a:rPr lang="zh-CN" altLang="en-US"/>
              <a:t>；（</a:t>
            </a:r>
            <a:r>
              <a:rPr lang="en-US" altLang="zh-CN"/>
              <a:t>2</a:t>
            </a:r>
            <a:r>
              <a:rPr lang="zh-CN" altLang="en-US"/>
              <a:t>）若没有可用带宽，发送方降速避免队列堆积，保持</a:t>
            </a:r>
            <a:r>
              <a:rPr lang="en-US" altLang="zh-CN">
                <a:solidFill>
                  <a:srgbClr val="00B0F0"/>
                </a:solidFill>
              </a:rPr>
              <a:t>receiver-based mode</a:t>
            </a:r>
            <a:r>
              <a:rPr lang="zh-CN" altLang="en-US"/>
              <a:t>模式。</a:t>
            </a:r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r="4245"/>
          <a:stretch>
            <a:fillRect/>
          </a:stretch>
        </p:blipFill>
        <p:spPr>
          <a:xfrm>
            <a:off x="5936615" y="946150"/>
            <a:ext cx="6115685" cy="272097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6969125" y="3881755"/>
            <a:ext cx="45053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7030A0"/>
                </a:solidFill>
              </a:rPr>
              <a:t>f1</a:t>
            </a:r>
            <a:r>
              <a:rPr lang="zh-CN" altLang="en-US">
                <a:solidFill>
                  <a:srgbClr val="7030A0"/>
                </a:solidFill>
              </a:rPr>
              <a:t>是</a:t>
            </a:r>
            <a:r>
              <a:rPr lang="en-US" altLang="zh-CN">
                <a:solidFill>
                  <a:srgbClr val="7030A0"/>
                </a:solidFill>
              </a:rPr>
              <a:t>DC</a:t>
            </a:r>
            <a:r>
              <a:rPr lang="zh-CN" altLang="en-US">
                <a:solidFill>
                  <a:srgbClr val="7030A0"/>
                </a:solidFill>
              </a:rPr>
              <a:t>间流，</a:t>
            </a:r>
            <a:r>
              <a:rPr lang="en-US" altLang="zh-CN">
                <a:solidFill>
                  <a:srgbClr val="7030A0"/>
                </a:solidFill>
              </a:rPr>
              <a:t>f2</a:t>
            </a:r>
            <a:r>
              <a:rPr lang="zh-CN" altLang="en-US">
                <a:solidFill>
                  <a:srgbClr val="7030A0"/>
                </a:solidFill>
              </a:rPr>
              <a:t>是</a:t>
            </a:r>
            <a:r>
              <a:rPr lang="en-US" altLang="zh-CN">
                <a:solidFill>
                  <a:srgbClr val="7030A0"/>
                </a:solidFill>
              </a:rPr>
              <a:t>DC</a:t>
            </a:r>
            <a:r>
              <a:rPr lang="zh-CN" altLang="en-US">
                <a:solidFill>
                  <a:srgbClr val="7030A0"/>
                </a:solidFill>
              </a:rPr>
              <a:t>内流，，</a:t>
            </a:r>
            <a:r>
              <a:rPr lang="en-US" altLang="zh-CN">
                <a:solidFill>
                  <a:srgbClr val="7030A0"/>
                </a:solidFill>
              </a:rPr>
              <a:t>RTT1 = 2*RTT2</a:t>
            </a:r>
            <a:r>
              <a:rPr lang="zh-CN" altLang="en-US">
                <a:solidFill>
                  <a:srgbClr val="7030A0"/>
                </a:solidFill>
              </a:rPr>
              <a:t>，</a:t>
            </a:r>
            <a:r>
              <a:rPr lang="en-US" altLang="zh-CN">
                <a:solidFill>
                  <a:srgbClr val="7030A0"/>
                </a:solidFill>
              </a:rPr>
              <a:t>DC</a:t>
            </a:r>
            <a:r>
              <a:rPr lang="zh-CN" altLang="en-US">
                <a:solidFill>
                  <a:srgbClr val="7030A0"/>
                </a:solidFill>
              </a:rPr>
              <a:t>内瓶颈链路的</a:t>
            </a:r>
            <a:r>
              <a:rPr lang="en-US" altLang="zh-CN">
                <a:solidFill>
                  <a:srgbClr val="7030A0"/>
                </a:solidFill>
              </a:rPr>
              <a:t>BDP</a:t>
            </a:r>
            <a:r>
              <a:rPr lang="zh-CN" altLang="en-US">
                <a:solidFill>
                  <a:srgbClr val="7030A0"/>
                </a:solidFill>
              </a:rPr>
              <a:t>是</a:t>
            </a:r>
            <a:r>
              <a:rPr lang="en-US" altLang="zh-CN">
                <a:solidFill>
                  <a:srgbClr val="7030A0"/>
                </a:solidFill>
              </a:rPr>
              <a:t>4</a:t>
            </a:r>
            <a:r>
              <a:rPr lang="zh-CN" altLang="en-US">
                <a:solidFill>
                  <a:srgbClr val="7030A0"/>
                </a:solidFill>
              </a:rPr>
              <a:t>个数据包。</a:t>
            </a:r>
            <a:endParaRPr lang="zh-CN" altLang="en-US">
              <a:solidFill>
                <a:srgbClr val="7030A0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2938780" y="2416810"/>
            <a:ext cx="2882265" cy="61849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/>
              <a:t>receiver-driven</a:t>
            </a:r>
            <a:r>
              <a:rPr lang="zh-CN" altLang="en-US" sz="1600"/>
              <a:t>模式使用窗口，不会退化为停</a:t>
            </a:r>
            <a:r>
              <a:rPr lang="en-US" altLang="zh-CN" sz="1600"/>
              <a:t>-</a:t>
            </a:r>
            <a:r>
              <a:rPr lang="zh-CN" altLang="en-US" sz="1600"/>
              <a:t>等模式。</a:t>
            </a:r>
            <a:endParaRPr lang="zh-CN" altLang="en-US" sz="1600"/>
          </a:p>
        </p:txBody>
      </p:sp>
      <p:cxnSp>
        <p:nvCxnSpPr>
          <p:cNvPr id="20" name="曲线连接符 19"/>
          <p:cNvCxnSpPr/>
          <p:nvPr/>
        </p:nvCxnSpPr>
        <p:spPr>
          <a:xfrm flipV="1">
            <a:off x="4417060" y="2803525"/>
            <a:ext cx="1403985" cy="1250950"/>
          </a:xfrm>
          <a:prstGeom prst="curvedConnector3">
            <a:avLst>
              <a:gd name="adj1" fmla="val 116961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圆角矩形 20"/>
          <p:cNvSpPr/>
          <p:nvPr/>
        </p:nvSpPr>
        <p:spPr>
          <a:xfrm>
            <a:off x="416560" y="5654675"/>
            <a:ext cx="5930900" cy="9067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当短的</a:t>
            </a:r>
            <a:r>
              <a:rPr lang="en-US" altLang="zh-CN"/>
              <a:t>DC</a:t>
            </a:r>
            <a:r>
              <a:rPr lang="zh-CN" altLang="en-US"/>
              <a:t>内流发送完成，</a:t>
            </a:r>
            <a:r>
              <a:rPr lang="en-US" altLang="zh-CN"/>
              <a:t>DC</a:t>
            </a:r>
            <a:r>
              <a:rPr lang="zh-CN" altLang="en-US"/>
              <a:t>内流要切换为</a:t>
            </a:r>
            <a:r>
              <a:rPr lang="en-US" altLang="zh-CN"/>
              <a:t>send-based mode</a:t>
            </a:r>
            <a:r>
              <a:rPr lang="zh-CN" altLang="en-US"/>
              <a:t>，但是</a:t>
            </a:r>
            <a:r>
              <a:rPr lang="en-US" altLang="zh-CN"/>
              <a:t>DC</a:t>
            </a:r>
            <a:r>
              <a:rPr lang="zh-CN" altLang="en-US"/>
              <a:t>间流不能根据</a:t>
            </a:r>
            <a:r>
              <a:rPr lang="en-US" altLang="zh-CN"/>
              <a:t>ECN</a:t>
            </a:r>
            <a:r>
              <a:rPr lang="zh-CN" altLang="en-US"/>
              <a:t>或时延判断是否有额外可用带宽</a:t>
            </a:r>
            <a:r>
              <a:rPr lang="en-US" altLang="zh-CN"/>
              <a:t>——&gt;DC</a:t>
            </a:r>
            <a:r>
              <a:rPr lang="zh-CN" altLang="en-US"/>
              <a:t>间流如何判断有剩余带宽？</a:t>
            </a:r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7467600" y="5083810"/>
            <a:ext cx="3853815" cy="142621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r>
              <a:rPr lang="zh-CN" altLang="en-US" b="1"/>
              <a:t>核心思想：</a:t>
            </a:r>
            <a:r>
              <a:rPr lang="zh-CN" altLang="en-US"/>
              <a:t>发送方增加自己的发送速率来探测带宽，比较自己发送速率和接受速率大小来判断瓶颈链路状态。</a:t>
            </a:r>
            <a:endParaRPr lang="zh-CN" altLang="en-US"/>
          </a:p>
        </p:txBody>
      </p:sp>
      <p:sp>
        <p:nvSpPr>
          <p:cNvPr id="24" name="右箭头 23"/>
          <p:cNvSpPr/>
          <p:nvPr/>
        </p:nvSpPr>
        <p:spPr>
          <a:xfrm>
            <a:off x="6442710" y="6061075"/>
            <a:ext cx="877570" cy="153670"/>
          </a:xfrm>
          <a:prstGeom prst="rightArrow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543040" y="5615305"/>
            <a:ext cx="673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方案</a:t>
            </a:r>
            <a:endParaRPr lang="zh-CN" altLang="en-US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1455" y="137160"/>
            <a:ext cx="49510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GTCP</a:t>
            </a:r>
            <a:r>
              <a:rPr lang="zh-CN" altLang="en-US" sz="2000"/>
              <a:t>设计</a:t>
            </a:r>
            <a:r>
              <a:rPr lang="en-US" altLang="zh-CN" sz="2000"/>
              <a:t>——</a:t>
            </a:r>
            <a:r>
              <a:rPr lang="zh-CN" altLang="en-US" sz="2000"/>
              <a:t>拥塞控制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01600" y="605155"/>
            <a:ext cx="5551170" cy="1460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35915" y="737870"/>
            <a:ext cx="4249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1. DC</a:t>
            </a:r>
            <a:r>
              <a:rPr lang="zh-CN" altLang="en-US" b="1">
                <a:solidFill>
                  <a:schemeClr val="accent1"/>
                </a:solidFill>
              </a:rPr>
              <a:t>间流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30605" y="3404235"/>
            <a:ext cx="46221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（</a:t>
            </a:r>
            <a:r>
              <a:rPr lang="en-US" altLang="zh-CN">
                <a:solidFill>
                  <a:schemeClr val="bg1"/>
                </a:solidFill>
              </a:rPr>
              <a:t>1</a:t>
            </a:r>
            <a:r>
              <a:rPr lang="zh-CN" altLang="en-US">
                <a:solidFill>
                  <a:schemeClr val="bg1"/>
                </a:solidFill>
              </a:rPr>
              <a:t>）暂停机制只用于</a:t>
            </a:r>
            <a:r>
              <a:rPr lang="en-US" altLang="zh-CN">
                <a:solidFill>
                  <a:schemeClr val="bg1"/>
                </a:solidFill>
              </a:rPr>
              <a:t>DC</a:t>
            </a:r>
            <a:r>
              <a:rPr lang="zh-CN" altLang="en-US">
                <a:solidFill>
                  <a:schemeClr val="bg1"/>
                </a:solidFill>
              </a:rPr>
              <a:t>内的流。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（</a:t>
            </a:r>
            <a:r>
              <a:rPr lang="en-US" altLang="zh-CN">
                <a:solidFill>
                  <a:schemeClr val="bg1"/>
                </a:solidFill>
              </a:rPr>
              <a:t>2</a:t>
            </a:r>
            <a:r>
              <a:rPr lang="zh-CN" altLang="en-US">
                <a:solidFill>
                  <a:schemeClr val="bg1"/>
                </a:solidFill>
              </a:rPr>
              <a:t>）暂停只为了消除队列挤压，不是排空队列，排空队列就降低吞吐量了。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r="4245"/>
          <a:stretch>
            <a:fillRect/>
          </a:stretch>
        </p:blipFill>
        <p:spPr>
          <a:xfrm>
            <a:off x="6580505" y="1106170"/>
            <a:ext cx="5553075" cy="247078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6887210" y="3884930"/>
            <a:ext cx="51301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7030A0"/>
                </a:solidFill>
              </a:rPr>
              <a:t>f1</a:t>
            </a:r>
            <a:r>
              <a:rPr lang="zh-CN" altLang="en-US" b="1">
                <a:solidFill>
                  <a:srgbClr val="7030A0"/>
                </a:solidFill>
              </a:rPr>
              <a:t>是</a:t>
            </a:r>
            <a:r>
              <a:rPr lang="en-US" altLang="zh-CN" b="1">
                <a:solidFill>
                  <a:srgbClr val="7030A0"/>
                </a:solidFill>
              </a:rPr>
              <a:t>DC</a:t>
            </a:r>
            <a:r>
              <a:rPr lang="zh-CN" altLang="en-US" b="1">
                <a:solidFill>
                  <a:srgbClr val="7030A0"/>
                </a:solidFill>
              </a:rPr>
              <a:t>间流，</a:t>
            </a:r>
            <a:r>
              <a:rPr lang="en-US" altLang="zh-CN" b="1">
                <a:solidFill>
                  <a:srgbClr val="7030A0"/>
                </a:solidFill>
              </a:rPr>
              <a:t>f2</a:t>
            </a:r>
            <a:r>
              <a:rPr lang="zh-CN" altLang="en-US" b="1">
                <a:solidFill>
                  <a:srgbClr val="7030A0"/>
                </a:solidFill>
              </a:rPr>
              <a:t>是</a:t>
            </a:r>
            <a:r>
              <a:rPr lang="en-US" altLang="zh-CN" b="1">
                <a:solidFill>
                  <a:srgbClr val="7030A0"/>
                </a:solidFill>
              </a:rPr>
              <a:t>DC</a:t>
            </a:r>
            <a:r>
              <a:rPr lang="zh-CN" altLang="en-US" b="1">
                <a:solidFill>
                  <a:srgbClr val="7030A0"/>
                </a:solidFill>
              </a:rPr>
              <a:t>内流，，</a:t>
            </a:r>
            <a:r>
              <a:rPr lang="en-US" altLang="zh-CN" b="1">
                <a:solidFill>
                  <a:srgbClr val="7030A0"/>
                </a:solidFill>
              </a:rPr>
              <a:t>RTT1 = 2*RTT2</a:t>
            </a:r>
            <a:r>
              <a:rPr lang="zh-CN" altLang="en-US" b="1">
                <a:solidFill>
                  <a:srgbClr val="7030A0"/>
                </a:solidFill>
              </a:rPr>
              <a:t>，</a:t>
            </a:r>
            <a:endParaRPr lang="zh-CN" altLang="en-US" b="1">
              <a:solidFill>
                <a:srgbClr val="7030A0"/>
              </a:solidFill>
            </a:endParaRPr>
          </a:p>
          <a:p>
            <a:pPr algn="ctr"/>
            <a:r>
              <a:rPr lang="en-US" altLang="zh-CN" b="1">
                <a:solidFill>
                  <a:srgbClr val="7030A0"/>
                </a:solidFill>
              </a:rPr>
              <a:t>DC</a:t>
            </a:r>
            <a:r>
              <a:rPr lang="zh-CN" altLang="en-US" b="1">
                <a:solidFill>
                  <a:srgbClr val="7030A0"/>
                </a:solidFill>
              </a:rPr>
              <a:t>内瓶颈链路的</a:t>
            </a:r>
            <a:r>
              <a:rPr lang="en-US" altLang="zh-CN" b="1">
                <a:solidFill>
                  <a:srgbClr val="7030A0"/>
                </a:solidFill>
              </a:rPr>
              <a:t>BDP</a:t>
            </a:r>
            <a:r>
              <a:rPr lang="zh-CN" altLang="en-US" b="1">
                <a:solidFill>
                  <a:srgbClr val="7030A0"/>
                </a:solidFill>
              </a:rPr>
              <a:t>是</a:t>
            </a:r>
            <a:r>
              <a:rPr lang="en-US" altLang="zh-CN" b="1">
                <a:solidFill>
                  <a:srgbClr val="7030A0"/>
                </a:solidFill>
              </a:rPr>
              <a:t>4</a:t>
            </a:r>
            <a:r>
              <a:rPr lang="zh-CN" altLang="en-US" b="1">
                <a:solidFill>
                  <a:srgbClr val="7030A0"/>
                </a:solidFill>
              </a:rPr>
              <a:t>个数据包。</a:t>
            </a:r>
            <a:endParaRPr lang="zh-CN" altLang="en-US" b="1">
              <a:solidFill>
                <a:srgbClr val="7030A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5915" y="1224280"/>
            <a:ext cx="6083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当</a:t>
            </a:r>
            <a:r>
              <a:rPr lang="en-US" altLang="zh-CN"/>
              <a:t>DC</a:t>
            </a:r>
            <a:r>
              <a:rPr lang="zh-CN" altLang="en-US"/>
              <a:t>间流处于</a:t>
            </a:r>
            <a:r>
              <a:rPr lang="en-US" altLang="zh-CN"/>
              <a:t>receiver-driven</a:t>
            </a:r>
            <a:r>
              <a:rPr lang="zh-CN" altLang="en-US"/>
              <a:t>模式时，</a:t>
            </a:r>
            <a:r>
              <a:rPr lang="zh-CN" altLang="en-US">
                <a:solidFill>
                  <a:schemeClr val="accent6"/>
                </a:solidFill>
              </a:rPr>
              <a:t>发送方通过增加发送速率来探测可用带宽</a:t>
            </a:r>
            <a:r>
              <a:rPr lang="zh-CN" altLang="en-US"/>
              <a:t>，并根据以下情况转变速率调节模式。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57505" y="1869440"/>
            <a:ext cx="6142990" cy="2195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en-US" altLang="zh-CN"/>
              <a:t>Case1</a:t>
            </a:r>
            <a:r>
              <a:rPr lang="zh-CN" altLang="en-US"/>
              <a:t>：</a:t>
            </a:r>
            <a:r>
              <a:rPr lang="zh-CN" altLang="en-US">
                <a:solidFill>
                  <a:srgbClr val="7030A0"/>
                </a:solidFill>
              </a:rPr>
              <a:t>接收速率</a:t>
            </a:r>
            <a:r>
              <a:rPr lang="en-US" altLang="zh-CN">
                <a:solidFill>
                  <a:srgbClr val="7030A0"/>
                </a:solidFill>
              </a:rPr>
              <a:t>&lt;</a:t>
            </a:r>
            <a:r>
              <a:rPr lang="zh-CN" altLang="en-US">
                <a:solidFill>
                  <a:srgbClr val="7030A0"/>
                </a:solidFill>
              </a:rPr>
              <a:t>发送速率</a:t>
            </a:r>
            <a:r>
              <a:rPr lang="zh-CN" altLang="en-US"/>
              <a:t>，此时瓶颈链路已满，为了避免对</a:t>
            </a:r>
            <a:r>
              <a:rPr lang="en-US" altLang="zh-CN"/>
              <a:t>DC</a:t>
            </a:r>
            <a:r>
              <a:rPr lang="zh-CN" altLang="en-US"/>
              <a:t>内流的影响，继续使用</a:t>
            </a:r>
            <a:r>
              <a:rPr lang="en-US" altLang="zh-CN"/>
              <a:t>receiver-driven</a:t>
            </a:r>
            <a:r>
              <a:rPr lang="zh-CN" altLang="en-US"/>
              <a:t>模式，下一轮发送方降速来缓解由于探测导致的队列挤压。</a:t>
            </a:r>
            <a:endParaRPr lang="zh-CN" altLang="en-US"/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en-US" altLang="zh-CN"/>
              <a:t>Case2</a:t>
            </a:r>
            <a:r>
              <a:rPr lang="zh-CN" altLang="en-US"/>
              <a:t>：</a:t>
            </a:r>
            <a:r>
              <a:rPr lang="zh-CN" altLang="en-US">
                <a:solidFill>
                  <a:srgbClr val="7030A0"/>
                </a:solidFill>
              </a:rPr>
              <a:t>接收速率</a:t>
            </a:r>
            <a:r>
              <a:rPr lang="en-US" altLang="zh-CN">
                <a:solidFill>
                  <a:srgbClr val="7030A0"/>
                </a:solidFill>
              </a:rPr>
              <a:t>=</a:t>
            </a:r>
            <a:r>
              <a:rPr lang="zh-CN" altLang="en-US">
                <a:solidFill>
                  <a:srgbClr val="7030A0"/>
                </a:solidFill>
              </a:rPr>
              <a:t>发送速率</a:t>
            </a:r>
            <a:r>
              <a:rPr lang="zh-CN" altLang="en-US"/>
              <a:t>，代表有的流结束并释放带宽，转化为</a:t>
            </a:r>
            <a:r>
              <a:rPr lang="en-US" altLang="zh-CN"/>
              <a:t>sender-based</a:t>
            </a:r>
            <a:r>
              <a:rPr lang="zh-CN" altLang="en-US"/>
              <a:t>模式并根据拥塞控制算法增加拥塞窗口。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8150" y="4167505"/>
            <a:ext cx="4147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>
                    <a:lumMod val="75000"/>
                  </a:schemeClr>
                </a:solidFill>
              </a:rPr>
              <a:t>过程（受</a:t>
            </a:r>
            <a:r>
              <a:rPr lang="en-US" altLang="zh-CN" b="1">
                <a:solidFill>
                  <a:schemeClr val="accent4">
                    <a:lumMod val="75000"/>
                  </a:schemeClr>
                </a:solidFill>
              </a:rPr>
              <a:t>BBR</a:t>
            </a:r>
            <a:r>
              <a:rPr lang="zh-CN" altLang="en-US" b="1">
                <a:solidFill>
                  <a:schemeClr val="accent4">
                    <a:lumMod val="75000"/>
                  </a:schemeClr>
                </a:solidFill>
              </a:rPr>
              <a:t>启发）：</a:t>
            </a:r>
            <a:endParaRPr lang="zh-CN" altLang="en-US" b="1">
              <a:solidFill>
                <a:schemeClr val="accent4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613410" y="4605655"/>
                <a:ext cx="9281160" cy="1751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342900" indent="-342900">
                  <a:lnSpc>
                    <a:spcPct val="120000"/>
                  </a:lnSpc>
                  <a:buFont typeface="+mj-ea"/>
                  <a:buAutoNum type="circleNumDbPlain"/>
                </a:pPr>
                <a:r>
                  <a:rPr lang="en-US" altLang="zh-CN"/>
                  <a:t>DC</a:t>
                </a:r>
                <a:r>
                  <a:rPr lang="zh-CN" altLang="en-US"/>
                  <a:t>间流转化为</a:t>
                </a:r>
                <a:r>
                  <a:rPr lang="en-US" altLang="zh-CN"/>
                  <a:t>receiver-driven</a:t>
                </a:r>
                <a:r>
                  <a:rPr lang="zh-CN" altLang="en-US"/>
                  <a:t>模式后，一个</a:t>
                </a:r>
                <a:r>
                  <a:rPr lang="en-US" altLang="zh-CN"/>
                  <a:t>RTT</a:t>
                </a:r>
                <a:r>
                  <a:rPr lang="zh-CN" altLang="en-US"/>
                  <a:t>之后进行探测。</a:t>
                </a:r>
                <a:endParaRPr lang="zh-CN" altLang="en-US"/>
              </a:p>
              <a:p>
                <a:pPr marL="342900" indent="-342900">
                  <a:lnSpc>
                    <a:spcPct val="120000"/>
                  </a:lnSpc>
                  <a:buFont typeface="+mj-ea"/>
                  <a:buAutoNum type="circleNumDbPlain"/>
                </a:pPr>
                <a:r>
                  <a:rPr lang="zh-CN" altLang="en-US"/>
                  <a:t>第二个</a:t>
                </a:r>
                <a:r>
                  <a:rPr lang="en-US" altLang="zh-CN"/>
                  <a:t>RTT</a:t>
                </a:r>
                <a:r>
                  <a:rPr lang="zh-CN" altLang="en-US"/>
                  <a:t>，发送方速率变为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𝑔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（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g=1.25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为探测增益，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是当前发送速率）。这里的新增数据包均匀分布在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RTT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内，平滑增加流量。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342900" indent="-342900">
                  <a:lnSpc>
                    <a:spcPct val="120000"/>
                  </a:lnSpc>
                  <a:buFont typeface="+mj-ea"/>
                  <a:buAutoNum type="circleNumDbPlain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发送方比较自己的接受速率和发送速率，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case2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的话，下一个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RTT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的速度为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𝑔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case1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的话，下一个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RTT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发送速率变为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𝑔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)×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10" y="4605655"/>
                <a:ext cx="9281160" cy="175196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1455" y="137160"/>
            <a:ext cx="49510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GTCP</a:t>
            </a:r>
            <a:r>
              <a:rPr lang="zh-CN" altLang="en-US" sz="2000"/>
              <a:t>设计</a:t>
            </a:r>
            <a:r>
              <a:rPr lang="en-US" altLang="zh-CN" sz="2000"/>
              <a:t>——</a:t>
            </a:r>
            <a:r>
              <a:rPr lang="zh-CN" altLang="en-US" sz="2000"/>
              <a:t>拥塞控制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01600" y="605155"/>
            <a:ext cx="5551170" cy="1460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35915" y="737870"/>
            <a:ext cx="4249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2. DC</a:t>
            </a:r>
            <a:r>
              <a:rPr lang="zh-CN" altLang="en-US" b="1">
                <a:solidFill>
                  <a:schemeClr val="accent1"/>
                </a:solidFill>
              </a:rPr>
              <a:t>内流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30605" y="3404235"/>
            <a:ext cx="46221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（</a:t>
            </a:r>
            <a:r>
              <a:rPr lang="en-US" altLang="zh-CN">
                <a:solidFill>
                  <a:schemeClr val="bg1"/>
                </a:solidFill>
              </a:rPr>
              <a:t>1</a:t>
            </a:r>
            <a:r>
              <a:rPr lang="zh-CN" altLang="en-US">
                <a:solidFill>
                  <a:schemeClr val="bg1"/>
                </a:solidFill>
              </a:rPr>
              <a:t>）暂停机制只用于</a:t>
            </a:r>
            <a:r>
              <a:rPr lang="en-US" altLang="zh-CN">
                <a:solidFill>
                  <a:schemeClr val="bg1"/>
                </a:solidFill>
              </a:rPr>
              <a:t>DC</a:t>
            </a:r>
            <a:r>
              <a:rPr lang="zh-CN" altLang="en-US">
                <a:solidFill>
                  <a:schemeClr val="bg1"/>
                </a:solidFill>
              </a:rPr>
              <a:t>内的流。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（</a:t>
            </a:r>
            <a:r>
              <a:rPr lang="en-US" altLang="zh-CN">
                <a:solidFill>
                  <a:schemeClr val="bg1"/>
                </a:solidFill>
              </a:rPr>
              <a:t>2</a:t>
            </a:r>
            <a:r>
              <a:rPr lang="zh-CN" altLang="en-US">
                <a:solidFill>
                  <a:schemeClr val="bg1"/>
                </a:solidFill>
              </a:rPr>
              <a:t>）暂停只为了消除队列挤压，不是排空队列，排空队列就降低吞吐量了。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r="4245"/>
          <a:stretch>
            <a:fillRect/>
          </a:stretch>
        </p:blipFill>
        <p:spPr>
          <a:xfrm>
            <a:off x="5834380" y="737870"/>
            <a:ext cx="6299200" cy="278574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7003415" y="3761740"/>
            <a:ext cx="51301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7030A0"/>
                </a:solidFill>
              </a:rPr>
              <a:t>f1</a:t>
            </a:r>
            <a:r>
              <a:rPr lang="zh-CN" altLang="en-US" b="1">
                <a:solidFill>
                  <a:srgbClr val="7030A0"/>
                </a:solidFill>
              </a:rPr>
              <a:t>是</a:t>
            </a:r>
            <a:r>
              <a:rPr lang="en-US" altLang="zh-CN" b="1">
                <a:solidFill>
                  <a:srgbClr val="7030A0"/>
                </a:solidFill>
              </a:rPr>
              <a:t>DC</a:t>
            </a:r>
            <a:r>
              <a:rPr lang="zh-CN" altLang="en-US" b="1">
                <a:solidFill>
                  <a:srgbClr val="7030A0"/>
                </a:solidFill>
              </a:rPr>
              <a:t>间流，</a:t>
            </a:r>
            <a:r>
              <a:rPr lang="en-US" altLang="zh-CN" b="1">
                <a:solidFill>
                  <a:srgbClr val="7030A0"/>
                </a:solidFill>
              </a:rPr>
              <a:t>f2</a:t>
            </a:r>
            <a:r>
              <a:rPr lang="zh-CN" altLang="en-US" b="1">
                <a:solidFill>
                  <a:srgbClr val="7030A0"/>
                </a:solidFill>
              </a:rPr>
              <a:t>是</a:t>
            </a:r>
            <a:r>
              <a:rPr lang="en-US" altLang="zh-CN" b="1">
                <a:solidFill>
                  <a:srgbClr val="7030A0"/>
                </a:solidFill>
              </a:rPr>
              <a:t>DC</a:t>
            </a:r>
            <a:r>
              <a:rPr lang="zh-CN" altLang="en-US" b="1">
                <a:solidFill>
                  <a:srgbClr val="7030A0"/>
                </a:solidFill>
              </a:rPr>
              <a:t>内流，，</a:t>
            </a:r>
            <a:r>
              <a:rPr lang="en-US" altLang="zh-CN" b="1">
                <a:solidFill>
                  <a:srgbClr val="7030A0"/>
                </a:solidFill>
              </a:rPr>
              <a:t>RTT1 = 2*RTT2</a:t>
            </a:r>
            <a:r>
              <a:rPr lang="zh-CN" altLang="en-US" b="1">
                <a:solidFill>
                  <a:srgbClr val="7030A0"/>
                </a:solidFill>
              </a:rPr>
              <a:t>，</a:t>
            </a:r>
            <a:endParaRPr lang="zh-CN" altLang="en-US" b="1">
              <a:solidFill>
                <a:srgbClr val="7030A0"/>
              </a:solidFill>
            </a:endParaRPr>
          </a:p>
          <a:p>
            <a:pPr algn="ctr"/>
            <a:r>
              <a:rPr lang="en-US" altLang="zh-CN" b="1">
                <a:solidFill>
                  <a:srgbClr val="7030A0"/>
                </a:solidFill>
              </a:rPr>
              <a:t>DC</a:t>
            </a:r>
            <a:r>
              <a:rPr lang="zh-CN" altLang="en-US" b="1">
                <a:solidFill>
                  <a:srgbClr val="7030A0"/>
                </a:solidFill>
              </a:rPr>
              <a:t>内瓶颈链路的</a:t>
            </a:r>
            <a:r>
              <a:rPr lang="en-US" altLang="zh-CN" b="1">
                <a:solidFill>
                  <a:srgbClr val="7030A0"/>
                </a:solidFill>
              </a:rPr>
              <a:t>BDP</a:t>
            </a:r>
            <a:r>
              <a:rPr lang="zh-CN" altLang="en-US" b="1">
                <a:solidFill>
                  <a:srgbClr val="7030A0"/>
                </a:solidFill>
              </a:rPr>
              <a:t>是</a:t>
            </a:r>
            <a:r>
              <a:rPr lang="en-US" altLang="zh-CN" b="1">
                <a:solidFill>
                  <a:srgbClr val="7030A0"/>
                </a:solidFill>
              </a:rPr>
              <a:t>4</a:t>
            </a:r>
            <a:r>
              <a:rPr lang="zh-CN" altLang="en-US" b="1">
                <a:solidFill>
                  <a:srgbClr val="7030A0"/>
                </a:solidFill>
              </a:rPr>
              <a:t>个数据包。</a:t>
            </a:r>
            <a:endParaRPr lang="zh-CN" altLang="en-US" b="1">
              <a:solidFill>
                <a:srgbClr val="7030A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8150" y="2849245"/>
            <a:ext cx="4147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>
                    <a:lumMod val="75000"/>
                  </a:schemeClr>
                </a:solidFill>
              </a:rPr>
              <a:t>暂停机制（</a:t>
            </a:r>
            <a:r>
              <a:rPr lang="en-US" altLang="zh-CN" b="1">
                <a:solidFill>
                  <a:schemeClr val="accent4">
                    <a:lumMod val="75000"/>
                  </a:schemeClr>
                </a:solidFill>
              </a:rPr>
              <a:t>pausing mechanism</a:t>
            </a:r>
            <a:r>
              <a:rPr lang="zh-CN" altLang="en-US" b="1">
                <a:solidFill>
                  <a:schemeClr val="accent4">
                    <a:lumMod val="75000"/>
                  </a:schemeClr>
                </a:solidFill>
              </a:rPr>
              <a:t>，</a:t>
            </a:r>
            <a:r>
              <a:rPr lang="en-US" altLang="zh-CN" b="1">
                <a:solidFill>
                  <a:schemeClr val="accent4">
                    <a:lumMod val="75000"/>
                  </a:schemeClr>
                </a:solidFill>
              </a:rPr>
              <a:t>PM</a:t>
            </a:r>
            <a:r>
              <a:rPr lang="zh-CN" altLang="en-US" b="1">
                <a:solidFill>
                  <a:schemeClr val="accent4">
                    <a:lumMod val="75000"/>
                  </a:schemeClr>
                </a:solidFill>
              </a:rPr>
              <a:t>）</a:t>
            </a:r>
            <a:endParaRPr lang="zh-CN" altLang="en-US" b="1">
              <a:solidFill>
                <a:schemeClr val="accent4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438150" y="3524250"/>
                <a:ext cx="6525895" cy="2084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342900" indent="-342900">
                  <a:lnSpc>
                    <a:spcPct val="120000"/>
                  </a:lnSpc>
                  <a:buFont typeface="+mj-ea"/>
                  <a:buAutoNum type="circleNumDbPlain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发送方用一个</a:t>
                </a:r>
                <a:r>
                  <a:rPr lang="zh-CN" altLang="en-US">
                    <a:solidFill>
                      <a:schemeClr val="accent6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统计计时器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周期性的测量最小排队时延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𝑄𝐷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342900" indent="-342900">
                  <a:lnSpc>
                    <a:spcPct val="120000"/>
                  </a:lnSpc>
                  <a:buFont typeface="+mj-ea"/>
                  <a:buAutoNum type="circleNumDbPlain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每一轮统计计时器到期后，检查一下最小排队时延，如果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𝑄𝐷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𝑚𝑖𝑛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，那说明瓶颈链路完全占用，排队时延最小为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𝑄𝐷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342900" indent="-342900">
                  <a:lnSpc>
                    <a:spcPct val="120000"/>
                  </a:lnSpc>
                  <a:buFont typeface="+mj-ea"/>
                  <a:buAutoNum type="circleNumDbPlain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发送方暂停数据传输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𝑄𝐷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时间，暂停之后恢复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receiver-driven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模式。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50" y="3524250"/>
                <a:ext cx="6525895" cy="2084070"/>
              </a:xfrm>
              <a:prstGeom prst="rect">
                <a:avLst/>
              </a:prstGeom>
              <a:blipFill rotWithShape="1">
                <a:blip r:embed="rId2"/>
                <a:stretch>
                  <a:fillRect r="-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561340" y="1233170"/>
            <a:ext cx="5272405" cy="13093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zh-CN">
                <a:solidFill>
                  <a:schemeClr val="tx1"/>
                </a:solidFill>
              </a:rPr>
              <a:t>DC</a:t>
            </a:r>
            <a:r>
              <a:rPr lang="zh-CN" altLang="en-US">
                <a:solidFill>
                  <a:schemeClr val="tx1"/>
                </a:solidFill>
              </a:rPr>
              <a:t>内流大多延迟敏感，而且延迟较小。</a:t>
            </a:r>
            <a:endParaRPr lang="en-US" altLang="zh-CN">
              <a:solidFill>
                <a:schemeClr val="tx1"/>
              </a:solidFill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zh-CN">
                <a:solidFill>
                  <a:schemeClr val="tx1"/>
                </a:solidFill>
              </a:rPr>
              <a:t>DC</a:t>
            </a:r>
            <a:r>
              <a:rPr lang="zh-CN" altLang="en-US">
                <a:solidFill>
                  <a:schemeClr val="tx1"/>
                </a:solidFill>
              </a:rPr>
              <a:t>内流第一个</a:t>
            </a:r>
            <a:r>
              <a:rPr lang="en-US" altLang="zh-CN">
                <a:solidFill>
                  <a:schemeClr val="tx1"/>
                </a:solidFill>
              </a:rPr>
              <a:t>RTT</a:t>
            </a:r>
            <a:r>
              <a:rPr lang="zh-CN" altLang="en-US">
                <a:solidFill>
                  <a:schemeClr val="tx1"/>
                </a:solidFill>
              </a:rPr>
              <a:t>以线性速率传输，但是多个并发流以线性速率传输，会导致交换机队列持续增长（延迟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丢包）。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051560" y="5739130"/>
            <a:ext cx="7814310" cy="7702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在暂停期间，发送方收到</a:t>
            </a:r>
            <a:r>
              <a:rPr lang="en-US" altLang="zh-CN"/>
              <a:t>credit packet</a:t>
            </a:r>
            <a:r>
              <a:rPr lang="zh-CN" altLang="en-US"/>
              <a:t>也不发包，交换机里的缓存包会填满瓶颈链路</a:t>
            </a:r>
            <a:r>
              <a:rPr lang="en-US" altLang="zh-CN"/>
              <a:t>——&gt;</a:t>
            </a:r>
            <a:r>
              <a:rPr lang="zh-CN" altLang="en-US"/>
              <a:t>实现了低延迟和高带宽。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2710</Words>
  <Application>WPS 演示</Application>
  <PresentationFormat>宽屏</PresentationFormat>
  <Paragraphs>142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Arial Unicode MS</vt:lpstr>
      <vt:lpstr>Calibri</vt:lpstr>
      <vt:lpstr>微软雅黑</vt:lpstr>
      <vt:lpstr>Wingdings</vt:lpstr>
      <vt:lpstr>Cambria Math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 Gao</dc:creator>
  <cp:lastModifiedBy>WPS_1688450449</cp:lastModifiedBy>
  <cp:revision>10</cp:revision>
  <dcterms:created xsi:type="dcterms:W3CDTF">2023-08-09T12:44:00Z</dcterms:created>
  <dcterms:modified xsi:type="dcterms:W3CDTF">2025-09-21T05:51:55Z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0FFB374EF87741258E9EC42A4DEF22FC_13</vt:lpwstr>
  </property>
</Properties>
</file>