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535" y="802640"/>
            <a:ext cx="8578850" cy="15678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44265" y="2731135"/>
            <a:ext cx="5246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Aeolus</a:t>
            </a:r>
            <a:r>
              <a:rPr lang="zh-CN" altLang="en-US" sz="2400" b="1"/>
              <a:t>：数据中心主动传输的构建块</a:t>
            </a:r>
            <a:endParaRPr lang="zh-CN" altLang="en-US" sz="2400" b="1"/>
          </a:p>
        </p:txBody>
      </p:sp>
      <p:sp>
        <p:nvSpPr>
          <p:cNvPr id="6" name="圆角矩形 5"/>
          <p:cNvSpPr/>
          <p:nvPr/>
        </p:nvSpPr>
        <p:spPr>
          <a:xfrm>
            <a:off x="668655" y="3879850"/>
            <a:ext cx="2797810" cy="1336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令牌第一个</a:t>
            </a:r>
            <a:r>
              <a:rPr lang="en-US" altLang="zh-CN"/>
              <a:t>RTT</a:t>
            </a:r>
            <a:r>
              <a:rPr lang="zh-CN" altLang="en-US"/>
              <a:t>盲传大量突发流。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第一个</a:t>
            </a:r>
            <a:r>
              <a:rPr lang="en-US" altLang="zh-CN"/>
              <a:t>RTT</a:t>
            </a:r>
            <a:r>
              <a:rPr lang="zh-CN" altLang="en-US"/>
              <a:t>破坏了主动控制的精确性。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930015" y="3916680"/>
            <a:ext cx="3484245" cy="1336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现有方案在终端主机上第一个</a:t>
            </a:r>
            <a:r>
              <a:rPr lang="en-US" altLang="zh-CN"/>
              <a:t>RTT</a:t>
            </a:r>
            <a:r>
              <a:rPr lang="zh-CN" altLang="en-US"/>
              <a:t>线速发送数据包。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将第一个</a:t>
            </a:r>
            <a:r>
              <a:rPr lang="en-US" altLang="zh-CN"/>
              <a:t>RTT</a:t>
            </a:r>
            <a:r>
              <a:rPr lang="zh-CN" altLang="en-US"/>
              <a:t>数据包设置成了较高优先级破坏确定性。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877810" y="3916680"/>
            <a:ext cx="3704590" cy="13366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Aeolus</a:t>
            </a:r>
            <a:r>
              <a:rPr lang="zh-CN" altLang="en-US"/>
              <a:t>把第一个</a:t>
            </a:r>
            <a:r>
              <a:rPr lang="en-US" altLang="zh-CN"/>
              <a:t>RTT</a:t>
            </a:r>
            <a:r>
              <a:rPr lang="zh-CN" altLang="en-US"/>
              <a:t>发送的数据包降级。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交换机选择性丢包，充分利用主动传输的确定性进行包恢复。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3544570" y="4425315"/>
            <a:ext cx="306705" cy="3498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7531100" y="4373245"/>
            <a:ext cx="306705" cy="3498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702435" y="5431155"/>
            <a:ext cx="730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问题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54650" y="5431155"/>
            <a:ext cx="730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原因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22765" y="5431155"/>
            <a:ext cx="730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9085" y="176530"/>
            <a:ext cx="1983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问题</a:t>
            </a:r>
            <a:r>
              <a:rPr lang="en-US" altLang="zh-CN" sz="2400"/>
              <a:t>&amp;</a:t>
            </a:r>
            <a:r>
              <a:rPr lang="zh-CN" altLang="en-US" sz="2400"/>
              <a:t>动机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205105" y="737235"/>
            <a:ext cx="401637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61315" y="980440"/>
            <a:ext cx="174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存在问题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9285" y="1442085"/>
            <a:ext cx="1077658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pHost</a:t>
            </a:r>
            <a:r>
              <a:rPr lang="zh-CN" altLang="en-US"/>
              <a:t>和</a:t>
            </a:r>
            <a:r>
              <a:rPr lang="en-US" altLang="zh-CN"/>
              <a:t>Homa</a:t>
            </a:r>
            <a:r>
              <a:rPr lang="zh-CN" altLang="en-US"/>
              <a:t>都把第一个</a:t>
            </a:r>
            <a:r>
              <a:rPr lang="en-US" altLang="zh-CN"/>
              <a:t>RTT</a:t>
            </a:r>
            <a:r>
              <a:rPr lang="zh-CN" altLang="en-US"/>
              <a:t>的数据包（未调度数据包）作为最高优先级传输，</a:t>
            </a:r>
            <a:r>
              <a:rPr lang="en-US" altLang="zh-CN"/>
              <a:t>NDP</a:t>
            </a:r>
            <a:r>
              <a:rPr lang="zh-CN" altLang="en-US"/>
              <a:t>不区分数据包，公平共享带宽，但是都会导致调度的数据包延迟，这可能导致尾延迟和效率崩溃。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可能出现数据包的级联时延：本来链路利用是满的，来了一个未调度的数据包，导致调度的数据包级联时延，这可能蔓延到未调度数据包没有出现的交换机。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级联时延会加剧主动延迟中的丢包风险，因为队列无法有效吸收突发数据包。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445" y="3523615"/>
            <a:ext cx="7865110" cy="2793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9085" y="176530"/>
            <a:ext cx="1983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Aeolus</a:t>
            </a:r>
            <a:r>
              <a:rPr lang="zh-CN" altLang="en-US" sz="2400"/>
              <a:t>设计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205105" y="737235"/>
            <a:ext cx="401637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61315" y="980440"/>
            <a:ext cx="174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实现目标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0705" y="1348740"/>
            <a:ext cx="775208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新的流完全利用空闲带宽，尽量完成流传输，避免不必要的</a:t>
            </a:r>
            <a:r>
              <a:rPr lang="en-US" altLang="zh-CN"/>
              <a:t>FCT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保护调度的数据流来保证主动传输中的确定性特征。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在数据中心部署方便，可以通过商用交换机实现。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7830" y="2722880"/>
            <a:ext cx="174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Aeolus</a:t>
            </a:r>
            <a:r>
              <a:rPr lang="zh-CN" altLang="en-US" b="1">
                <a:solidFill>
                  <a:schemeClr val="accent1"/>
                </a:solidFill>
              </a:rPr>
              <a:t>的设计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955" y="3267710"/>
            <a:ext cx="583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Aeolus</a:t>
            </a:r>
            <a:r>
              <a:rPr lang="zh-CN" altLang="en-US"/>
              <a:t>有三个组件：速率控制，选择丢包和丢包恢复。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9210" y="1733550"/>
            <a:ext cx="5649595" cy="18834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4380" y="3811905"/>
            <a:ext cx="10594975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accent6"/>
                </a:solidFill>
              </a:rPr>
              <a:t>速率控制：</a:t>
            </a:r>
            <a:r>
              <a:rPr lang="zh-CN" altLang="en-US"/>
              <a:t>在终端主机实现最小信令控制，流在预令牌阶段以线速传输，后面根据令牌调整发送速率。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accent6"/>
                </a:solidFill>
              </a:rPr>
              <a:t>选择丢包：</a:t>
            </a:r>
            <a:r>
              <a:rPr lang="en-US" altLang="zh-CN"/>
              <a:t>Aeolus</a:t>
            </a:r>
            <a:r>
              <a:rPr lang="zh-CN" altLang="en-US"/>
              <a:t>保护调度的数据包来保证网络中的</a:t>
            </a:r>
            <a:r>
              <a:rPr lang="en-US" altLang="zh-CN"/>
              <a:t>SPF</a:t>
            </a:r>
            <a:r>
              <a:rPr lang="zh-CN" altLang="en-US"/>
              <a:t>（</a:t>
            </a:r>
            <a:r>
              <a:rPr lang="en-US" altLang="zh-CN"/>
              <a:t>scheduled-packet-first</a:t>
            </a:r>
            <a:r>
              <a:rPr lang="zh-CN" altLang="en-US"/>
              <a:t>）。在交换机中引入一个新的丢包机制，在带宽耗尽时选择性丢弃未调度的数据包而不影响已调度的数据包。</a:t>
            </a:r>
            <a:r>
              <a:rPr lang="zh-CN" altLang="en-US">
                <a:solidFill>
                  <a:srgbClr val="7030A0"/>
                </a:solidFill>
              </a:rPr>
              <a:t>这样在不破坏主动传输确定性前提下可以高效利用剩余带宽。</a:t>
            </a:r>
            <a:endParaRPr lang="zh-CN" altLang="en-US">
              <a:solidFill>
                <a:srgbClr val="7030A0"/>
              </a:solidFill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accent6"/>
                </a:solidFill>
              </a:rPr>
              <a:t>丢包恢复：</a:t>
            </a:r>
            <a:r>
              <a:rPr lang="en-US" altLang="zh-CN">
                <a:solidFill>
                  <a:schemeClr val="tx1"/>
                </a:solidFill>
              </a:rPr>
              <a:t>Aeolus</a:t>
            </a:r>
            <a:r>
              <a:rPr lang="zh-CN" altLang="en-US">
                <a:solidFill>
                  <a:schemeClr val="tx1"/>
                </a:solidFill>
              </a:rPr>
              <a:t>的丢包恢复只针对未调度的数据包。使用受保护的主动传输作为丢包重传方案，采用丢包检测精确定位预令牌阶段的丢包，然后只需一次用令牌指导这些丢包重传。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5" grpId="1"/>
      <p:bldP spid="6" grpId="1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9085" y="176530"/>
            <a:ext cx="356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Aeolus</a:t>
            </a:r>
            <a:r>
              <a:rPr lang="zh-CN" altLang="en-US" sz="2400"/>
              <a:t>详细设计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205105" y="737235"/>
            <a:ext cx="401637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61950" y="899795"/>
            <a:ext cx="124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速率控制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5295" y="1367790"/>
            <a:ext cx="1068260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/>
              <a:t>预令牌阶段的发送速率应该是由除调度数据包外的空闲带宽来决定，因为动态剩余带宽无法计算，我们使用交换机来实现带宽分配策略。因此终端主机的速率控制任务减少，不需要复杂的速率控制来防止队列堆积和流量突发导致丢包。</a:t>
            </a:r>
            <a:endParaRPr lang="zh-CN" altLang="en-US" sz="1600">
              <a:solidFill>
                <a:srgbClr val="7030A0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272530" y="457200"/>
            <a:ext cx="4283075" cy="773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队列积压可以通过交换机选丢包择性丢包缓解，丢包可以通过后面的调度数据包重传。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48640" y="2089150"/>
            <a:ext cx="1043813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accent6"/>
                </a:solidFill>
              </a:rPr>
              <a:t>预令牌阶段的线性突发：</a:t>
            </a:r>
            <a:r>
              <a:rPr lang="zh-CN" altLang="en-US" sz="1600">
                <a:solidFill>
                  <a:schemeClr val="tx1"/>
                </a:solidFill>
              </a:rPr>
              <a:t>发送方第一个</a:t>
            </a:r>
            <a:r>
              <a:rPr lang="en-US" altLang="zh-CN" sz="1600">
                <a:solidFill>
                  <a:schemeClr val="tx1"/>
                </a:solidFill>
              </a:rPr>
              <a:t>RTT</a:t>
            </a:r>
            <a:r>
              <a:rPr lang="zh-CN" altLang="en-US" sz="1600">
                <a:solidFill>
                  <a:schemeClr val="tx1"/>
                </a:solidFill>
              </a:rPr>
              <a:t>线速发送一个</a:t>
            </a:r>
            <a:r>
              <a:rPr lang="en-US" altLang="zh-CN" sz="1600">
                <a:solidFill>
                  <a:schemeClr val="tx1"/>
                </a:solidFill>
              </a:rPr>
              <a:t>BDP</a:t>
            </a:r>
            <a:r>
              <a:rPr lang="zh-CN" altLang="en-US" sz="1600">
                <a:solidFill>
                  <a:schemeClr val="tx1"/>
                </a:solidFill>
              </a:rPr>
              <a:t>未调度的数据包。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accent6"/>
                </a:solidFill>
              </a:rPr>
              <a:t>基于令牌的速率控制：</a:t>
            </a:r>
            <a:r>
              <a:rPr lang="zh-CN" altLang="en-US" sz="1600">
                <a:solidFill>
                  <a:schemeClr val="tx1"/>
                </a:solidFill>
              </a:rPr>
              <a:t>除未调度数据包传输，发送方也给接收方或中心仲裁器发送请求来寻求令牌。一旦受到令牌，发送方立刻按照令牌规定速率传输。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1950" y="3244850"/>
            <a:ext cx="2475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选择性丢包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8640" y="3687445"/>
            <a:ext cx="1035875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/>
              <a:t>因为未调度的数据包线性传输，</a:t>
            </a:r>
            <a:r>
              <a:rPr lang="en-US" altLang="zh-CN" sz="1600"/>
              <a:t>Aeolus</a:t>
            </a:r>
            <a:r>
              <a:rPr lang="zh-CN" altLang="en-US" sz="1600"/>
              <a:t>需要在传输过程中保护调度的数据包，通过优先传递已调度的数据包来实现</a:t>
            </a:r>
            <a:r>
              <a:rPr lang="en-US" altLang="zh-CN" sz="1600"/>
              <a:t>SPF</a:t>
            </a:r>
            <a:r>
              <a:rPr lang="zh-CN" altLang="en-US" sz="1600">
                <a:sym typeface="+mn-ea"/>
              </a:rPr>
              <a:t>（</a:t>
            </a:r>
            <a:r>
              <a:rPr lang="en-US" altLang="zh-CN" sz="1600">
                <a:sym typeface="+mn-ea"/>
              </a:rPr>
              <a:t>scheduled-packet-first</a:t>
            </a:r>
            <a:r>
              <a:rPr lang="zh-CN" altLang="en-US" sz="1600">
                <a:sym typeface="+mn-ea"/>
              </a:rPr>
              <a:t>）。</a:t>
            </a:r>
            <a:r>
              <a:rPr lang="zh-CN" altLang="en-US" sz="1600">
                <a:solidFill>
                  <a:srgbClr val="7030A0"/>
                </a:solidFill>
                <a:sym typeface="+mn-ea"/>
              </a:rPr>
              <a:t>常规方法是优先队列，但</a:t>
            </a:r>
            <a:r>
              <a:rPr lang="en-US" altLang="zh-CN" sz="1600">
                <a:solidFill>
                  <a:srgbClr val="7030A0"/>
                </a:solidFill>
                <a:sym typeface="+mn-ea"/>
              </a:rPr>
              <a:t>Aeolus</a:t>
            </a:r>
            <a:r>
              <a:rPr lang="zh-CN" altLang="en-US" sz="1600">
                <a:solidFill>
                  <a:srgbClr val="7030A0"/>
                </a:solidFill>
                <a:sym typeface="+mn-ea"/>
              </a:rPr>
              <a:t>采用一个</a:t>
            </a:r>
            <a:r>
              <a:rPr lang="en-US" altLang="zh-CN" sz="1600">
                <a:solidFill>
                  <a:srgbClr val="7030A0"/>
                </a:solidFill>
                <a:sym typeface="+mn-ea"/>
              </a:rPr>
              <a:t>FIFO</a:t>
            </a:r>
            <a:r>
              <a:rPr lang="zh-CN" altLang="en-US" sz="1600">
                <a:solidFill>
                  <a:srgbClr val="7030A0"/>
                </a:solidFill>
                <a:sym typeface="+mn-ea"/>
              </a:rPr>
              <a:t>队列。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5295" y="4579620"/>
            <a:ext cx="10438130" cy="2107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accent6"/>
                </a:solidFill>
              </a:rPr>
              <a:t>优先队列问题：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i</a:t>
            </a:r>
            <a:r>
              <a:rPr lang="zh-CN" altLang="en-US" sz="1600">
                <a:solidFill>
                  <a:schemeClr val="tx1"/>
                </a:solidFill>
              </a:rPr>
              <a:t>）不确定性，可能调度数据包先来，接收方不能确定未调度的数据包是丢失了还是困在网络里。若设置大的超时</a:t>
            </a:r>
            <a:r>
              <a:rPr lang="en-US" altLang="zh-CN" sz="1600">
                <a:solidFill>
                  <a:schemeClr val="tx1"/>
                </a:solidFill>
              </a:rPr>
              <a:t>RTO</a:t>
            </a:r>
            <a:r>
              <a:rPr lang="zh-CN" altLang="en-US" sz="1600">
                <a:solidFill>
                  <a:schemeClr val="tx1"/>
                </a:solidFill>
              </a:rPr>
              <a:t>，会增加丢包尾延迟；设置小的</a:t>
            </a:r>
            <a:r>
              <a:rPr lang="en-US" altLang="zh-CN" sz="1600">
                <a:solidFill>
                  <a:schemeClr val="tx1"/>
                </a:solidFill>
              </a:rPr>
              <a:t>RTO</a:t>
            </a:r>
            <a:r>
              <a:rPr lang="zh-CN" altLang="en-US" sz="1600">
                <a:solidFill>
                  <a:schemeClr val="tx1"/>
                </a:solidFill>
              </a:rPr>
              <a:t>，会产生不必要重传。（</a:t>
            </a:r>
            <a:r>
              <a:rPr lang="en-US" altLang="zh-CN" sz="1600">
                <a:solidFill>
                  <a:schemeClr val="tx1"/>
                </a:solidFill>
              </a:rPr>
              <a:t>ii</a:t>
            </a:r>
            <a:r>
              <a:rPr lang="zh-CN" altLang="en-US" sz="1600">
                <a:solidFill>
                  <a:schemeClr val="tx1"/>
                </a:solidFill>
              </a:rPr>
              <a:t>）低优先级的未调度的数据包可能占据大量缓存，影响调度数据包传输。（</a:t>
            </a:r>
            <a:r>
              <a:rPr lang="en-US" altLang="zh-CN" sz="1600">
                <a:solidFill>
                  <a:schemeClr val="tx1"/>
                </a:solidFill>
              </a:rPr>
              <a:t>iii</a:t>
            </a:r>
            <a:r>
              <a:rPr lang="zh-CN" altLang="en-US" sz="1600">
                <a:solidFill>
                  <a:schemeClr val="tx1"/>
                </a:solidFill>
              </a:rPr>
              <a:t>）交换机的优先级数目少，还有隔离不同服务流量的任务。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sz="1600">
                <a:solidFill>
                  <a:schemeClr val="accent6"/>
                </a:solidFill>
              </a:rPr>
              <a:t>FIFO</a:t>
            </a:r>
            <a:r>
              <a:rPr lang="zh-CN" altLang="en-US" sz="1600">
                <a:solidFill>
                  <a:schemeClr val="accent6"/>
                </a:solidFill>
              </a:rPr>
              <a:t>队列选择性丢包：</a:t>
            </a:r>
            <a:r>
              <a:rPr lang="zh-CN" altLang="en-US" sz="1600">
                <a:solidFill>
                  <a:schemeClr val="tx1"/>
                </a:solidFill>
              </a:rPr>
              <a:t>交换机使用一个</a:t>
            </a:r>
            <a:r>
              <a:rPr lang="en-US" altLang="zh-CN" sz="1600">
                <a:solidFill>
                  <a:schemeClr val="tx1"/>
                </a:solidFill>
              </a:rPr>
              <a:t>FIFO</a:t>
            </a:r>
            <a:r>
              <a:rPr lang="zh-CN" altLang="en-US" sz="1600">
                <a:solidFill>
                  <a:schemeClr val="tx1"/>
                </a:solidFill>
              </a:rPr>
              <a:t>队列来实现选择丢包。当一个未调度数据包到达。交换机如果发现交换机缓存超过一个小的阈值（</a:t>
            </a:r>
            <a:r>
              <a:rPr lang="en-US" altLang="zh-CN" sz="1600">
                <a:solidFill>
                  <a:schemeClr val="tx1"/>
                </a:solidFill>
              </a:rPr>
              <a:t>2~8KB</a:t>
            </a:r>
            <a:r>
              <a:rPr lang="zh-CN" altLang="en-US" sz="1600">
                <a:solidFill>
                  <a:schemeClr val="tx1"/>
                </a:solidFill>
              </a:rPr>
              <a:t>），就丢弃未调度的数据包，但不影响调度的数据包。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/>
      <p:bldP spid="15" grpId="0"/>
      <p:bldP spid="16" grpId="0"/>
      <p:bldP spid="14" grpId="1"/>
      <p:bldP spid="15" grpId="1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9085" y="176530"/>
            <a:ext cx="356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Aeolus</a:t>
            </a:r>
            <a:r>
              <a:rPr lang="zh-CN" altLang="en-US" sz="2400"/>
              <a:t>详细设计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205105" y="737235"/>
            <a:ext cx="401637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61950" y="899795"/>
            <a:ext cx="124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丢包恢复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5295" y="1367790"/>
            <a:ext cx="1068260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chemeClr val="tx1"/>
                </a:solidFill>
              </a:rPr>
              <a:t>使用基于令牌的调度数据包来重传未调度的数据包，因此现在问题变为了丢包检测。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5295" y="1920875"/>
            <a:ext cx="10682605" cy="3930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accent6"/>
                </a:solidFill>
              </a:rPr>
              <a:t>丢包检测：</a:t>
            </a:r>
            <a:endParaRPr lang="zh-CN" altLang="en-US" sz="160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</a:rPr>
              <a:t>使用</a:t>
            </a:r>
            <a:r>
              <a:rPr lang="zh-CN" altLang="en-US" sz="1600">
                <a:solidFill>
                  <a:srgbClr val="7030A0"/>
                </a:solidFill>
              </a:rPr>
              <a:t>选择性</a:t>
            </a:r>
            <a:r>
              <a:rPr lang="en-US" altLang="zh-CN" sz="1600">
                <a:solidFill>
                  <a:srgbClr val="7030A0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而不是累积</a:t>
            </a:r>
            <a:r>
              <a:rPr lang="en-US" altLang="zh-CN" sz="1600">
                <a:solidFill>
                  <a:schemeClr val="tx1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，同时使用一个简单方案的探测未调度数据包尾丢失。</a:t>
            </a:r>
            <a:endParaRPr lang="zh-CN" altLang="en-US" sz="1600">
              <a:solidFill>
                <a:schemeClr val="tx1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1600">
                <a:solidFill>
                  <a:schemeClr val="tx1"/>
                </a:solidFill>
              </a:rPr>
              <a:t>Aeolus</a:t>
            </a:r>
            <a:r>
              <a:rPr lang="zh-CN" altLang="en-US" sz="1600">
                <a:solidFill>
                  <a:schemeClr val="tx1"/>
                </a:solidFill>
              </a:rPr>
              <a:t>发送方在未调度的数据包之后紧跟发送一个</a:t>
            </a:r>
            <a:r>
              <a:rPr lang="zh-CN" altLang="en-US" sz="1600">
                <a:solidFill>
                  <a:srgbClr val="7030A0"/>
                </a:solidFill>
              </a:rPr>
              <a:t>探测包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probe packet</a:t>
            </a:r>
            <a:r>
              <a:rPr lang="zh-CN" altLang="en-US" sz="1600">
                <a:solidFill>
                  <a:schemeClr val="tx1"/>
                </a:solidFill>
              </a:rPr>
              <a:t>），探测包携带着最后一个未调度数据包的序列号，探测包大小为最小以太网包（</a:t>
            </a:r>
            <a:r>
              <a:rPr lang="en-US" altLang="zh-CN" sz="1600">
                <a:solidFill>
                  <a:schemeClr val="tx1"/>
                </a:solidFill>
              </a:rPr>
              <a:t>64</a:t>
            </a:r>
            <a:r>
              <a:rPr lang="zh-CN" altLang="en-US" sz="1600">
                <a:solidFill>
                  <a:schemeClr val="tx1"/>
                </a:solidFill>
              </a:rPr>
              <a:t>字节）。</a:t>
            </a:r>
            <a:endParaRPr lang="zh-CN" altLang="en-US" sz="1600">
              <a:solidFill>
                <a:schemeClr val="tx1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</a:rPr>
              <a:t>接收方收到探测包，返回一个携带探测包序列号的</a:t>
            </a:r>
            <a:r>
              <a:rPr lang="en-US" altLang="zh-CN" sz="1600">
                <a:solidFill>
                  <a:schemeClr val="tx1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。发送方收到</a:t>
            </a:r>
            <a:r>
              <a:rPr lang="en-US" altLang="zh-CN" sz="1600">
                <a:solidFill>
                  <a:schemeClr val="tx1"/>
                </a:solidFill>
              </a:rPr>
              <a:t>probe ACK</a:t>
            </a:r>
            <a:r>
              <a:rPr lang="zh-CN" altLang="en-US" sz="1600">
                <a:solidFill>
                  <a:schemeClr val="tx1"/>
                </a:solidFill>
              </a:rPr>
              <a:t>，他能立刻推断出所有</a:t>
            </a:r>
            <a:r>
              <a:rPr lang="zh-CN" altLang="en-US" sz="1600">
                <a:solidFill>
                  <a:srgbClr val="7030A0"/>
                </a:solidFill>
              </a:rPr>
              <a:t>丢失的未调度的数据包</a:t>
            </a:r>
            <a:r>
              <a:rPr lang="zh-CN" altLang="en-US" sz="1600">
                <a:solidFill>
                  <a:schemeClr val="tx1"/>
                </a:solidFill>
              </a:rPr>
              <a:t>。注意</a:t>
            </a:r>
            <a:r>
              <a:rPr lang="en-US" altLang="zh-CN" sz="1600">
                <a:solidFill>
                  <a:schemeClr val="tx1"/>
                </a:solidFill>
              </a:rPr>
              <a:t>probe packet</a:t>
            </a:r>
            <a:r>
              <a:rPr lang="zh-CN" altLang="en-US" sz="1600">
                <a:solidFill>
                  <a:schemeClr val="tx1"/>
                </a:solidFill>
              </a:rPr>
              <a:t>和</a:t>
            </a:r>
            <a:r>
              <a:rPr lang="en-US" altLang="zh-CN" sz="1600">
                <a:solidFill>
                  <a:schemeClr val="tx1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被设置成调度数据包。</a:t>
            </a:r>
            <a:endParaRPr lang="zh-CN" altLang="en-US" sz="1600">
              <a:solidFill>
                <a:schemeClr val="tx1"/>
              </a:solidFill>
            </a:endParaRPr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accent6"/>
                </a:solidFill>
              </a:rPr>
              <a:t>重传：</a:t>
            </a:r>
            <a:endParaRPr lang="zh-CN" altLang="en-US" sz="160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</a:rPr>
              <a:t>收到令牌，发送方可以重传老数据包或发送新数据包。</a:t>
            </a:r>
            <a:endParaRPr lang="zh-CN" altLang="en-US" sz="1600">
              <a:solidFill>
                <a:schemeClr val="tx1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</a:rPr>
              <a:t>发送方有</a:t>
            </a:r>
            <a:r>
              <a:rPr lang="zh-CN" altLang="en-US" sz="1600">
                <a:solidFill>
                  <a:srgbClr val="7030A0"/>
                </a:solidFill>
              </a:rPr>
              <a:t>三种类型数据包</a:t>
            </a:r>
            <a:r>
              <a:rPr lang="zh-CN" altLang="en-US" sz="1600">
                <a:solidFill>
                  <a:schemeClr val="tx1"/>
                </a:solidFill>
              </a:rPr>
              <a:t>可传，按优先级从高到低：被检测到丢失的未调度的数据包</a:t>
            </a:r>
            <a:r>
              <a:rPr lang="en-US" altLang="zh-CN" sz="1600">
                <a:solidFill>
                  <a:schemeClr val="tx1"/>
                </a:solidFill>
              </a:rPr>
              <a:t> &gt; </a:t>
            </a:r>
            <a:r>
              <a:rPr lang="zh-CN" altLang="en-US" sz="1600">
                <a:solidFill>
                  <a:schemeClr val="tx1"/>
                </a:solidFill>
              </a:rPr>
              <a:t>未发送的已调度的数据包</a:t>
            </a:r>
            <a:r>
              <a:rPr lang="en-US" altLang="zh-CN" sz="1600">
                <a:solidFill>
                  <a:schemeClr val="tx1"/>
                </a:solidFill>
              </a:rPr>
              <a:t> &gt; </a:t>
            </a:r>
            <a:r>
              <a:rPr lang="zh-CN" altLang="en-US" sz="1600">
                <a:solidFill>
                  <a:schemeClr val="tx1"/>
                </a:solidFill>
              </a:rPr>
              <a:t>发送但没</a:t>
            </a:r>
            <a:r>
              <a:rPr lang="en-US" altLang="zh-CN" sz="1600">
                <a:solidFill>
                  <a:schemeClr val="tx1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得未调度的数据包。</a:t>
            </a:r>
            <a:endParaRPr lang="zh-CN" altLang="en-US" sz="1600">
              <a:solidFill>
                <a:schemeClr val="tx1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</a:rPr>
              <a:t>丢失的数据包设成最高优先级是为减少重排缓冲区的内存占用，先发送已调度的数据包是为了避免冗余传输。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WPS 演示</Application>
  <PresentationFormat>宽屏</PresentationFormat>
  <Paragraphs>77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高嘉</dc:creator>
  <cp:lastModifiedBy>perseverejia</cp:lastModifiedBy>
  <cp:revision>12</cp:revision>
  <dcterms:created xsi:type="dcterms:W3CDTF">2023-08-09T12:44:00Z</dcterms:created>
  <dcterms:modified xsi:type="dcterms:W3CDTF">2026-02-06T03:20:18Z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F97EB461C28442E290658CF19FD061D9_12</vt:lpwstr>
  </property>
</Properties>
</file>