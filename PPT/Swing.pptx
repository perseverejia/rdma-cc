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1" r:id="rId6"/>
    <p:sldId id="263" r:id="rId7"/>
    <p:sldId id="262" r:id="rId8"/>
    <p:sldId id="264" r:id="rId9"/>
    <p:sldId id="260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692150"/>
            <a:ext cx="9620250" cy="2076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20135" y="2926715"/>
            <a:ext cx="7114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非常不错的一篇文章，推荐！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  <a:p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7575" y="3790950"/>
            <a:ext cx="7422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RoCE v2</a:t>
            </a:r>
            <a:r>
              <a:rPr lang="zh-CN" altLang="en-US"/>
              <a:t>基础上进行改进，使其能够实现数据中心间的数据传输。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25040" y="5175885"/>
            <a:ext cx="2206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RoCE v2</a:t>
            </a:r>
            <a:r>
              <a:rPr lang="zh-CN" altLang="en-US" sz="1600"/>
              <a:t>在进行</a:t>
            </a:r>
            <a:r>
              <a:rPr lang="en-US" altLang="zh-CN" sz="1600"/>
              <a:t>DC</a:t>
            </a:r>
            <a:r>
              <a:rPr lang="zh-CN" altLang="en-US" sz="1600"/>
              <a:t>间数据传输时，</a:t>
            </a:r>
            <a:r>
              <a:rPr lang="en-US" altLang="zh-CN" sz="1600"/>
              <a:t>PFC</a:t>
            </a:r>
            <a:r>
              <a:rPr lang="zh-CN" altLang="en-US" sz="1600"/>
              <a:t>控制信号未及时传递。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1697990" y="3470910"/>
            <a:ext cx="1238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贡献：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7990" y="4541520"/>
            <a:ext cx="1238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流程：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2132965" y="5139690"/>
            <a:ext cx="2298700" cy="9245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353685" y="5175885"/>
            <a:ext cx="2206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交换机需要增加缓存队列来接受飞行数据包，链路吞吐量下降。</a:t>
            </a:r>
            <a:endParaRPr lang="zh-CN" altLang="en-US" sz="1600"/>
          </a:p>
        </p:txBody>
      </p:sp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5307330" y="5139690"/>
            <a:ext cx="2298700" cy="8655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481695" y="5139690"/>
            <a:ext cx="2298700" cy="8655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22335" y="5175885"/>
            <a:ext cx="2305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通过添加</a:t>
            </a:r>
            <a:r>
              <a:rPr lang="en-US" altLang="zh-CN" sz="1600"/>
              <a:t>PFC</a:t>
            </a:r>
            <a:r>
              <a:rPr lang="zh-CN" altLang="en-US" sz="1600"/>
              <a:t>中继，快速响应</a:t>
            </a:r>
            <a:r>
              <a:rPr lang="en-US" altLang="zh-CN" sz="1600"/>
              <a:t>PFC</a:t>
            </a:r>
            <a:r>
              <a:rPr lang="zh-CN" altLang="en-US" sz="1600"/>
              <a:t>，同时协助交换机缓存飞行包。</a:t>
            </a:r>
            <a:endParaRPr lang="zh-CN" altLang="en-US" sz="1600"/>
          </a:p>
        </p:txBody>
      </p:sp>
      <p:sp>
        <p:nvSpPr>
          <p:cNvPr id="16" name="右箭头 15"/>
          <p:cNvSpPr/>
          <p:nvPr/>
        </p:nvSpPr>
        <p:spPr>
          <a:xfrm>
            <a:off x="4647565" y="5393055"/>
            <a:ext cx="429260" cy="2717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7875270" y="5393055"/>
            <a:ext cx="429260" cy="2717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35890"/>
            <a:ext cx="4478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数据中心互联的可行性及要求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88595" y="589915"/>
            <a:ext cx="4331335" cy="2476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88950" y="778510"/>
            <a:ext cx="2776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可行性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9775" y="1256665"/>
            <a:ext cx="868108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/>
              <a:t>Amazon</a:t>
            </a:r>
            <a:r>
              <a:rPr lang="zh-CN" altLang="en-US" sz="1600"/>
              <a:t>，</a:t>
            </a:r>
            <a:r>
              <a:rPr lang="en-US" altLang="zh-CN" sz="1600"/>
              <a:t>Microsoft</a:t>
            </a:r>
            <a:r>
              <a:rPr lang="zh-CN" altLang="en-US" sz="1600"/>
              <a:t>，</a:t>
            </a:r>
            <a:r>
              <a:rPr lang="en-US" altLang="zh-CN" sz="1600"/>
              <a:t>Google</a:t>
            </a:r>
            <a:r>
              <a:rPr lang="zh-CN" altLang="en-US" sz="1600"/>
              <a:t>，</a:t>
            </a:r>
            <a:r>
              <a:rPr lang="en-US" altLang="zh-CN" sz="1600"/>
              <a:t>facebook</a:t>
            </a:r>
            <a:r>
              <a:rPr lang="zh-CN" altLang="en-US" sz="1600"/>
              <a:t>等数据运营商提供的服务部署在多个区域性互联的小数据中心之间。这些数据中心之间用</a:t>
            </a:r>
            <a:r>
              <a:rPr lang="zh-CN" altLang="en-US" sz="1600" b="1"/>
              <a:t>专用光缆</a:t>
            </a:r>
            <a:r>
              <a:rPr lang="zh-CN" altLang="en-US" sz="1600"/>
              <a:t>直连，与</a:t>
            </a:r>
            <a:r>
              <a:rPr lang="en-US" altLang="zh-CN" sz="1600"/>
              <a:t>WAN</a:t>
            </a:r>
            <a:r>
              <a:rPr lang="zh-CN" altLang="en-US" sz="1600"/>
              <a:t>不同。使得服务有能力通过数据中心互联（</a:t>
            </a:r>
            <a:r>
              <a:rPr lang="en-US" altLang="zh-CN" sz="1600"/>
              <a:t>DCI</a:t>
            </a:r>
            <a:r>
              <a:rPr lang="zh-CN" altLang="en-US" sz="1600"/>
              <a:t>，</a:t>
            </a:r>
            <a:r>
              <a:rPr lang="en-US" altLang="zh-CN" sz="1600"/>
              <a:t>datacenter interconnection</a:t>
            </a:r>
            <a:r>
              <a:rPr lang="zh-CN" altLang="en-US" sz="1600"/>
              <a:t>）实现</a:t>
            </a:r>
            <a:r>
              <a:rPr lang="en-US" altLang="zh-CN" sz="1600"/>
              <a:t>RDMA</a:t>
            </a:r>
            <a:r>
              <a:rPr lang="zh-CN" altLang="en-US" sz="1600"/>
              <a:t>连接。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488950" y="2661285"/>
            <a:ext cx="2776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要求</a:t>
            </a:r>
            <a:r>
              <a:rPr lang="en-US" altLang="zh-CN" b="1">
                <a:solidFill>
                  <a:schemeClr val="accent1"/>
                </a:solidFill>
              </a:rPr>
              <a:t> 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8045" y="3029585"/>
            <a:ext cx="8986520" cy="146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/>
              <a:t>与现存的</a:t>
            </a:r>
            <a:r>
              <a:rPr lang="en-US" altLang="zh-CN" sz="1600"/>
              <a:t>RDMA</a:t>
            </a:r>
            <a:r>
              <a:rPr lang="zh-CN" altLang="en-US" sz="1600"/>
              <a:t>兼容</a:t>
            </a:r>
            <a:endParaRPr lang="zh-CN" altLang="en-US" sz="1600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/>
              <a:t>保证数据中心内网络不变</a:t>
            </a:r>
            <a:endParaRPr lang="zh-CN" altLang="en-US" sz="1600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/>
              <a:t>完全利用长距链路，提供高效的高层应用</a:t>
            </a:r>
            <a:endParaRPr lang="zh-CN" altLang="en-US" sz="1600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/>
              <a:t>使用尽可能少的交换机缓存避免长队列等待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11505" y="5122545"/>
            <a:ext cx="2135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对于</a:t>
            </a:r>
            <a:r>
              <a:rPr lang="en-US" altLang="zh-CN" sz="1600">
                <a:solidFill>
                  <a:schemeClr val="tx1"/>
                </a:solidFill>
              </a:rPr>
              <a:t>DC</a:t>
            </a:r>
            <a:r>
              <a:rPr lang="zh-CN" altLang="en-US" sz="1600">
                <a:solidFill>
                  <a:schemeClr val="tx1"/>
                </a:solidFill>
              </a:rPr>
              <a:t>间数据传输的两种应用场景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2629535" y="4939030"/>
            <a:ext cx="330200" cy="11322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04995" y="4871720"/>
            <a:ext cx="590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普通</a:t>
            </a:r>
            <a:r>
              <a:rPr lang="en-US" altLang="zh-CN" sz="1600"/>
              <a:t>RoCE v2</a:t>
            </a:r>
            <a:r>
              <a:rPr lang="zh-CN" altLang="en-US" sz="1600"/>
              <a:t>，使用</a:t>
            </a:r>
            <a:r>
              <a:rPr lang="en-US" altLang="zh-CN" sz="1600"/>
              <a:t>PFC</a:t>
            </a:r>
            <a:r>
              <a:rPr lang="zh-CN" altLang="en-US" sz="1600"/>
              <a:t>来进行拥塞控制，对</a:t>
            </a:r>
            <a:r>
              <a:rPr lang="en-US" altLang="zh-CN" sz="1600"/>
              <a:t>PFC</a:t>
            </a:r>
            <a:r>
              <a:rPr lang="zh-CN" altLang="en-US" sz="1600"/>
              <a:t>消息的及时反馈有要求。</a:t>
            </a:r>
            <a:endParaRPr lang="en-US" altLang="zh-CN" sz="1600"/>
          </a:p>
        </p:txBody>
      </p:sp>
      <p:sp>
        <p:nvSpPr>
          <p:cNvPr id="14" name="文本框 13"/>
          <p:cNvSpPr txBox="1"/>
          <p:nvPr/>
        </p:nvSpPr>
        <p:spPr>
          <a:xfrm>
            <a:off x="3064510" y="4871720"/>
            <a:ext cx="1382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无损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sym typeface="+mn-ea"/>
              </a:rPr>
              <a:t>RDMA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064510" y="5613400"/>
            <a:ext cx="1382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有损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sym typeface="+mn-ea"/>
              </a:rPr>
              <a:t>RDMA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446905" y="5569585"/>
            <a:ext cx="5836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使用</a:t>
            </a:r>
            <a:r>
              <a:rPr lang="en-US" altLang="zh-CN" sz="1600"/>
              <a:t>IRN</a:t>
            </a:r>
            <a:r>
              <a:rPr lang="zh-CN" altLang="en-US" sz="1600"/>
              <a:t>网卡，但需要多个寄存器作为</a:t>
            </a:r>
            <a:r>
              <a:rPr lang="en-US" altLang="zh-CN" sz="1600"/>
              <a:t>bitmap</a:t>
            </a:r>
            <a:r>
              <a:rPr lang="zh-CN" altLang="en-US" sz="1600"/>
              <a:t>来追踪每个数据包的状态，但是</a:t>
            </a:r>
            <a:r>
              <a:rPr lang="en-US" altLang="zh-CN" sz="1600"/>
              <a:t>bitmap</a:t>
            </a:r>
            <a:r>
              <a:rPr lang="zh-CN" altLang="en-US" sz="1600"/>
              <a:t>大小是固定的，而且需要消耗空间来维护</a:t>
            </a:r>
            <a:r>
              <a:rPr lang="en-US" altLang="zh-CN" sz="1600"/>
              <a:t>bitmap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9" grpId="1"/>
      <p:bldP spid="10" grpId="1"/>
      <p:bldP spid="12" grpId="0" animBg="1"/>
      <p:bldP spid="11" grpId="0"/>
      <p:bldP spid="14" grpId="0"/>
      <p:bldP spid="15" grpId="0"/>
      <p:bldP spid="13" grpId="0"/>
      <p:bldP spid="16" grpId="0"/>
      <p:bldP spid="12" grpId="1" animBg="1"/>
      <p:bldP spid="11" grpId="1"/>
      <p:bldP spid="14" grpId="1"/>
      <p:bldP spid="15" grpId="1"/>
      <p:bldP spid="13" grpId="1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7028180" y="3599815"/>
            <a:ext cx="3505200" cy="13462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4945" y="81915"/>
            <a:ext cx="299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场景一：无损的</a:t>
            </a:r>
            <a:r>
              <a:rPr lang="en-US" altLang="zh-CN" sz="2000"/>
              <a:t>RDMA</a:t>
            </a:r>
            <a:endParaRPr lang="en-US" altLang="zh-CN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231775" y="522605"/>
            <a:ext cx="383540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84530" y="908050"/>
            <a:ext cx="250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PFC</a:t>
            </a:r>
            <a:r>
              <a:rPr lang="zh-CN" altLang="en-US"/>
              <a:t>需要更深的缓存</a:t>
            </a:r>
            <a:endParaRPr lang="zh-CN" altLang="en-US"/>
          </a:p>
        </p:txBody>
      </p:sp>
      <p:sp>
        <p:nvSpPr>
          <p:cNvPr id="7" name="左大括号 6"/>
          <p:cNvSpPr/>
          <p:nvPr/>
        </p:nvSpPr>
        <p:spPr>
          <a:xfrm>
            <a:off x="2874645" y="810260"/>
            <a:ext cx="434340" cy="727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79800" y="706120"/>
            <a:ext cx="75120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 sz="1600"/>
              <a:t>跨数据中心有</a:t>
            </a:r>
            <a:r>
              <a:rPr lang="en-US" altLang="zh-CN" sz="1600"/>
              <a:t>DC</a:t>
            </a:r>
            <a:r>
              <a:rPr lang="zh-CN" altLang="en-US" sz="1600"/>
              <a:t>间流量和</a:t>
            </a:r>
            <a:r>
              <a:rPr lang="en-US" altLang="zh-CN" sz="1600"/>
              <a:t>DC</a:t>
            </a:r>
            <a:r>
              <a:rPr lang="zh-CN" altLang="en-US" sz="1600"/>
              <a:t>内流量，两者互相竞争，长链路出现拥塞和背压，高层交换机没有足够的缓存，会造成丢包。</a:t>
            </a:r>
            <a:endParaRPr lang="zh-CN" altLang="en-US" sz="1600"/>
          </a:p>
          <a:p>
            <a:pPr marL="342900" indent="-342900">
              <a:buFont typeface="+mj-ea"/>
              <a:buAutoNum type="circleNumDbPlain"/>
            </a:pPr>
            <a:r>
              <a:rPr lang="en-US" altLang="zh-CN" sz="1600"/>
              <a:t>PFC</a:t>
            </a:r>
            <a:r>
              <a:rPr lang="zh-CN" altLang="en-US" sz="1600"/>
              <a:t>要保证</a:t>
            </a:r>
            <a:r>
              <a:rPr lang="en-US" altLang="zh-CN" sz="1600"/>
              <a:t>0</a:t>
            </a:r>
            <a:r>
              <a:rPr lang="zh-CN" altLang="en-US" sz="1600"/>
              <a:t>丢包前提是交换机的剩余缓存至少需要</a:t>
            </a:r>
            <a:r>
              <a:rPr lang="en-US" altLang="zh-CN" sz="1600"/>
              <a:t>1BDP</a:t>
            </a:r>
            <a:r>
              <a:rPr lang="zh-CN" altLang="en-US" sz="1600"/>
              <a:t>来存储飞行包（</a:t>
            </a:r>
            <a:r>
              <a:rPr lang="en-US" altLang="zh-CN" sz="1600"/>
              <a:t>inflight packet</a:t>
            </a:r>
            <a:r>
              <a:rPr lang="zh-CN" altLang="en-US" sz="1600"/>
              <a:t>），但是发现</a:t>
            </a:r>
            <a:r>
              <a:rPr lang="en-US" altLang="zh-CN" sz="1600"/>
              <a:t>1</a:t>
            </a:r>
            <a:r>
              <a:rPr lang="zh-CN" altLang="en-US" sz="1600"/>
              <a:t>个</a:t>
            </a:r>
            <a:r>
              <a:rPr lang="en-US" altLang="zh-CN" sz="1600"/>
              <a:t>BDP</a:t>
            </a:r>
            <a:r>
              <a:rPr lang="zh-CN" altLang="en-US" sz="1600"/>
              <a:t>不能满足最大吞吐。（下面证明）</a:t>
            </a:r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512060"/>
            <a:ext cx="5146040" cy="2360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220460" y="2199005"/>
                <a:ext cx="30226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优先队列的缓存是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链路带宽是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BW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长距离的链路延迟是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460" y="2199005"/>
                <a:ext cx="3022600" cy="922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71610" y="2247900"/>
                <a:ext cx="2733675" cy="923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队列的输入速率为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输出速率为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阈值为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10" y="2247900"/>
                <a:ext cx="2733675" cy="9232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交换机队列长度超过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就暂停上游数据发送</a:t>
                </a:r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，交换机队列长度小于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就开启上游发送，简单起见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085215" y="5545455"/>
            <a:ext cx="2489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两个辅助结论</a:t>
            </a:r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>
            <a:off x="2694305" y="5306695"/>
            <a:ext cx="158750" cy="9728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079115" y="5178425"/>
                <a:ext cx="8161020" cy="1209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/>
                  <a:t>排出速率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是个固定值，占带宽比重为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输入速率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受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控制在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0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之间交替切换，因此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或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115" y="5178425"/>
                <a:ext cx="8161020" cy="12096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725920" y="6222365"/>
                <a:ext cx="4900295" cy="58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</a:rPr>
                  <a:t>不能直接说交换机缓存队列长度</a:t>
                </a:r>
                <a:r>
                  <a:rPr lang="en-US" altLang="zh-CN" sz="1600">
                    <a:solidFill>
                      <a:schemeClr val="accent4">
                        <a:lumMod val="75000"/>
                      </a:schemeClr>
                    </a:solidFill>
                  </a:rPr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CN" sz="16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 = 0</a:t>
                </a:r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，因为长链路存在延迟，上游还没收到</a:t>
                </a:r>
                <a:r>
                  <a:rPr lang="en-US" altLang="zh-CN" sz="16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PFC Pause</a:t>
                </a:r>
                <a:endParaRPr lang="en-US" altLang="zh-CN" sz="1600">
                  <a:solidFill>
                    <a:schemeClr val="accent4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920" y="6222365"/>
                <a:ext cx="4900295" cy="5848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0" grpId="1"/>
      <p:bldP spid="11" grpId="1"/>
      <p:bldP spid="12" grpId="0"/>
      <p:bldP spid="13" grpId="0" animBg="1"/>
      <p:bldP spid="12" grpId="1"/>
      <p:bldP spid="13" grpId="1" animBg="1"/>
      <p:bldP spid="14" grpId="0"/>
      <p:bldP spid="15" grpId="0" animBg="1"/>
      <p:bldP spid="16" grpId="0"/>
      <p:bldP spid="14" grpId="1"/>
      <p:bldP spid="15" grpId="1" animBg="1"/>
      <p:bldP spid="16" grpId="1"/>
      <p:bldP spid="17" grpId="0"/>
      <p:bldP spid="1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4945" y="81915"/>
            <a:ext cx="299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场景一：无损的</a:t>
            </a:r>
            <a:r>
              <a:rPr lang="en-US" altLang="zh-CN" sz="2000"/>
              <a:t>RDMA</a:t>
            </a:r>
            <a:endParaRPr lang="en-US" altLang="zh-CN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231775" y="522605"/>
            <a:ext cx="383540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810895"/>
            <a:ext cx="5035550" cy="1957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优先队列的缓存是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链路带宽是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BW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长距离的链路延迟是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71610" y="1021080"/>
                <a:ext cx="2733675" cy="923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队列的输入速率为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输出速率为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阈值为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10" y="1021080"/>
                <a:ext cx="2733675" cy="9232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交换机队列长度超过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就暂停上游数据发送</a:t>
                </a:r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，交换机队列长度小于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就开启上游发送，简单起见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l"/>
                </a:pP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或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790" y="3287395"/>
            <a:ext cx="4943475" cy="3238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5671185" y="2599055"/>
                <a:ext cx="563880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</a:rPr>
                  <a:t>两种情况</a:t>
                </a:r>
                <a:r>
                  <a:rPr lang="zh-CN" altLang="en-US" sz="1600"/>
                  <a:t>：有吞吐量缺失（存在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CN" sz="1600"/>
                  <a:t>=0</a:t>
                </a:r>
                <a:r>
                  <a:rPr lang="zh-CN" altLang="en-US" sz="1600"/>
                  <a:t>）</a:t>
                </a:r>
                <a:r>
                  <a:rPr lang="en-US" altLang="zh-CN" sz="1600"/>
                  <a:t>/ </a:t>
                </a:r>
                <a:r>
                  <a:rPr lang="zh-CN" altLang="en-US" sz="1600"/>
                  <a:t>没有吞吐量缺失</a:t>
                </a:r>
                <a:endParaRPr lang="zh-CN" altLang="en-US" sz="16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185" y="2599055"/>
                <a:ext cx="5638800" cy="33718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 flipV="1">
            <a:off x="2688590" y="4354195"/>
            <a:ext cx="347853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335405" y="6354445"/>
            <a:ext cx="411861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703195" y="4131310"/>
            <a:ext cx="0" cy="22225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666365" y="4361180"/>
            <a:ext cx="36830" cy="143764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3888105" y="3943350"/>
            <a:ext cx="55245" cy="186245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5192395" y="4131310"/>
            <a:ext cx="8255" cy="22987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355090" y="4383405"/>
            <a:ext cx="1363345" cy="142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673350" y="4383405"/>
            <a:ext cx="1266825" cy="140779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3877945" y="4383405"/>
            <a:ext cx="1325880" cy="142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524000" y="4109085"/>
            <a:ext cx="114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下游（收）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235" y="6188710"/>
            <a:ext cx="114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上游（发）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1335405" y="5206365"/>
            <a:ext cx="36830" cy="1148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1369695" y="5798820"/>
            <a:ext cx="2496185" cy="2921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3874135" y="5806440"/>
            <a:ext cx="14605" cy="548005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3863340" y="6353810"/>
            <a:ext cx="1355725" cy="762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81635" y="5109210"/>
            <a:ext cx="1288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发送速率</a:t>
            </a:r>
            <a:r>
              <a:rPr lang="en-US" altLang="zh-CN" sz="1400"/>
              <a:t>v</a:t>
            </a:r>
            <a:endParaRPr lang="en-US" altLang="zh-CN" sz="1400"/>
          </a:p>
        </p:txBody>
      </p:sp>
      <p:sp>
        <p:nvSpPr>
          <p:cNvPr id="38" name="文本框 37"/>
          <p:cNvSpPr txBox="1"/>
          <p:nvPr/>
        </p:nvSpPr>
        <p:spPr>
          <a:xfrm>
            <a:off x="5417185" y="6355080"/>
            <a:ext cx="38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5355590" y="4440555"/>
            <a:ext cx="38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855980" y="5687695"/>
            <a:ext cx="459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BW</a:t>
            </a:r>
            <a:endParaRPr lang="en-US" altLang="zh-CN" sz="1400"/>
          </a:p>
        </p:txBody>
      </p:sp>
      <p:cxnSp>
        <p:nvCxnSpPr>
          <p:cNvPr id="41" name="直接箭头连接符 40"/>
          <p:cNvCxnSpPr/>
          <p:nvPr/>
        </p:nvCxnSpPr>
        <p:spPr>
          <a:xfrm flipV="1">
            <a:off x="2686050" y="3442970"/>
            <a:ext cx="33655" cy="1764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315085" y="3439160"/>
            <a:ext cx="1346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队列增长速率</a:t>
            </a:r>
            <a:r>
              <a:rPr lang="en-US" altLang="zh-CN" sz="1400"/>
              <a:t>v</a:t>
            </a:r>
            <a:endParaRPr lang="en-US" altLang="zh-CN" sz="1400"/>
          </a:p>
        </p:txBody>
      </p:sp>
      <p:sp>
        <p:nvSpPr>
          <p:cNvPr id="43" name="左大括号 42"/>
          <p:cNvSpPr/>
          <p:nvPr/>
        </p:nvSpPr>
        <p:spPr>
          <a:xfrm rot="16200000">
            <a:off x="3201035" y="3952240"/>
            <a:ext cx="227965" cy="1112520"/>
          </a:xfrm>
          <a:prstGeom prst="leftBrace">
            <a:avLst>
              <a:gd name="adj1" fmla="val 80919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左大括号 43"/>
          <p:cNvSpPr/>
          <p:nvPr/>
        </p:nvSpPr>
        <p:spPr>
          <a:xfrm rot="16200000">
            <a:off x="4439285" y="3952240"/>
            <a:ext cx="227965" cy="1112520"/>
          </a:xfrm>
          <a:prstGeom prst="leftBrace">
            <a:avLst>
              <a:gd name="adj1" fmla="val 80919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164840" y="4563110"/>
            <a:ext cx="38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4388485" y="4563110"/>
            <a:ext cx="38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</a:t>
            </a:r>
            <a:endParaRPr lang="en-US" altLang="zh-CN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2711450" y="3943350"/>
            <a:ext cx="2482850" cy="22225"/>
          </a:xfrm>
          <a:prstGeom prst="line">
            <a:avLst/>
          </a:prstGeom>
          <a:ln w="31750" cap="rnd">
            <a:solidFill>
              <a:schemeClr val="accent4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5200650" y="3930650"/>
            <a:ext cx="0" cy="939800"/>
          </a:xfrm>
          <a:prstGeom prst="line">
            <a:avLst/>
          </a:prstGeom>
          <a:ln w="31750" cap="rnd">
            <a:solidFill>
              <a:schemeClr val="accent4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5213350" y="4870450"/>
            <a:ext cx="730250" cy="0"/>
          </a:xfrm>
          <a:prstGeom prst="line">
            <a:avLst/>
          </a:prstGeom>
          <a:ln w="31750" cap="rnd">
            <a:solidFill>
              <a:schemeClr val="accent4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791970" y="3738245"/>
                <a:ext cx="96710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(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 sz="1400"/>
                  <a:t>)BW</a:t>
                </a:r>
                <a:endParaRPr lang="en-US" altLang="zh-CN" sz="140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0" y="3738245"/>
                <a:ext cx="967105" cy="3067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/>
          <p:cNvCxnSpPr/>
          <p:nvPr/>
        </p:nvCxnSpPr>
        <p:spPr>
          <a:xfrm flipH="1" flipV="1">
            <a:off x="2698750" y="4867275"/>
            <a:ext cx="2508250" cy="63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1830070" y="4767580"/>
                <a:ext cx="1167765" cy="3416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𝐵𝑊</m:t>
                      </m:r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070" y="4767580"/>
                <a:ext cx="1167765" cy="34163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/>
          <p:cNvCxnSpPr>
            <a:stCxn id="58" idx="1"/>
          </p:cNvCxnSpPr>
          <p:nvPr/>
        </p:nvCxnSpPr>
        <p:spPr>
          <a:xfrm flipH="1">
            <a:off x="2711450" y="3724275"/>
            <a:ext cx="260350" cy="2190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圆角矩形 57"/>
          <p:cNvSpPr/>
          <p:nvPr/>
        </p:nvSpPr>
        <p:spPr>
          <a:xfrm>
            <a:off x="2971800" y="3530600"/>
            <a:ext cx="889000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ym typeface="+mn-ea"/>
            </a:endParaRPr>
          </a:p>
          <a:p>
            <a:pPr algn="ctr"/>
            <a:r>
              <a:rPr lang="zh-CN" altLang="en-US" sz="1200">
                <a:sym typeface="+mn-ea"/>
              </a:rPr>
              <a:t>下游发出</a:t>
            </a:r>
            <a:r>
              <a:rPr lang="en-US" altLang="zh-CN" sz="1200">
                <a:sym typeface="+mn-ea"/>
              </a:rPr>
              <a:t>Pause</a:t>
            </a:r>
            <a:r>
              <a:rPr lang="zh-CN" altLang="en-US" sz="1200">
                <a:sym typeface="+mn-ea"/>
              </a:rPr>
              <a:t>信号</a:t>
            </a:r>
            <a:endParaRPr lang="zh-CN" altLang="en-US" sz="1200"/>
          </a:p>
          <a:p>
            <a:pPr algn="ctr"/>
            <a:endParaRPr lang="zh-CN" altLang="en-US" sz="1200"/>
          </a:p>
        </p:txBody>
      </p:sp>
      <p:cxnSp>
        <p:nvCxnSpPr>
          <p:cNvPr id="61" name="直接箭头连接符 60"/>
          <p:cNvCxnSpPr>
            <a:stCxn id="62" idx="1"/>
          </p:cNvCxnSpPr>
          <p:nvPr/>
        </p:nvCxnSpPr>
        <p:spPr>
          <a:xfrm flipH="1">
            <a:off x="3960495" y="3724275"/>
            <a:ext cx="260350" cy="2190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4220845" y="3530600"/>
            <a:ext cx="889000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ym typeface="+mn-ea"/>
            </a:endParaRPr>
          </a:p>
          <a:p>
            <a:pPr algn="ctr"/>
            <a:r>
              <a:rPr lang="zh-CN" altLang="en-US" sz="1200">
                <a:sym typeface="+mn-ea"/>
              </a:rPr>
              <a:t>上游收到</a:t>
            </a:r>
            <a:r>
              <a:rPr lang="en-US" altLang="zh-CN" sz="1200">
                <a:sym typeface="+mn-ea"/>
              </a:rPr>
              <a:t>Pause</a:t>
            </a:r>
            <a:r>
              <a:rPr lang="zh-CN" altLang="en-US" sz="1200">
                <a:sym typeface="+mn-ea"/>
              </a:rPr>
              <a:t>信号</a:t>
            </a:r>
            <a:endParaRPr lang="zh-CN" altLang="en-US" sz="1200"/>
          </a:p>
          <a:p>
            <a:pPr algn="ctr"/>
            <a:endParaRPr lang="zh-CN" altLang="en-US" sz="1200"/>
          </a:p>
        </p:txBody>
      </p:sp>
      <p:cxnSp>
        <p:nvCxnSpPr>
          <p:cNvPr id="64" name="直接箭头连接符 63"/>
          <p:cNvCxnSpPr/>
          <p:nvPr/>
        </p:nvCxnSpPr>
        <p:spPr>
          <a:xfrm flipH="1">
            <a:off x="5207000" y="3917950"/>
            <a:ext cx="247650" cy="3175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/>
        </p:nvSpPr>
        <p:spPr>
          <a:xfrm>
            <a:off x="5436235" y="3657600"/>
            <a:ext cx="730885" cy="4191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队列长度下降</a:t>
            </a:r>
            <a:endParaRPr lang="zh-CN" altLang="en-US" sz="1200"/>
          </a:p>
        </p:txBody>
      </p:sp>
      <p:sp>
        <p:nvSpPr>
          <p:cNvPr id="67" name="椭圆 66"/>
          <p:cNvSpPr/>
          <p:nvPr/>
        </p:nvSpPr>
        <p:spPr>
          <a:xfrm>
            <a:off x="2562860" y="4243705"/>
            <a:ext cx="243840" cy="2286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68" name="椭圆 67"/>
          <p:cNvSpPr/>
          <p:nvPr/>
        </p:nvSpPr>
        <p:spPr>
          <a:xfrm>
            <a:off x="3823335" y="4243705"/>
            <a:ext cx="243840" cy="2286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69" name="椭圆 68"/>
          <p:cNvSpPr/>
          <p:nvPr/>
        </p:nvSpPr>
        <p:spPr>
          <a:xfrm>
            <a:off x="5074285" y="4243705"/>
            <a:ext cx="243840" cy="2286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70" name="文本框 69"/>
          <p:cNvSpPr txBox="1"/>
          <p:nvPr/>
        </p:nvSpPr>
        <p:spPr>
          <a:xfrm>
            <a:off x="7471410" y="3699510"/>
            <a:ext cx="177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</a:t>
            </a:r>
            <a:endParaRPr lang="en-US" altLang="zh-CN" sz="1400"/>
          </a:p>
        </p:txBody>
      </p:sp>
      <p:sp>
        <p:nvSpPr>
          <p:cNvPr id="72" name="椭圆 71"/>
          <p:cNvSpPr/>
          <p:nvPr/>
        </p:nvSpPr>
        <p:spPr>
          <a:xfrm>
            <a:off x="7614920" y="39319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7899400" y="39319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766685" y="3699510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C</a:t>
            </a:r>
            <a:endParaRPr lang="en-US" altLang="zh-CN" sz="1400"/>
          </a:p>
        </p:txBody>
      </p:sp>
      <p:cxnSp>
        <p:nvCxnSpPr>
          <p:cNvPr id="75" name="直接箭头连接符 74"/>
          <p:cNvCxnSpPr/>
          <p:nvPr/>
        </p:nvCxnSpPr>
        <p:spPr>
          <a:xfrm>
            <a:off x="7508240" y="3606800"/>
            <a:ext cx="66040" cy="167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>
          <a:xfrm>
            <a:off x="7974965" y="3931920"/>
            <a:ext cx="90805" cy="8128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8279765" y="3917950"/>
            <a:ext cx="106045" cy="9525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9" name="直接箭头连接符 78"/>
          <p:cNvCxnSpPr>
            <a:endCxn id="76" idx="7"/>
          </p:cNvCxnSpPr>
          <p:nvPr/>
        </p:nvCxnSpPr>
        <p:spPr>
          <a:xfrm flipH="1">
            <a:off x="8052435" y="3774440"/>
            <a:ext cx="191135" cy="1695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>
          <a:xfrm>
            <a:off x="6985000" y="3385820"/>
            <a:ext cx="816610" cy="2139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ym typeface="+mn-ea"/>
            </a:endParaRPr>
          </a:p>
          <a:p>
            <a:pPr algn="ctr"/>
            <a:r>
              <a:rPr lang="en-US" altLang="zh-CN" sz="1000">
                <a:sym typeface="+mn-ea"/>
              </a:rPr>
              <a:t>PFC pause</a:t>
            </a:r>
            <a:endParaRPr lang="en-US" altLang="zh-CN" sz="1000"/>
          </a:p>
          <a:p>
            <a:pPr algn="ctr"/>
            <a:endParaRPr lang="en-US" altLang="zh-CN" sz="1000"/>
          </a:p>
        </p:txBody>
      </p:sp>
      <p:sp>
        <p:nvSpPr>
          <p:cNvPr id="82" name="圆角矩形 81"/>
          <p:cNvSpPr/>
          <p:nvPr/>
        </p:nvSpPr>
        <p:spPr>
          <a:xfrm>
            <a:off x="8243570" y="3481705"/>
            <a:ext cx="659765" cy="33210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ym typeface="+mn-ea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sym typeface="+mn-ea"/>
              </a:rPr>
              <a:t>PFC resume</a:t>
            </a:r>
            <a:endParaRPr lang="en-US" altLang="zh-CN" sz="1000">
              <a:solidFill>
                <a:schemeClr val="tx1"/>
              </a:solidFill>
            </a:endParaRPr>
          </a:p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944485" y="3699510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D</a:t>
            </a:r>
            <a:endParaRPr lang="en-US" altLang="zh-CN" sz="1400"/>
          </a:p>
        </p:txBody>
      </p:sp>
      <p:sp>
        <p:nvSpPr>
          <p:cNvPr id="84" name="文本框 83"/>
          <p:cNvSpPr txBox="1"/>
          <p:nvPr/>
        </p:nvSpPr>
        <p:spPr>
          <a:xfrm>
            <a:off x="8279765" y="3738245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E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12" grpId="0"/>
      <p:bldP spid="70" grpId="0"/>
      <p:bldP spid="72" grpId="0" animBg="1"/>
      <p:bldP spid="73" grpId="0" animBg="1"/>
      <p:bldP spid="74" grpId="0"/>
      <p:bldP spid="76" grpId="0" animBg="1"/>
      <p:bldP spid="78" grpId="0" animBg="1"/>
      <p:bldP spid="81" grpId="0" animBg="1"/>
      <p:bldP spid="82" grpId="0" animBg="1"/>
      <p:bldP spid="83" grpId="0"/>
      <p:bldP spid="84" grpId="0"/>
      <p:bldP spid="12" grpId="1"/>
      <p:bldP spid="70" grpId="1"/>
      <p:bldP spid="72" grpId="1" animBg="1"/>
      <p:bldP spid="73" grpId="1" animBg="1"/>
      <p:bldP spid="74" grpId="1"/>
      <p:bldP spid="76" grpId="1" animBg="1"/>
      <p:bldP spid="78" grpId="1" animBg="1"/>
      <p:bldP spid="81" grpId="1" animBg="1"/>
      <p:bldP spid="82" grpId="1" animBg="1"/>
      <p:bldP spid="83" grpId="1"/>
      <p:bldP spid="84" grpId="1"/>
      <p:bldP spid="31" grpId="0"/>
      <p:bldP spid="32" grpId="0"/>
      <p:bldP spid="37" grpId="0"/>
      <p:bldP spid="38" grpId="0"/>
      <p:bldP spid="39" grpId="0"/>
      <p:bldP spid="40" grpId="0"/>
      <p:bldP spid="42" grpId="0"/>
      <p:bldP spid="43" grpId="0" animBg="1"/>
      <p:bldP spid="44" grpId="0" animBg="1"/>
      <p:bldP spid="45" grpId="0"/>
      <p:bldP spid="48" grpId="0"/>
      <p:bldP spid="52" grpId="0"/>
      <p:bldP spid="55" grpId="0"/>
      <p:bldP spid="58" grpId="0" animBg="1"/>
      <p:bldP spid="62" grpId="0" animBg="1"/>
      <p:bldP spid="65" grpId="0" animBg="1"/>
      <p:bldP spid="67" grpId="0" animBg="1"/>
      <p:bldP spid="68" grpId="0" animBg="1"/>
      <p:bldP spid="69" grpId="0" animBg="1"/>
      <p:bldP spid="31" grpId="1"/>
      <p:bldP spid="32" grpId="1"/>
      <p:bldP spid="37" grpId="1"/>
      <p:bldP spid="38" grpId="1"/>
      <p:bldP spid="39" grpId="1"/>
      <p:bldP spid="40" grpId="1"/>
      <p:bldP spid="42" grpId="1"/>
      <p:bldP spid="43" grpId="1" animBg="1"/>
      <p:bldP spid="44" grpId="1" animBg="1"/>
      <p:bldP spid="45" grpId="1"/>
      <p:bldP spid="48" grpId="1"/>
      <p:bldP spid="52" grpId="1"/>
      <p:bldP spid="55" grpId="1"/>
      <p:bldP spid="58" grpId="1" animBg="1"/>
      <p:bldP spid="62" grpId="1" animBg="1"/>
      <p:bldP spid="65" grpId="1" animBg="1"/>
      <p:bldP spid="67" grpId="1" animBg="1"/>
      <p:bldP spid="68" grpId="1" animBg="1"/>
      <p:bldP spid="6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990" y="3185795"/>
            <a:ext cx="1762125" cy="5524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4945" y="81915"/>
            <a:ext cx="299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场景一：无损的</a:t>
            </a:r>
            <a:r>
              <a:rPr lang="en-US" altLang="zh-CN" sz="2000"/>
              <a:t>RDMA</a:t>
            </a:r>
            <a:endParaRPr lang="en-US" altLang="zh-CN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231775" y="522605"/>
            <a:ext cx="383540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5" y="810895"/>
            <a:ext cx="4425950" cy="17202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优先队列的缓存是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链路带宽是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BW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长距离的链路延迟是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71610" y="1021080"/>
                <a:ext cx="273367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队列的输入速率为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输出速率为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阈值为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10" y="1021080"/>
                <a:ext cx="2733675" cy="9220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交换机队列长度超过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就暂停上游数据发送</a:t>
                </a:r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，交换机队列长度小于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就开启上游发送，简单起见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l"/>
                </a:pP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或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0790" y="3287395"/>
            <a:ext cx="4943475" cy="3238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5671185" y="2599055"/>
                <a:ext cx="563880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</a:rPr>
                  <a:t>两种情况</a:t>
                </a:r>
                <a:r>
                  <a:rPr lang="zh-CN" altLang="en-US" sz="1600"/>
                  <a:t>：有吞吐量缺失（存在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CN" sz="1600"/>
                  <a:t>=0</a:t>
                </a:r>
                <a:r>
                  <a:rPr lang="zh-CN" altLang="en-US" sz="1600"/>
                  <a:t>）</a:t>
                </a:r>
                <a:r>
                  <a:rPr lang="en-US" altLang="zh-CN" sz="1600"/>
                  <a:t>/ </a:t>
                </a:r>
                <a:r>
                  <a:rPr lang="zh-CN" altLang="en-US" sz="1600"/>
                  <a:t>没有吞吐量缺失</a:t>
                </a:r>
                <a:endParaRPr lang="zh-CN" altLang="en-US" sz="16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185" y="2599055"/>
                <a:ext cx="5638800" cy="33718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/>
          <p:cNvSpPr txBox="1"/>
          <p:nvPr/>
        </p:nvSpPr>
        <p:spPr>
          <a:xfrm>
            <a:off x="7471410" y="3699510"/>
            <a:ext cx="177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</a:t>
            </a:r>
            <a:endParaRPr lang="en-US" altLang="zh-CN" sz="1400"/>
          </a:p>
        </p:txBody>
      </p:sp>
      <p:sp>
        <p:nvSpPr>
          <p:cNvPr id="72" name="椭圆 71"/>
          <p:cNvSpPr/>
          <p:nvPr/>
        </p:nvSpPr>
        <p:spPr>
          <a:xfrm>
            <a:off x="7614920" y="39319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7899400" y="39319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766685" y="3699510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C</a:t>
            </a:r>
            <a:endParaRPr lang="en-US" altLang="zh-CN" sz="1400"/>
          </a:p>
        </p:txBody>
      </p:sp>
      <p:cxnSp>
        <p:nvCxnSpPr>
          <p:cNvPr id="75" name="直接箭头连接符 74"/>
          <p:cNvCxnSpPr/>
          <p:nvPr/>
        </p:nvCxnSpPr>
        <p:spPr>
          <a:xfrm>
            <a:off x="7508240" y="3606800"/>
            <a:ext cx="66040" cy="167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>
          <a:xfrm>
            <a:off x="7974965" y="3931920"/>
            <a:ext cx="90805" cy="8128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8279765" y="3917950"/>
            <a:ext cx="106045" cy="9525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9" name="直接箭头连接符 78"/>
          <p:cNvCxnSpPr>
            <a:endCxn id="76" idx="7"/>
          </p:cNvCxnSpPr>
          <p:nvPr/>
        </p:nvCxnSpPr>
        <p:spPr>
          <a:xfrm flipH="1">
            <a:off x="8052435" y="3774440"/>
            <a:ext cx="191135" cy="1695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>
          <a:xfrm>
            <a:off x="6985000" y="3385820"/>
            <a:ext cx="816610" cy="2139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ym typeface="+mn-ea"/>
            </a:endParaRPr>
          </a:p>
          <a:p>
            <a:pPr algn="ctr"/>
            <a:r>
              <a:rPr lang="en-US" altLang="zh-CN" sz="1000">
                <a:sym typeface="+mn-ea"/>
              </a:rPr>
              <a:t>PFC pause</a:t>
            </a:r>
            <a:endParaRPr lang="en-US" altLang="zh-CN" sz="1000"/>
          </a:p>
          <a:p>
            <a:pPr algn="ctr"/>
            <a:endParaRPr lang="en-US" altLang="zh-CN" sz="1000"/>
          </a:p>
        </p:txBody>
      </p:sp>
      <p:sp>
        <p:nvSpPr>
          <p:cNvPr id="82" name="圆角矩形 81"/>
          <p:cNvSpPr/>
          <p:nvPr/>
        </p:nvSpPr>
        <p:spPr>
          <a:xfrm>
            <a:off x="8243570" y="3481705"/>
            <a:ext cx="659765" cy="33210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ym typeface="+mn-ea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sym typeface="+mn-ea"/>
              </a:rPr>
              <a:t>PFC resume</a:t>
            </a:r>
            <a:endParaRPr lang="en-US" altLang="zh-CN" sz="1000">
              <a:solidFill>
                <a:schemeClr val="tx1"/>
              </a:solidFill>
            </a:endParaRPr>
          </a:p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944485" y="3699510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D</a:t>
            </a:r>
            <a:endParaRPr lang="en-US" altLang="zh-CN" sz="1400"/>
          </a:p>
        </p:txBody>
      </p:sp>
      <p:sp>
        <p:nvSpPr>
          <p:cNvPr id="84" name="文本框 83"/>
          <p:cNvSpPr txBox="1"/>
          <p:nvPr/>
        </p:nvSpPr>
        <p:spPr>
          <a:xfrm>
            <a:off x="8279765" y="3738245"/>
            <a:ext cx="17780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E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37185" y="2895600"/>
                <a:ext cx="4902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(1) </a:t>
                </a:r>
                <a:r>
                  <a:rPr lang="zh-CN" altLang="en-US" sz="1600"/>
                  <a:t>清空</a:t>
                </a:r>
                <a:r>
                  <a:rPr lang="en-US" altLang="zh-CN" sz="1600"/>
                  <a:t>PFC</a:t>
                </a:r>
                <a:r>
                  <a:rPr lang="zh-CN" altLang="en-US" sz="1600"/>
                  <a:t>阈值队列的时间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16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895600"/>
                <a:ext cx="4902200" cy="368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94945" y="3699510"/>
                <a:ext cx="5640070" cy="4210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1600"/>
                  <a:t>（</a:t>
                </a:r>
                <a:r>
                  <a:rPr lang="en-US" altLang="zh-CN" sz="1600"/>
                  <a:t>2</a:t>
                </a:r>
                <a:r>
                  <a:rPr lang="zh-CN" altLang="en-US" sz="1600"/>
                  <a:t>）队列长度增加到阈值时间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600"/>
              </a:p>
              <a:p>
                <a:r>
                  <a:rPr lang="en-US" altLang="zh-CN" sz="1600"/>
                  <a:t> </a:t>
                </a:r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45" y="3699510"/>
                <a:ext cx="5640070" cy="421005"/>
              </a:xfrm>
              <a:prstGeom prst="rect">
                <a:avLst/>
              </a:prstGeom>
              <a:blipFill rotWithShape="1">
                <a:blip r:embed="rId11"/>
                <a:stretch>
                  <a:fillRect b="-26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81050" y="4076700"/>
                <a:ext cx="5130165" cy="877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>
                    <a:sym typeface="+mn-ea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14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，队列长度从</a:t>
                </a:r>
                <a:r>
                  <a: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0</a:t>
                </a:r>
                <a:r>
                  <a:rPr lang="zh-CN" altLang="en-US" sz="14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开始累加；当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14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，队列长度从</a:t>
                </a:r>
                <a:endParaRPr lang="zh-CN" altLang="en-US" sz="140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</m:oMath>
                </a14:m>
                <a:r>
                  <a:rPr lang="zh-CN" altLang="en-US" sz="14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开始累加，队列增长速度为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)∗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。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4076700"/>
                <a:ext cx="5130165" cy="87757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4145" y="4718685"/>
            <a:ext cx="2838450" cy="771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067175" y="5046345"/>
                <a:ext cx="2457450" cy="541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𝑜𝑓𝑓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𝑜𝑓𝑓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1400">
                              <a:latin typeface="Cambria Math" panose="02040503050406030204" charset="0"/>
                            </a:rPr>
                            <m:t> </m:t>
                          </m:r>
                        </m:num>
                        <m:den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（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)∗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</m:den>
                      </m:f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75" y="5046345"/>
                <a:ext cx="2457450" cy="5410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/>
          <p:nvPr/>
        </p:nvCxnSpPr>
        <p:spPr>
          <a:xfrm flipH="1">
            <a:off x="3812540" y="5397500"/>
            <a:ext cx="368300" cy="127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37185" y="5587365"/>
                <a:ext cx="4902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(3)</a:t>
                </a:r>
                <a:r>
                  <a:rPr lang="en-US" altLang="zh-CN" sz="1600"/>
                  <a:t> </a:t>
                </a:r>
                <a:r>
                  <a:rPr lang="zh-CN" altLang="en-US" sz="1600"/>
                  <a:t>队列长度降低到</a:t>
                </a:r>
                <a:r>
                  <a:rPr lang="en-US" altLang="zh-CN" sz="1600"/>
                  <a:t>PFC</a:t>
                </a:r>
                <a:r>
                  <a:rPr lang="zh-CN" altLang="en-US" sz="1600"/>
                  <a:t>阈值时间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5587365"/>
                <a:ext cx="4902200" cy="3683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1300" y="6132830"/>
            <a:ext cx="1524000" cy="666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3670300" y="6165850"/>
                <a:ext cx="2667000" cy="556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</m:den>
                      </m:f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300" y="6165850"/>
                <a:ext cx="2667000" cy="55626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/>
          <p:cNvCxnSpPr/>
          <p:nvPr/>
        </p:nvCxnSpPr>
        <p:spPr>
          <a:xfrm flipH="1">
            <a:off x="3444240" y="6443345"/>
            <a:ext cx="368300" cy="127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8" grpId="1"/>
      <p:bldP spid="13" grpId="1"/>
      <p:bldP spid="15" grpId="1"/>
      <p:bldP spid="20" grpId="0"/>
      <p:bldP spid="46" grpId="0"/>
      <p:bldP spid="20" grpId="1"/>
      <p:bldP spid="4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4945" y="81915"/>
            <a:ext cx="299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场景一：无损的</a:t>
            </a:r>
            <a:r>
              <a:rPr lang="en-US" altLang="zh-CN" sz="2000"/>
              <a:t>RDMA</a:t>
            </a:r>
            <a:endParaRPr lang="en-US" altLang="zh-CN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231775" y="522605"/>
            <a:ext cx="383540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810895"/>
            <a:ext cx="5035550" cy="1957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优先队列的缓存是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链路带宽是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BW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长距离的链路延迟是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1021080"/>
                <a:ext cx="3022600" cy="922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71610" y="1021080"/>
                <a:ext cx="2733675" cy="923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队列的输入速率为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输出速率为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阈值为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10" y="1021080"/>
                <a:ext cx="2733675" cy="9232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交换机队列长度超过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就暂停上游数据发送</a:t>
                </a:r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，交换机队列长度小于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就开启上游发送，简单起见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450" y="3699510"/>
                <a:ext cx="3272790" cy="14789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l"/>
                </a:pP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315" y="2053590"/>
                <a:ext cx="4600575" cy="6451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𝐵𝑊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或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015" y="2089785"/>
                <a:ext cx="2376805" cy="3606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790" y="3287395"/>
            <a:ext cx="4943475" cy="3238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166485" y="2595880"/>
                <a:ext cx="563880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solidFill>
                      <a:schemeClr val="accent4">
                        <a:lumMod val="75000"/>
                      </a:schemeClr>
                    </a:solidFill>
                  </a:rPr>
                  <a:t>两种情况</a:t>
                </a:r>
                <a:r>
                  <a:rPr lang="zh-CN" altLang="en-US" sz="1600"/>
                  <a:t>：有吞吐量缺失（存在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 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CN" sz="1600"/>
                  <a:t>=0</a:t>
                </a:r>
                <a:r>
                  <a:rPr lang="zh-CN" altLang="en-US" sz="1600"/>
                  <a:t>）</a:t>
                </a:r>
                <a:r>
                  <a:rPr lang="en-US" altLang="zh-CN" sz="1600"/>
                  <a:t>/ </a:t>
                </a:r>
                <a:r>
                  <a:rPr lang="zh-CN" altLang="en-US" sz="1600"/>
                  <a:t>没有吞吐量缺失</a:t>
                </a:r>
                <a:endParaRPr lang="zh-CN" altLang="en-US" sz="16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485" y="2595880"/>
                <a:ext cx="5638800" cy="33718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20650" y="3213100"/>
                <a:ext cx="6710680" cy="9950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30000"/>
                  </a:lnSpc>
                  <a:buFont typeface="Wingdings" panose="05000000000000000000" charset="0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𝑎𝑐𝑡𝑖𝑣𝑒</m:t>
                        </m:r>
                      </m:sub>
                    </m:sSub>
                  </m:oMath>
                </a14:m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为发送端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（上游）发送数据的时间，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𝑎𝑐𝑡𝑖𝑣𝑒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</m:oMath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30000"/>
                  </a:lnSpc>
                  <a:buFont typeface="Wingdings" panose="05000000000000000000" charset="0"/>
                  <a:buChar char="l"/>
                </a:pP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为队列长度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“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增加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—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减少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”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一个周期，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</m:oMath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" y="3213100"/>
                <a:ext cx="6710680" cy="99504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219200" y="4114800"/>
                <a:ext cx="4349750" cy="339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 b="1">
                    <a:solidFill>
                      <a:schemeClr val="accent1"/>
                    </a:solidFill>
                  </a:rPr>
                  <a:t>为了最大吞吐量，设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𝒐𝒇𝒇</m:t>
                        </m:r>
                      </m:sub>
                    </m:sSub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600" b="1" i="1">
                        <a:solidFill>
                          <a:schemeClr val="accent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𝑩𝑾</m:t>
                    </m:r>
                  </m:oMath>
                </a14:m>
                <a:endParaRPr lang="en-US" altLang="zh-CN" sz="1600" b="1" i="1">
                  <a:solidFill>
                    <a:schemeClr val="accent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114800"/>
                <a:ext cx="4349750" cy="33972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324485" y="4722495"/>
            <a:ext cx="3822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此时长链路的利用率可写为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650" y="5178425"/>
            <a:ext cx="6334125" cy="11588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968750" y="4832350"/>
                <a:ext cx="14986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&lt;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50" y="4832350"/>
                <a:ext cx="1498600" cy="3683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098550" y="6381750"/>
                <a:ext cx="580263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 b="1">
                    <a:solidFill>
                      <a:schemeClr val="accent4">
                        <a:lumMod val="75000"/>
                      </a:schemeClr>
                    </a:solidFill>
                  </a:rPr>
                  <a:t>需要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𝑫</m:t>
                    </m:r>
                  </m:oMath>
                </a14:m>
                <a:r>
                  <a:rPr lang="zh-CN" altLang="en-US" sz="1600" b="1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，可以算出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𝟒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𝑫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𝑩𝑾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6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𝑩𝑫𝑷</m:t>
                    </m:r>
                  </m:oMath>
                </a14:m>
                <a:endParaRPr lang="en-US" altLang="zh-CN" sz="1600" b="1" i="1">
                  <a:solidFill>
                    <a:schemeClr val="accent4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50" y="6381750"/>
                <a:ext cx="5802630" cy="33718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圆角矩形 25"/>
          <p:cNvSpPr/>
          <p:nvPr/>
        </p:nvSpPr>
        <p:spPr>
          <a:xfrm>
            <a:off x="8439150" y="1606550"/>
            <a:ext cx="311150" cy="304800"/>
          </a:xfrm>
          <a:prstGeom prst="round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8191500" y="2053590"/>
            <a:ext cx="311150" cy="304800"/>
          </a:xfrm>
          <a:prstGeom prst="round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6" grpId="0"/>
      <p:bldP spid="16" grpId="1"/>
      <p:bldP spid="17" grpId="0"/>
      <p:bldP spid="1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4945" y="81915"/>
            <a:ext cx="299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场景二：有损的</a:t>
            </a:r>
            <a:r>
              <a:rPr lang="en-US" altLang="zh-CN" sz="2000"/>
              <a:t>RDMA</a:t>
            </a:r>
            <a:endParaRPr lang="en-US" altLang="zh-CN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231775" y="522605"/>
            <a:ext cx="383540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48080" y="1041400"/>
            <a:ext cx="915479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         </a:t>
            </a:r>
            <a:r>
              <a:rPr lang="zh-CN" altLang="en-US"/>
              <a:t>与</a:t>
            </a:r>
            <a:r>
              <a:rPr lang="en-US" altLang="zh-CN"/>
              <a:t>PFC</a:t>
            </a:r>
            <a:r>
              <a:rPr lang="zh-CN" altLang="en-US"/>
              <a:t>机制不同，当长距离流量和数据中心流量竞争时，</a:t>
            </a:r>
            <a:r>
              <a:rPr lang="en-US" altLang="zh-CN"/>
              <a:t>IRN</a:t>
            </a:r>
            <a:r>
              <a:rPr lang="zh-CN" altLang="en-US"/>
              <a:t>不会停止长距离链路上的数据传输，而是在拥塞节点直接丢包。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 </a:t>
            </a:r>
            <a:r>
              <a:rPr lang="en-US" altLang="zh-CN"/>
              <a:t>       </a:t>
            </a:r>
            <a:r>
              <a:rPr lang="zh-CN" altLang="en-US"/>
              <a:t>为了实现高性能，</a:t>
            </a:r>
            <a:r>
              <a:rPr lang="en-US" altLang="zh-CN"/>
              <a:t>IRN</a:t>
            </a:r>
            <a:r>
              <a:rPr lang="zh-CN" altLang="en-US"/>
              <a:t>需要一种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难以拥塞的拓扑结构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固定大小的位图</a:t>
            </a:r>
            <a:r>
              <a:rPr lang="zh-CN" altLang="en-US"/>
              <a:t>（</a:t>
            </a:r>
            <a:r>
              <a:rPr lang="en-US" altLang="zh-CN"/>
              <a:t>bitmap</a:t>
            </a:r>
            <a:r>
              <a:rPr lang="zh-CN" altLang="en-US"/>
              <a:t>）。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8925" y="2673350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但这在跨</a:t>
            </a:r>
            <a:r>
              <a:rPr lang="en-US" altLang="zh-CN" b="1">
                <a:solidFill>
                  <a:schemeClr val="accent1"/>
                </a:solidFill>
              </a:rPr>
              <a:t>DC</a:t>
            </a:r>
            <a:r>
              <a:rPr lang="zh-CN" altLang="en-US" b="1">
                <a:solidFill>
                  <a:schemeClr val="accent1"/>
                </a:solidFill>
              </a:rPr>
              <a:t>很难实现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44550" y="3215005"/>
            <a:ext cx="101917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600"/>
              <a:t>DC</a:t>
            </a:r>
            <a:r>
              <a:rPr lang="zh-CN" altLang="en-US" sz="1600"/>
              <a:t>间带宽贵而且比</a:t>
            </a:r>
            <a:r>
              <a:rPr lang="en-US" altLang="zh-CN" sz="1600"/>
              <a:t>DC</a:t>
            </a:r>
            <a:r>
              <a:rPr lang="zh-CN" altLang="en-US" sz="1600"/>
              <a:t>内带宽小，如果一个</a:t>
            </a:r>
            <a:r>
              <a:rPr lang="en-US" altLang="zh-CN" sz="1600"/>
              <a:t>DC</a:t>
            </a:r>
            <a:r>
              <a:rPr lang="zh-CN" altLang="en-US" sz="1600"/>
              <a:t>给另一个</a:t>
            </a:r>
            <a:r>
              <a:rPr lang="en-US" altLang="zh-CN" sz="1600"/>
              <a:t>DC</a:t>
            </a:r>
            <a:r>
              <a:rPr lang="zh-CN" altLang="en-US" sz="1600"/>
              <a:t>发突增流量，连接</a:t>
            </a:r>
            <a:r>
              <a:rPr lang="en-US" altLang="zh-CN" sz="1600"/>
              <a:t>DC</a:t>
            </a:r>
            <a:r>
              <a:rPr lang="zh-CN" altLang="en-US" sz="1600"/>
              <a:t>的外部交换机会拥塞并丢包。除此以外，到达远端</a:t>
            </a:r>
            <a:r>
              <a:rPr lang="en-US" altLang="zh-CN" sz="1600"/>
              <a:t>DC</a:t>
            </a:r>
            <a:r>
              <a:rPr lang="zh-CN" altLang="en-US" sz="1600"/>
              <a:t>的流量将与该</a:t>
            </a:r>
            <a:r>
              <a:rPr lang="en-US" altLang="zh-CN" sz="1600"/>
              <a:t>DC</a:t>
            </a:r>
            <a:r>
              <a:rPr lang="zh-CN" altLang="en-US" sz="1600"/>
              <a:t>产生</a:t>
            </a:r>
            <a:r>
              <a:rPr lang="zh-CN" altLang="en-US" sz="1600" b="1"/>
              <a:t>流量竞争</a:t>
            </a:r>
            <a:r>
              <a:rPr lang="zh-CN" altLang="en-US" sz="1600"/>
              <a:t>。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/>
              <a:t>现在有两种流量，</a:t>
            </a:r>
            <a:r>
              <a:rPr lang="en-US" altLang="zh-CN" sz="1600"/>
              <a:t>DC</a:t>
            </a:r>
            <a:r>
              <a:rPr lang="zh-CN" altLang="en-US" sz="1600"/>
              <a:t>间流量和</a:t>
            </a:r>
            <a:r>
              <a:rPr lang="en-US" altLang="zh-CN" sz="1600"/>
              <a:t>DC</a:t>
            </a:r>
            <a:r>
              <a:rPr lang="zh-CN" altLang="en-US" sz="1600"/>
              <a:t>内流量，</a:t>
            </a:r>
            <a:r>
              <a:rPr lang="en-US" altLang="zh-CN" sz="1600"/>
              <a:t>IRN</a:t>
            </a:r>
            <a:r>
              <a:rPr lang="zh-CN" altLang="en-US" sz="1600"/>
              <a:t>的</a:t>
            </a:r>
            <a:r>
              <a:rPr lang="en-US" altLang="zh-CN" sz="1600"/>
              <a:t>bitmap</a:t>
            </a:r>
            <a:r>
              <a:rPr lang="zh-CN" altLang="en-US" sz="1600"/>
              <a:t>用来追踪飞行包（</a:t>
            </a:r>
            <a:r>
              <a:rPr lang="en-US" altLang="zh-CN" sz="1600"/>
              <a:t>inflight packet</a:t>
            </a:r>
            <a:r>
              <a:rPr lang="zh-CN" altLang="en-US" sz="1600"/>
              <a:t>）的状态，而且是有固定大小的。一般</a:t>
            </a:r>
            <a:r>
              <a:rPr lang="en-US" altLang="zh-CN" sz="1600"/>
              <a:t>bitmap</a:t>
            </a:r>
            <a:r>
              <a:rPr lang="zh-CN" altLang="en-US" sz="1600"/>
              <a:t>的最佳大小是网络的一个</a:t>
            </a:r>
            <a:r>
              <a:rPr lang="en-US" altLang="zh-CN" sz="1600"/>
              <a:t>BDP</a:t>
            </a:r>
            <a:r>
              <a:rPr lang="zh-CN" altLang="en-US" sz="1600"/>
              <a:t>，但是</a:t>
            </a:r>
            <a:r>
              <a:rPr lang="en-US" altLang="zh-CN" sz="1600"/>
              <a:t>DC</a:t>
            </a:r>
            <a:r>
              <a:rPr lang="zh-CN" altLang="en-US" sz="1600"/>
              <a:t>间链路和</a:t>
            </a:r>
            <a:r>
              <a:rPr lang="en-US" altLang="zh-CN" sz="1600"/>
              <a:t>DC</a:t>
            </a:r>
            <a:r>
              <a:rPr lang="zh-CN" altLang="en-US" sz="1600"/>
              <a:t>内链路的</a:t>
            </a:r>
            <a:r>
              <a:rPr lang="en-US" altLang="zh-CN" sz="1600"/>
              <a:t>BDP</a:t>
            </a:r>
            <a:r>
              <a:rPr lang="zh-CN" altLang="en-US" sz="1600"/>
              <a:t>的</a:t>
            </a:r>
            <a:r>
              <a:rPr lang="zh-CN" altLang="en-US" sz="1600" b="1"/>
              <a:t>差异很大</a:t>
            </a:r>
            <a:r>
              <a:rPr lang="zh-CN" altLang="en-US" sz="1600"/>
              <a:t>，很难满足所有类型的流量。</a:t>
            </a:r>
            <a:endParaRPr lang="zh-CN" altLang="en-US" sz="160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/>
              <a:t>应用</a:t>
            </a:r>
            <a:r>
              <a:rPr lang="en-US" altLang="zh-CN" sz="1600"/>
              <a:t>IRN</a:t>
            </a:r>
            <a:r>
              <a:rPr lang="zh-CN" altLang="en-US" sz="1600"/>
              <a:t>需要</a:t>
            </a:r>
            <a:r>
              <a:rPr lang="zh-CN" altLang="en-US" sz="1600" b="1"/>
              <a:t>更新</a:t>
            </a:r>
            <a:r>
              <a:rPr lang="en-US" altLang="zh-CN" sz="1600" b="1"/>
              <a:t>DC</a:t>
            </a:r>
            <a:r>
              <a:rPr lang="zh-CN" altLang="en-US" sz="1600" b="1"/>
              <a:t>中所有网卡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3" grpId="1"/>
      <p:bldP spid="1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09855"/>
            <a:ext cx="3917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Swing</a:t>
            </a:r>
            <a:r>
              <a:rPr lang="zh-CN" altLang="en-US" sz="2000"/>
              <a:t>的实现</a:t>
            </a:r>
            <a:r>
              <a:rPr lang="en-US" altLang="zh-CN" sz="2000"/>
              <a:t>——PFC</a:t>
            </a:r>
            <a:r>
              <a:rPr lang="zh-CN" altLang="en-US" sz="2000"/>
              <a:t>中继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47955" y="509905"/>
            <a:ext cx="4495800" cy="533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849630"/>
            <a:ext cx="7648575" cy="2076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91970" y="3198495"/>
            <a:ext cx="782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Swing</a:t>
            </a:r>
            <a:r>
              <a:rPr lang="zh-CN" altLang="en-US"/>
              <a:t>主要思想是在长距离链路两端分别加一个中继设备，如上图路线</a:t>
            </a:r>
            <a:r>
              <a:rPr lang="en-US" altLang="zh-CN"/>
              <a:t>2</a:t>
            </a:r>
            <a:r>
              <a:rPr lang="zh-CN" altLang="en-US"/>
              <a:t>所示。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25245" y="4206240"/>
            <a:ext cx="1563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中继设备作用</a:t>
            </a:r>
            <a:endParaRPr lang="en-US" altLang="zh-CN" b="1"/>
          </a:p>
        </p:txBody>
      </p:sp>
      <p:sp>
        <p:nvSpPr>
          <p:cNvPr id="11" name="左大括号 10"/>
          <p:cNvSpPr/>
          <p:nvPr/>
        </p:nvSpPr>
        <p:spPr>
          <a:xfrm>
            <a:off x="2969895" y="3764915"/>
            <a:ext cx="140970" cy="1443355"/>
          </a:xfrm>
          <a:prstGeom prst="leftBrace">
            <a:avLst>
              <a:gd name="adj1" fmla="val 191891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44240" y="3628390"/>
            <a:ext cx="7006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/>
              <a:t>接管长距离链路上的</a:t>
            </a:r>
            <a:r>
              <a:rPr lang="en-US" altLang="zh-CN"/>
              <a:t>PFC</a:t>
            </a:r>
            <a:r>
              <a:rPr lang="zh-CN" altLang="en-US"/>
              <a:t>机制，因此也叫</a:t>
            </a:r>
            <a:r>
              <a:rPr lang="en-US" altLang="zh-CN"/>
              <a:t>PFC</a:t>
            </a:r>
            <a:r>
              <a:rPr lang="zh-CN" altLang="en-US"/>
              <a:t>中继。</a:t>
            </a:r>
            <a:endParaRPr lang="zh-CN" altLang="en-US"/>
          </a:p>
          <a:p>
            <a:pPr indent="0">
              <a:buFont typeface="+mj-ea"/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58870" y="4079875"/>
            <a:ext cx="61391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例子：下游交换机（收）可以不用等上游（发）响应，一旦出现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PFC PAUSE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，中继器立刻停止对下游的数据发送，同时向上游传递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PFC PAUSE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信息。</a:t>
            </a:r>
            <a:endParaRPr lang="zh-CN" altLang="en-US" sz="160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endParaRPr lang="zh-CN" altLang="en-US" sz="16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44240" y="4932045"/>
            <a:ext cx="60890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r>
              <a:rPr lang="en-US" altLang="zh-CN">
                <a:latin typeface="Calibri" panose="020F0502020204030204" charset="0"/>
              </a:rPr>
              <a:t>  </a:t>
            </a:r>
            <a:r>
              <a:rPr lang="zh-CN" altLang="en-US">
                <a:latin typeface="Calibri" panose="020F0502020204030204" charset="0"/>
              </a:rPr>
              <a:t>缓存飞行包来释放外部交换机缓存的使用，这样外部交换机不需要大容量的缓冲区，也无需预留闲置缓冲区来应对未来数据中心的链路。</a:t>
            </a:r>
            <a:endParaRPr lang="en-US" altLang="zh-CN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09855"/>
            <a:ext cx="3917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Swing</a:t>
            </a:r>
            <a:r>
              <a:rPr lang="zh-CN" altLang="en-US" sz="2000"/>
              <a:t>的实现</a:t>
            </a:r>
            <a:r>
              <a:rPr lang="en-US" altLang="zh-CN" sz="2000"/>
              <a:t>——PFC</a:t>
            </a:r>
            <a:r>
              <a:rPr lang="zh-CN" altLang="en-US" sz="2000"/>
              <a:t>中继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47955" y="509905"/>
            <a:ext cx="4495800" cy="533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948"/>
          <a:stretch>
            <a:fillRect/>
          </a:stretch>
        </p:blipFill>
        <p:spPr>
          <a:xfrm>
            <a:off x="0" y="644525"/>
            <a:ext cx="6890385" cy="4187825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569720" y="1754505"/>
            <a:ext cx="110490" cy="1181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807210" y="1577975"/>
            <a:ext cx="110490" cy="1181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108835" y="1725930"/>
            <a:ext cx="116840" cy="1181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998345" y="1607820"/>
            <a:ext cx="110490" cy="1181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27175" y="1809115"/>
            <a:ext cx="1530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/>
              <a:t>A</a:t>
            </a:r>
            <a:endParaRPr lang="en-US" altLang="zh-CN" sz="900" b="1"/>
          </a:p>
        </p:txBody>
      </p:sp>
      <p:sp>
        <p:nvSpPr>
          <p:cNvPr id="19" name="文本框 18"/>
          <p:cNvSpPr txBox="1"/>
          <p:nvPr/>
        </p:nvSpPr>
        <p:spPr>
          <a:xfrm>
            <a:off x="1680210" y="1466215"/>
            <a:ext cx="1530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/>
              <a:t>B</a:t>
            </a:r>
            <a:endParaRPr lang="en-US" altLang="zh-CN" sz="900" b="1"/>
          </a:p>
        </p:txBody>
      </p:sp>
      <p:sp>
        <p:nvSpPr>
          <p:cNvPr id="20" name="文本框 19"/>
          <p:cNvSpPr txBox="1"/>
          <p:nvPr/>
        </p:nvSpPr>
        <p:spPr>
          <a:xfrm>
            <a:off x="2030730" y="1466215"/>
            <a:ext cx="1530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/>
              <a:t>C</a:t>
            </a:r>
            <a:endParaRPr lang="en-US" altLang="zh-CN" sz="900" b="1"/>
          </a:p>
        </p:txBody>
      </p:sp>
      <p:sp>
        <p:nvSpPr>
          <p:cNvPr id="21" name="文本框 20"/>
          <p:cNvSpPr txBox="1"/>
          <p:nvPr/>
        </p:nvSpPr>
        <p:spPr>
          <a:xfrm>
            <a:off x="2157730" y="1614170"/>
            <a:ext cx="1530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/>
              <a:t>D</a:t>
            </a:r>
            <a:endParaRPr lang="en-US" altLang="zh-CN" sz="900" b="1"/>
          </a:p>
        </p:txBody>
      </p:sp>
      <p:sp>
        <p:nvSpPr>
          <p:cNvPr id="22" name="左大括号 21"/>
          <p:cNvSpPr/>
          <p:nvPr/>
        </p:nvSpPr>
        <p:spPr>
          <a:xfrm rot="16380000">
            <a:off x="1718310" y="1814195"/>
            <a:ext cx="76200" cy="203200"/>
          </a:xfrm>
          <a:prstGeom prst="leftBrace">
            <a:avLst>
              <a:gd name="adj1" fmla="val 58208"/>
              <a:gd name="adj2" fmla="val 529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16380000">
            <a:off x="2035175" y="1860550"/>
            <a:ext cx="76200" cy="130810"/>
          </a:xfrm>
          <a:prstGeom prst="leftBrace">
            <a:avLst>
              <a:gd name="adj1" fmla="val 58208"/>
              <a:gd name="adj2" fmla="val 529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004060" y="1667510"/>
            <a:ext cx="2540" cy="21590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619885" y="1909445"/>
            <a:ext cx="3028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highlight>
                  <a:srgbClr val="FFFF00"/>
                </a:highlight>
              </a:rPr>
              <a:t>t1</a:t>
            </a:r>
            <a:endParaRPr lang="en-US" altLang="zh-CN" sz="900" b="1">
              <a:highlight>
                <a:srgbClr val="FFFF00"/>
              </a:highligh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21510" y="1909445"/>
            <a:ext cx="3028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highlight>
                  <a:srgbClr val="FFFF00"/>
                </a:highlight>
              </a:rPr>
              <a:t>t2</a:t>
            </a:r>
            <a:endParaRPr lang="en-US" altLang="zh-CN" sz="900" b="1">
              <a:highlight>
                <a:srgbClr val="FFFF00"/>
              </a:highlight>
            </a:endParaRPr>
          </a:p>
        </p:txBody>
      </p:sp>
      <p:sp>
        <p:nvSpPr>
          <p:cNvPr id="27" name="左大括号 26"/>
          <p:cNvSpPr/>
          <p:nvPr/>
        </p:nvSpPr>
        <p:spPr>
          <a:xfrm rot="16200000">
            <a:off x="1838325" y="1819910"/>
            <a:ext cx="76200" cy="695960"/>
          </a:xfrm>
          <a:prstGeom prst="leftBrace">
            <a:avLst>
              <a:gd name="adj1" fmla="val 58208"/>
              <a:gd name="adj2" fmla="val 529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786255" y="2204720"/>
            <a:ext cx="3028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highlight>
                  <a:srgbClr val="FFFF00"/>
                </a:highlight>
              </a:rPr>
              <a:t>T</a:t>
            </a:r>
            <a:endParaRPr lang="en-US" altLang="zh-CN" sz="900" b="1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5530850" y="873125"/>
                <a:ext cx="5410200" cy="1416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solidFill>
                      <a:schemeClr val="accent1">
                        <a:lumMod val="75000"/>
                      </a:schemeClr>
                    </a:solidFill>
                  </a:rPr>
                  <a:t>链路利用率计算：</a:t>
                </a:r>
                <a:endParaRPr lang="zh-CN" altLang="en-US" b="1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zh-CN" altLang="en-US" b="1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zh-CN" altLang="en-US" b="1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b="1">
                    <a:solidFill>
                      <a:schemeClr val="accent1">
                        <a:lumMod val="75000"/>
                      </a:schemeClr>
                    </a:solidFill>
                  </a:rPr>
                  <a:t>  </a:t>
                </a:r>
                <a:r>
                  <a:rPr lang="zh-CN" altLang="en-US" sz="1600">
                    <a:solidFill>
                      <a:schemeClr val="tx1"/>
                    </a:solidFill>
                  </a:rPr>
                  <a:t>因为中继的快速响应，使得</a:t>
                </a:r>
                <a:r>
                  <a:rPr lang="en-US" altLang="zh-CN" sz="1600">
                    <a:solidFill>
                      <a:schemeClr val="tx1"/>
                    </a:solidFill>
                  </a:rPr>
                  <a:t>PFC</a:t>
                </a:r>
                <a:r>
                  <a:rPr lang="zh-CN" altLang="en-US" sz="1600">
                    <a:solidFill>
                      <a:schemeClr val="tx1"/>
                    </a:solidFill>
                  </a:rPr>
                  <a:t>消息周期变得很短，队列长度在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之间摆动，所以算法名字为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Swing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 sz="16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16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  </a:t>
                </a:r>
                <a:endParaRPr lang="en-US" altLang="zh-CN" sz="16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850" y="873125"/>
                <a:ext cx="5410200" cy="14160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/>
          <p:cNvSpPr txBox="1"/>
          <p:nvPr/>
        </p:nvSpPr>
        <p:spPr>
          <a:xfrm>
            <a:off x="711200" y="5353050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上图中</a:t>
            </a:r>
            <a:r>
              <a:rPr lang="en-US" altLang="zh-CN"/>
              <a:t>B</a:t>
            </a:r>
            <a:r>
              <a:rPr lang="zh-CN" altLang="en-US"/>
              <a:t>点调用</a:t>
            </a:r>
            <a:r>
              <a:rPr lang="en-US" altLang="zh-CN"/>
              <a:t>PFC pause</a:t>
            </a:r>
            <a:r>
              <a:rPr lang="zh-CN" altLang="en-US"/>
              <a:t>暂停上游数据发送，</a:t>
            </a:r>
            <a:r>
              <a:rPr lang="en-US" altLang="zh-CN"/>
              <a:t>D</a:t>
            </a:r>
            <a:r>
              <a:rPr lang="zh-CN" altLang="en-US"/>
              <a:t>点调用</a:t>
            </a:r>
            <a:r>
              <a:rPr lang="en-US" altLang="zh-CN"/>
              <a:t>PFC resume</a:t>
            </a:r>
            <a:r>
              <a:rPr lang="zh-CN" altLang="en-US"/>
              <a:t>恢复上游数据发送。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253355" y="2139315"/>
                <a:ext cx="4787900" cy="660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𝑜𝑓𝑓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355" y="2139315"/>
                <a:ext cx="4787900" cy="6604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5686425" y="2922905"/>
                <a:ext cx="3771900" cy="610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𝑜𝑓𝑓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𝐵𝑊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425" y="2922905"/>
                <a:ext cx="3771900" cy="6108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6308090" y="3676015"/>
                <a:ext cx="220472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90" y="3676015"/>
                <a:ext cx="2204720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6677025" y="4375785"/>
                <a:ext cx="3568065" cy="51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链路利用率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 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5" y="4375785"/>
                <a:ext cx="3568065" cy="51498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/>
          <p:cNvSpPr txBox="1"/>
          <p:nvPr/>
        </p:nvSpPr>
        <p:spPr>
          <a:xfrm>
            <a:off x="9245600" y="3721100"/>
            <a:ext cx="32575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4"/>
                </a:solidFill>
              </a:rPr>
              <a:t>PFC</a:t>
            </a:r>
            <a:r>
              <a:rPr lang="zh-CN" altLang="en-US" sz="1600">
                <a:solidFill>
                  <a:schemeClr val="accent4"/>
                </a:solidFill>
              </a:rPr>
              <a:t>中继响应时间忽略不计</a:t>
            </a:r>
            <a:endParaRPr lang="zh-CN" altLang="en-US" sz="1600">
              <a:solidFill>
                <a:schemeClr val="accent4"/>
              </a:solidFill>
            </a:endParaRPr>
          </a:p>
        </p:txBody>
      </p:sp>
      <p:sp>
        <p:nvSpPr>
          <p:cNvPr id="41" name="左大括号 40"/>
          <p:cNvSpPr/>
          <p:nvPr/>
        </p:nvSpPr>
        <p:spPr>
          <a:xfrm rot="16200000">
            <a:off x="8178800" y="3086100"/>
            <a:ext cx="114300" cy="2315845"/>
          </a:xfrm>
          <a:prstGeom prst="leftBrace">
            <a:avLst>
              <a:gd name="adj1" fmla="val 203625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5981700" y="5431155"/>
                <a:ext cx="569023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/>
                  <a:t>链路吞吐量只与交换机排出速度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zh-CN" altLang="en-US" b="1"/>
                  <a:t>有关，与时延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𝑫</m:t>
                    </m:r>
                  </m:oMath>
                </a14:m>
                <a:r>
                  <a:rPr lang="zh-CN" altLang="en-US" b="1"/>
                  <a:t>无关</a:t>
                </a:r>
                <a:r>
                  <a:rPr lang="zh-CN" altLang="en-US" sz="1400" b="1"/>
                  <a:t>。</a:t>
                </a:r>
                <a:endParaRPr lang="zh-CN" altLang="en-US" sz="1400" b="1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431155"/>
                <a:ext cx="5690235" cy="3683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/>
        </p:nvSpPr>
        <p:spPr>
          <a:xfrm>
            <a:off x="8722360" y="2289175"/>
            <a:ext cx="20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22360" y="3085465"/>
            <a:ext cx="38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724900" y="3721100"/>
            <a:ext cx="584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③</a:t>
            </a:r>
            <a:endParaRPr lang="zh-CN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7955" y="109855"/>
            <a:ext cx="3917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Swing</a:t>
            </a:r>
            <a:r>
              <a:rPr lang="zh-CN" altLang="en-US" sz="2000"/>
              <a:t>的实现</a:t>
            </a:r>
            <a:r>
              <a:rPr lang="en-US" altLang="zh-CN" sz="2000"/>
              <a:t>——PFC</a:t>
            </a:r>
            <a:r>
              <a:rPr lang="zh-CN" altLang="en-US" sz="2000"/>
              <a:t>中继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47955" y="509905"/>
            <a:ext cx="4495800" cy="533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615"/>
          <a:stretch>
            <a:fillRect/>
          </a:stretch>
        </p:blipFill>
        <p:spPr>
          <a:xfrm>
            <a:off x="0" y="708025"/>
            <a:ext cx="7993380" cy="24422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81950" y="774700"/>
            <a:ext cx="3956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PFC</a:t>
            </a:r>
            <a:r>
              <a:rPr lang="zh-CN" altLang="en-US" b="1">
                <a:solidFill>
                  <a:schemeClr val="accent1"/>
                </a:solidFill>
              </a:rPr>
              <a:t>中继缓存的大小：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2359025" y="3314700"/>
            <a:ext cx="355600" cy="254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4124325" y="3340100"/>
            <a:ext cx="311150" cy="635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225675" y="3486150"/>
                <a:ext cx="1238250" cy="35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75" y="3486150"/>
                <a:ext cx="1238250" cy="354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302000" y="3486150"/>
                <a:ext cx="2731135" cy="3543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0" y="3486150"/>
                <a:ext cx="2731135" cy="354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2714625" y="2647950"/>
            <a:ext cx="0" cy="6921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435475" y="2647950"/>
            <a:ext cx="0" cy="6921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3216275" y="4176395"/>
            <a:ext cx="304800" cy="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3286125" y="2647950"/>
            <a:ext cx="15875" cy="152400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2955925" y="4240530"/>
                <a:ext cx="2933065" cy="35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𝑖𝑛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925" y="4240530"/>
                <a:ext cx="2933065" cy="3543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/>
          <p:cNvSpPr txBox="1"/>
          <p:nvPr/>
        </p:nvSpPr>
        <p:spPr>
          <a:xfrm>
            <a:off x="4219575" y="3905250"/>
            <a:ext cx="50920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</a:rPr>
              <a:t>经过</a:t>
            </a:r>
            <a:r>
              <a:rPr lang="en-US" altLang="zh-CN" sz="1600">
                <a:solidFill>
                  <a:schemeClr val="accent1"/>
                </a:solidFill>
              </a:rPr>
              <a:t>D</a:t>
            </a:r>
            <a:r>
              <a:rPr lang="zh-CN" altLang="en-US" sz="1600">
                <a:solidFill>
                  <a:schemeClr val="accent1"/>
                </a:solidFill>
              </a:rPr>
              <a:t>时间的传输到达左侧交换机</a:t>
            </a:r>
            <a:endParaRPr lang="zh-CN" altLang="en-US" sz="1600">
              <a:solidFill>
                <a:schemeClr val="accent1"/>
              </a:solidFill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905" y="4460875"/>
            <a:ext cx="3208020" cy="205295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8181975" y="1524000"/>
            <a:ext cx="34099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en-US" altLang="zh-CN"/>
              <a:t>PFC</a:t>
            </a:r>
            <a:r>
              <a:rPr lang="zh-CN" altLang="en-US"/>
              <a:t>中继的输入速率和输出速率是时间差</a:t>
            </a:r>
            <a:r>
              <a:rPr lang="en-US" altLang="zh-CN"/>
              <a:t>2D</a:t>
            </a:r>
            <a:r>
              <a:rPr lang="zh-CN" altLang="en-US"/>
              <a:t>的相同曲线。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120" y="2295525"/>
            <a:ext cx="2867025" cy="35242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8201025" y="3003550"/>
            <a:ext cx="3346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r>
              <a:rPr lang="en-US" altLang="zh-CN">
                <a:latin typeface="Calibri" panose="020F0502020204030204" charset="0"/>
              </a:rPr>
              <a:t>    PFC</a:t>
            </a:r>
            <a:r>
              <a:rPr lang="zh-CN" altLang="en-US">
                <a:latin typeface="Calibri" panose="020F0502020204030204" charset="0"/>
              </a:rPr>
              <a:t>中继所需要的缓存大小</a:t>
            </a:r>
            <a:endParaRPr lang="zh-CN" altLang="en-US">
              <a:latin typeface="Calibri" panose="020F0502020204030204" charset="0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025" y="3527425"/>
            <a:ext cx="3314700" cy="93345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2746375" y="5099050"/>
            <a:ext cx="4705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PFC</a:t>
            </a:r>
            <a:r>
              <a:rPr lang="zh-CN" altLang="en-US" b="1"/>
              <a:t>中继缓存的大小为</a:t>
            </a:r>
            <a:r>
              <a:rPr lang="en-US" altLang="zh-CN" b="1"/>
              <a:t>2D*BW</a:t>
            </a:r>
            <a:r>
              <a:rPr lang="zh-CN" altLang="en-US" b="1"/>
              <a:t>，即</a:t>
            </a:r>
            <a:r>
              <a:rPr lang="en-US" altLang="zh-CN" b="1"/>
              <a:t>1</a:t>
            </a:r>
            <a:r>
              <a:rPr lang="zh-CN" altLang="en-US" b="1"/>
              <a:t>个</a:t>
            </a:r>
            <a:r>
              <a:rPr lang="en-US" altLang="zh-CN" b="1"/>
              <a:t>BDP,</a:t>
            </a:r>
            <a:r>
              <a:rPr lang="zh-CN" altLang="en-US" b="1"/>
              <a:t>是原来方案普通交换机的一半。</a:t>
            </a:r>
            <a:endParaRPr lang="zh-CN" altLang="en-US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2.8,&quot;left&quot;:167.95,&quot;top&quot;:404.7,&quot;width&quot;:552.3}"/>
</p:tagLst>
</file>

<file path=ppt/tags/tag2.xml><?xml version="1.0" encoding="utf-8"?>
<p:tagLst xmlns:p="http://schemas.openxmlformats.org/presentationml/2006/main">
  <p:tag name="KSO_WM_DIAGRAM_VIRTUALLY_FRAME" val="{&quot;height&quot;:72.8,&quot;left&quot;:167.95,&quot;top&quot;:404.7,&quot;width&quot;:552.3}"/>
</p:tagLst>
</file>

<file path=ppt/tags/tag3.xml><?xml version="1.0" encoding="utf-8"?>
<p:tagLst xmlns:p="http://schemas.openxmlformats.org/presentationml/2006/main">
  <p:tag name="KSO_WM_DIAGRAM_VIRTUALLY_FRAME" val="{&quot;height&quot;:72.8,&quot;left&quot;:167.95,&quot;top&quot;:404.7,&quot;width&quot;:552.3}"/>
</p:tagLst>
</file>

<file path=ppt/tags/tag4.xml><?xml version="1.0" encoding="utf-8"?>
<p:tagLst xmlns:p="http://schemas.openxmlformats.org/presentationml/2006/main">
  <p:tag name="KSO_WM_DIAGRAM_VIRTUALLY_FRAME" val="{&quot;height&quot;:72.8,&quot;left&quot;:167.95,&quot;top&quot;:404.7,&quot;width&quot;:552.3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3415</Words>
  <Application>WPS 演示</Application>
  <PresentationFormat>宽屏</PresentationFormat>
  <Paragraphs>301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Cambria Math</vt:lpstr>
      <vt:lpstr>MS Mincho</vt:lpstr>
      <vt:lpstr>Segoe Print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5</cp:revision>
  <dcterms:created xsi:type="dcterms:W3CDTF">2023-08-09T12:44:00Z</dcterms:created>
  <dcterms:modified xsi:type="dcterms:W3CDTF">2025-07-09T10:13:39Z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7FEB77C7C78D48CEA370064B23E7EE97_12</vt:lpwstr>
  </property>
</Properties>
</file>