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9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275" y="713740"/>
            <a:ext cx="7791450" cy="17240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71725" y="2894330"/>
            <a:ext cx="7922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Homa</a:t>
            </a:r>
            <a:r>
              <a:rPr lang="zh-CN" altLang="en-US" sz="2400" b="1"/>
              <a:t>：一种基于网络优先级的接收驱动低延迟传输协议</a:t>
            </a:r>
            <a:endParaRPr lang="zh-CN" altLang="en-US" sz="2400" b="1"/>
          </a:p>
        </p:txBody>
      </p:sp>
      <p:sp>
        <p:nvSpPr>
          <p:cNvPr id="7" name="圆角矩形 6"/>
          <p:cNvSpPr/>
          <p:nvPr/>
        </p:nvSpPr>
        <p:spPr>
          <a:xfrm>
            <a:off x="516255" y="4112895"/>
            <a:ext cx="3536950" cy="14497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令牌方案第一个</a:t>
            </a:r>
            <a:r>
              <a:rPr lang="en-US" altLang="zh-CN"/>
              <a:t>RTT</a:t>
            </a:r>
            <a:r>
              <a:rPr lang="zh-CN" altLang="en-US"/>
              <a:t>盲传的数据包里短流无法抢占带宽。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发送方可能不响应令牌，令牌利用率低。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836160" y="4112895"/>
            <a:ext cx="3035935" cy="14497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要给盲传的消息分配固定的大小区间或优先级。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/>
              <a:t>pHost</a:t>
            </a:r>
            <a:r>
              <a:rPr lang="zh-CN" altLang="en-US"/>
              <a:t>通过给不响应的源降级，但效果不理想。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660130" y="4112895"/>
            <a:ext cx="3035935" cy="14497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接收方动态分配盲传消息优先级。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/>
              <a:t>接收方超额分配令牌。</a:t>
            </a:r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4246880" y="4690110"/>
            <a:ext cx="396240" cy="316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8068310" y="4690110"/>
            <a:ext cx="396240" cy="316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900555" y="5756910"/>
            <a:ext cx="736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85510" y="5756910"/>
            <a:ext cx="736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思路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874250" y="5711190"/>
            <a:ext cx="736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方案</a:t>
            </a:r>
            <a:endParaRPr lang="zh-CN" altLang="en-US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5270" y="144780"/>
            <a:ext cx="310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Homa</a:t>
            </a:r>
            <a:r>
              <a:rPr lang="zh-CN" altLang="en-US" sz="2000"/>
              <a:t>解决的问题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96850" y="649605"/>
            <a:ext cx="4102735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33400" y="905510"/>
            <a:ext cx="5622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</a:t>
            </a:r>
            <a:r>
              <a:rPr lang="zh-CN" altLang="en-US" b="1">
                <a:solidFill>
                  <a:schemeClr val="accent1"/>
                </a:solidFill>
              </a:rPr>
              <a:t>如何充分利用有限的内网优先级实现接收方控制？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7080" y="1307465"/>
            <a:ext cx="1085278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接收方直到所有来自</a:t>
            </a:r>
            <a:r>
              <a:rPr lang="en-US" altLang="zh-CN"/>
              <a:t>Tor</a:t>
            </a:r>
            <a:r>
              <a:rPr lang="zh-CN" altLang="en-US"/>
              <a:t>的下行链路数据包，可以分配优先级，但是接收方不知道盲传的数据包。</a:t>
            </a:r>
            <a:r>
              <a:rPr lang="en-US" altLang="zh-CN"/>
              <a:t>pHost</a:t>
            </a:r>
            <a:r>
              <a:rPr lang="zh-CN" altLang="en-US"/>
              <a:t>把盲传的数据包统一设为最高优先级，对于大量盲传数据的工作负载，短流无法抢占带宽，增加时延。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zh-CN" altLang="en-US"/>
              <a:t>因此接收方必须</a:t>
            </a:r>
            <a:r>
              <a:rPr lang="zh-CN" altLang="en-US">
                <a:solidFill>
                  <a:srgbClr val="7030A0"/>
                </a:solidFill>
              </a:rPr>
              <a:t>动态分配数据包的优先级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accent6"/>
                </a:solidFill>
              </a:rPr>
              <a:t>超过</a:t>
            </a:r>
            <a:r>
              <a:rPr lang="en-US" altLang="zh-CN" b="1">
                <a:solidFill>
                  <a:schemeClr val="accent6"/>
                </a:solidFill>
              </a:rPr>
              <a:t>RTT</a:t>
            </a:r>
            <a:r>
              <a:rPr lang="zh-CN" altLang="en-US" b="1">
                <a:solidFill>
                  <a:schemeClr val="accent6"/>
                </a:solidFill>
              </a:rPr>
              <a:t>的消息：</a:t>
            </a:r>
            <a:r>
              <a:rPr lang="zh-CN" altLang="en-US">
                <a:solidFill>
                  <a:schemeClr val="tx1"/>
                </a:solidFill>
              </a:rPr>
              <a:t>根据入栈消息的集合动态向发送方传达每个消息的优先级。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accent6"/>
                </a:solidFill>
              </a:rPr>
              <a:t>盲传的短消息：</a:t>
            </a:r>
            <a:r>
              <a:rPr lang="zh-CN" altLang="en-US">
                <a:solidFill>
                  <a:schemeClr val="tx1"/>
                </a:solidFill>
              </a:rPr>
              <a:t>接收方根据当前的工作负载提供发送优先级指导。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77215" y="3495040"/>
            <a:ext cx="5622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zh-CN" altLang="en-US" b="1">
                <a:solidFill>
                  <a:schemeClr val="accent1"/>
                </a:solidFill>
              </a:rPr>
              <a:t>如何提高令牌的利用率？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6445" y="3932555"/>
            <a:ext cx="1067117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如果一个发送方向多个接收方请求，多个接收方同时给发送方反馈消息，发送方在这段时间不能同时向所有接收方传数据，这在高网络负载时极大降低链路利用率。</a:t>
            </a:r>
            <a:r>
              <a:rPr lang="en-US" altLang="zh-CN"/>
              <a:t>pHost</a:t>
            </a:r>
            <a:r>
              <a:rPr lang="zh-CN" altLang="en-US"/>
              <a:t>尽管采用超时重传机制减弱了未响应发送方的影响，但可提供的最大负载在</a:t>
            </a:r>
            <a:r>
              <a:rPr lang="en-US" altLang="zh-CN" b="1">
                <a:solidFill>
                  <a:srgbClr val="7030A0"/>
                </a:solidFill>
              </a:rPr>
              <a:t>58%~73%</a:t>
            </a:r>
            <a:r>
              <a:rPr lang="zh-CN" altLang="en-US"/>
              <a:t>之间。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en-US" altLang="zh-CN">
                <a:solidFill>
                  <a:schemeClr val="accent6"/>
                </a:solidFill>
              </a:rPr>
              <a:t>Homa</a:t>
            </a:r>
            <a:r>
              <a:rPr lang="zh-CN" altLang="en-US">
                <a:solidFill>
                  <a:schemeClr val="accent6"/>
                </a:solidFill>
              </a:rPr>
              <a:t>通过接收端同时向少量发送端分配链路资源，从而实现下行链路的主动超载。</a:t>
            </a:r>
            <a:r>
              <a:rPr lang="zh-CN" altLang="en-US"/>
              <a:t>这种机制可以在接收端</a:t>
            </a:r>
            <a:r>
              <a:rPr lang="en-US" altLang="zh-CN"/>
              <a:t>Tor</a:t>
            </a:r>
            <a:r>
              <a:rPr lang="zh-CN" altLang="en-US"/>
              <a:t>形成受控的数据包队列，更能确保网络高负载的同时实现高网络利用率。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5270" y="144780"/>
            <a:ext cx="310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Homa</a:t>
            </a:r>
            <a:r>
              <a:rPr lang="zh-CN" altLang="en-US" sz="2000"/>
              <a:t>的设计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96850" y="649605"/>
            <a:ext cx="4102735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50" y="1148080"/>
            <a:ext cx="5081905" cy="48171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23560" y="728980"/>
            <a:ext cx="6019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Homa</a:t>
            </a:r>
            <a:r>
              <a:rPr lang="zh-CN" altLang="en-US"/>
              <a:t>把数据分为两类：</a:t>
            </a:r>
            <a:r>
              <a:rPr lang="zh-CN" altLang="en-US">
                <a:solidFill>
                  <a:schemeClr val="accent6"/>
                </a:solidFill>
              </a:rPr>
              <a:t>未调度的部分</a:t>
            </a:r>
            <a:r>
              <a:rPr lang="zh-CN" altLang="en-US"/>
              <a:t>和</a:t>
            </a:r>
            <a:r>
              <a:rPr lang="zh-CN" altLang="en-US">
                <a:solidFill>
                  <a:schemeClr val="accent6"/>
                </a:solidFill>
              </a:rPr>
              <a:t>已调度的部分</a:t>
            </a:r>
            <a:r>
              <a:rPr lang="zh-CN" altLang="en-US"/>
              <a:t>，未调度指新来的数据包，已调度指收到了令牌的数据包。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52770" y="1494790"/>
            <a:ext cx="5909310" cy="3964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40000"/>
              </a:lnSpc>
              <a:buFont typeface="+mj-lt"/>
              <a:buAutoNum type="alphaLcPeriod"/>
            </a:pPr>
            <a:r>
              <a:rPr lang="zh-CN" altLang="en-US"/>
              <a:t>发送方立刻传输未调度的数据包（</a:t>
            </a:r>
            <a:r>
              <a:rPr lang="en-US" altLang="zh-CN"/>
              <a:t>RTT</a:t>
            </a:r>
            <a:r>
              <a:rPr lang="zh-CN" altLang="en-US"/>
              <a:t>字节的数据），但是对于调度的数据包只有收到接收方的指示才发送。</a:t>
            </a:r>
            <a:endParaRPr lang="zh-CN" altLang="en-US"/>
          </a:p>
          <a:p>
            <a:pPr marL="342900" indent="-342900">
              <a:lnSpc>
                <a:spcPct val="140000"/>
              </a:lnSpc>
              <a:buFont typeface="+mj-lt"/>
              <a:buAutoNum type="alphaLcPeriod"/>
            </a:pPr>
            <a:r>
              <a:rPr lang="zh-CN" altLang="en-US"/>
              <a:t>接收方收到了未调度的数据包，就知道了消息的存在，接收方给调度的数据包发送一个</a:t>
            </a:r>
            <a:r>
              <a:rPr lang="en-US" altLang="zh-CN"/>
              <a:t>grant</a:t>
            </a:r>
            <a:r>
              <a:rPr lang="zh-CN" altLang="en-US"/>
              <a:t>授权包来请求传输调度的数据包。</a:t>
            </a:r>
            <a:endParaRPr lang="zh-CN" altLang="en-US"/>
          </a:p>
          <a:p>
            <a:pPr marL="342900" indent="-342900">
              <a:lnSpc>
                <a:spcPct val="140000"/>
              </a:lnSpc>
              <a:buFont typeface="+mj-lt"/>
              <a:buAutoNum type="alphaLcPeriod"/>
            </a:pPr>
            <a:r>
              <a:rPr lang="en-US" altLang="zh-CN"/>
              <a:t>Homa</a:t>
            </a:r>
            <a:r>
              <a:rPr lang="zh-CN" altLang="en-US"/>
              <a:t>的接收方动态地给</a:t>
            </a:r>
            <a:r>
              <a:rPr lang="zh-CN" altLang="en-US" b="1">
                <a:solidFill>
                  <a:schemeClr val="accent1"/>
                </a:solidFill>
              </a:rPr>
              <a:t>调度数据包设置优先级</a:t>
            </a:r>
            <a:r>
              <a:rPr lang="zh-CN" altLang="en-US"/>
              <a:t>，周期性的告知发送方如何设置</a:t>
            </a:r>
            <a:r>
              <a:rPr lang="zh-CN" altLang="en-US" b="1">
                <a:solidFill>
                  <a:schemeClr val="accent1"/>
                </a:solidFill>
              </a:rPr>
              <a:t>阈值参数来给未调度的数据包</a:t>
            </a:r>
            <a:r>
              <a:rPr lang="zh-CN" altLang="en-US">
                <a:solidFill>
                  <a:schemeClr val="tx1"/>
                </a:solidFill>
              </a:rPr>
              <a:t>设置不同优先级</a:t>
            </a:r>
            <a:r>
              <a:rPr lang="zh-CN" altLang="en-US" b="1">
                <a:solidFill>
                  <a:schemeClr val="accent1"/>
                </a:solidFill>
              </a:rPr>
              <a:t>。</a:t>
            </a:r>
            <a:endParaRPr lang="zh-CN" altLang="en-US" b="1">
              <a:solidFill>
                <a:schemeClr val="accent1"/>
              </a:solidFill>
            </a:endParaRPr>
          </a:p>
          <a:p>
            <a:pPr marL="342900" indent="-342900">
              <a:lnSpc>
                <a:spcPct val="140000"/>
              </a:lnSpc>
              <a:buFont typeface="+mj-lt"/>
              <a:buAutoNum type="alphaLcPeriod"/>
            </a:pPr>
            <a:r>
              <a:rPr lang="zh-CN" altLang="en-US"/>
              <a:t>接收方使用</a:t>
            </a:r>
            <a:r>
              <a:rPr lang="zh-CN" altLang="en-US" b="1">
                <a:solidFill>
                  <a:schemeClr val="accent1"/>
                </a:solidFill>
              </a:rPr>
              <a:t>受控的令牌超额分配</a:t>
            </a:r>
            <a:r>
              <a:rPr lang="zh-CN" altLang="en-US"/>
              <a:t>来应对发送方无响应的问题。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96865" y="5710555"/>
            <a:ext cx="6253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Homa</a:t>
            </a:r>
            <a:r>
              <a:rPr lang="zh-CN" altLang="en-US">
                <a:solidFill>
                  <a:srgbClr val="7030A0"/>
                </a:solidFill>
              </a:rPr>
              <a:t>最明显的效果是在使用少量优先队列的情况下，更精确的接近</a:t>
            </a:r>
            <a:r>
              <a:rPr lang="en-US" altLang="zh-CN">
                <a:solidFill>
                  <a:srgbClr val="7030A0"/>
                </a:solidFill>
              </a:rPr>
              <a:t>SRPT(shortest remaining processing time)</a:t>
            </a:r>
            <a:r>
              <a:rPr lang="zh-CN" altLang="en-US">
                <a:solidFill>
                  <a:srgbClr val="7030A0"/>
                </a:solidFill>
              </a:rPr>
              <a:t>调度策略。</a:t>
            </a:r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5270" y="144780"/>
            <a:ext cx="310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Homa</a:t>
            </a:r>
            <a:r>
              <a:rPr lang="zh-CN" altLang="en-US" sz="2000"/>
              <a:t>的实现细节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96850" y="649605"/>
            <a:ext cx="4102735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2755" y="821690"/>
            <a:ext cx="1059688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accent1"/>
                </a:solidFill>
              </a:rPr>
              <a:t>1. Homa</a:t>
            </a:r>
            <a:r>
              <a:rPr lang="zh-CN" altLang="en-US" b="1">
                <a:solidFill>
                  <a:schemeClr val="accent1"/>
                </a:solidFill>
              </a:rPr>
              <a:t>是基于</a:t>
            </a:r>
            <a:r>
              <a:rPr lang="en-US" altLang="zh-CN" b="1">
                <a:solidFill>
                  <a:schemeClr val="accent1"/>
                </a:solidFill>
              </a:rPr>
              <a:t>RPC</a:t>
            </a:r>
            <a:r>
              <a:rPr lang="zh-CN" altLang="en-US" b="1">
                <a:solidFill>
                  <a:schemeClr val="accent1"/>
                </a:solidFill>
              </a:rPr>
              <a:t>的，而不是连接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</a:rPr>
              <a:t>RPC(remote procedure call</a:t>
            </a:r>
            <a:r>
              <a:rPr lang="zh-CN" altLang="en-US">
                <a:solidFill>
                  <a:schemeClr val="tx1"/>
                </a:solidFill>
              </a:rPr>
              <a:t>，远距离程序调用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r>
              <a:rPr lang="en-US" altLang="zh-CN">
                <a:solidFill>
                  <a:schemeClr val="tx1"/>
                </a:solidFill>
              </a:rPr>
              <a:t>Homa</a:t>
            </a:r>
            <a:r>
              <a:rPr lang="zh-CN" altLang="en-US">
                <a:solidFill>
                  <a:schemeClr val="tx1"/>
                </a:solidFill>
              </a:rPr>
              <a:t>是无连接的，他利用基本数据传输</a:t>
            </a:r>
            <a:r>
              <a:rPr lang="en-US" altLang="zh-CN">
                <a:solidFill>
                  <a:schemeClr val="tx1"/>
                </a:solidFill>
              </a:rPr>
              <a:t>RPC</a:t>
            </a:r>
            <a:r>
              <a:rPr lang="zh-CN" altLang="en-US">
                <a:solidFill>
                  <a:schemeClr val="tx1"/>
                </a:solidFill>
              </a:rPr>
              <a:t>，发送方在全局为不同的</a:t>
            </a:r>
            <a:r>
              <a:rPr lang="en-US" altLang="zh-CN">
                <a:solidFill>
                  <a:schemeClr val="tx1"/>
                </a:solidFill>
              </a:rPr>
              <a:t>RPC</a:t>
            </a:r>
            <a:r>
              <a:rPr lang="zh-CN" altLang="en-US">
                <a:solidFill>
                  <a:schemeClr val="tx1"/>
                </a:solidFill>
              </a:rPr>
              <a:t>设置</a:t>
            </a:r>
            <a:r>
              <a:rPr lang="en-US" altLang="zh-CN">
                <a:solidFill>
                  <a:schemeClr val="tx1"/>
                </a:solidFill>
              </a:rPr>
              <a:t>RPC_id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r>
              <a:rPr lang="en-US" altLang="zh-CN">
                <a:solidFill>
                  <a:schemeClr val="accent6"/>
                </a:solidFill>
              </a:rPr>
              <a:t>RPC</a:t>
            </a:r>
            <a:r>
              <a:rPr lang="zh-CN" altLang="en-US">
                <a:solidFill>
                  <a:schemeClr val="accent6"/>
                </a:solidFill>
              </a:rPr>
              <a:t>和普通流的区别是</a:t>
            </a:r>
            <a:r>
              <a:rPr lang="en-US" altLang="zh-CN">
                <a:solidFill>
                  <a:schemeClr val="accent6"/>
                </a:solidFill>
              </a:rPr>
              <a:t>RPC</a:t>
            </a:r>
            <a:r>
              <a:rPr lang="zh-CN" altLang="en-US">
                <a:solidFill>
                  <a:schemeClr val="accent6"/>
                </a:solidFill>
              </a:rPr>
              <a:t>有了</a:t>
            </a:r>
            <a:r>
              <a:rPr lang="en-US" altLang="zh-CN">
                <a:solidFill>
                  <a:schemeClr val="accent6"/>
                </a:solidFill>
              </a:rPr>
              <a:t>request message</a:t>
            </a:r>
            <a:r>
              <a:rPr lang="zh-CN" altLang="en-US">
                <a:solidFill>
                  <a:schemeClr val="accent6"/>
                </a:solidFill>
              </a:rPr>
              <a:t>和</a:t>
            </a:r>
            <a:r>
              <a:rPr lang="en-US" altLang="zh-CN">
                <a:solidFill>
                  <a:schemeClr val="accent6"/>
                </a:solidFill>
              </a:rPr>
              <a:t>response message</a:t>
            </a:r>
            <a:r>
              <a:rPr lang="zh-CN" altLang="en-US">
                <a:solidFill>
                  <a:schemeClr val="accent6"/>
                </a:solidFill>
              </a:rPr>
              <a:t>，现在主要是</a:t>
            </a:r>
            <a:r>
              <a:rPr lang="en-US" altLang="zh-CN">
                <a:solidFill>
                  <a:schemeClr val="accent6"/>
                </a:solidFill>
              </a:rPr>
              <a:t>streaming RPC</a:t>
            </a:r>
            <a:r>
              <a:rPr lang="zh-CN" altLang="en-US">
                <a:solidFill>
                  <a:schemeClr val="accent6"/>
                </a:solidFill>
              </a:rPr>
              <a:t>。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2755" y="2303145"/>
            <a:ext cx="10596880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zh-CN" altLang="en-US" b="1">
                <a:solidFill>
                  <a:schemeClr val="accent1"/>
                </a:solidFill>
              </a:rPr>
              <a:t>发送方的基本行为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>
              <a:lnSpc>
                <a:spcPct val="140000"/>
              </a:lnSpc>
            </a:pPr>
            <a:r>
              <a:rPr lang="zh-CN" altLang="en-US">
                <a:solidFill>
                  <a:schemeClr val="tx1"/>
                </a:solidFill>
              </a:rPr>
              <a:t>发送方把要发送的数据分为未调度的部分（第一个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字节的数据），使用</a:t>
            </a:r>
            <a:r>
              <a:rPr lang="en-US" altLang="zh-CN">
                <a:solidFill>
                  <a:schemeClr val="tx1"/>
                </a:solidFill>
              </a:rPr>
              <a:t>DATA packet</a:t>
            </a:r>
            <a:r>
              <a:rPr lang="zh-CN" altLang="en-US">
                <a:solidFill>
                  <a:schemeClr val="tx1"/>
                </a:solidFill>
              </a:rPr>
              <a:t>进行传输；调度的部分采用</a:t>
            </a:r>
            <a:r>
              <a:rPr lang="en-US" altLang="zh-CN">
                <a:solidFill>
                  <a:schemeClr val="tx1"/>
                </a:solidFill>
              </a:rPr>
              <a:t>GRANT packet</a:t>
            </a:r>
            <a:r>
              <a:rPr lang="zh-CN" altLang="en-US">
                <a:solidFill>
                  <a:schemeClr val="tx1"/>
                </a:solidFill>
              </a:rPr>
              <a:t>进行传输。每个</a:t>
            </a:r>
            <a:r>
              <a:rPr lang="en-US" altLang="zh-CN">
                <a:sym typeface="+mn-ea"/>
              </a:rPr>
              <a:t>DATA packet</a:t>
            </a:r>
            <a:r>
              <a:rPr lang="zh-CN" altLang="en-US">
                <a:sym typeface="+mn-ea"/>
              </a:rPr>
              <a:t>都有优先级，每个优先级是接收方决定的。</a:t>
            </a:r>
            <a:endParaRPr lang="zh-CN" altLang="en-US">
              <a:sym typeface="+mn-ea"/>
            </a:endParaRPr>
          </a:p>
          <a:p>
            <a:pPr indent="457200">
              <a:lnSpc>
                <a:spcPct val="140000"/>
              </a:lnSpc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发送方给他的外发数据包使用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SRPT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：如果有多个消息同时等待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DATA packet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进行发送，那剩余字节数少的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message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的数据包会被优先发送。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注意：当调度数据包传输时，发送方不考虑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DATA packet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的优先级，这个优先级是为到达接收方的最后链路准备的。</a:t>
            </a:r>
            <a:endParaRPr lang="zh-CN" altLang="en-US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9755" y="4963795"/>
            <a:ext cx="1059688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accent1"/>
                </a:solidFill>
              </a:rPr>
              <a:t>3. </a:t>
            </a:r>
            <a:r>
              <a:rPr lang="zh-CN" altLang="en-US" b="1">
                <a:solidFill>
                  <a:schemeClr val="accent1"/>
                </a:solidFill>
              </a:rPr>
              <a:t>流控制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</a:rPr>
              <a:t>接收方调度到达的数据包是逐包调度的，收到了</a:t>
            </a:r>
            <a:r>
              <a:rPr lang="en-US" altLang="zh-CN">
                <a:solidFill>
                  <a:schemeClr val="tx1"/>
                </a:solidFill>
              </a:rPr>
              <a:t>DATA packet</a:t>
            </a:r>
            <a:r>
              <a:rPr lang="zh-CN" altLang="en-US">
                <a:solidFill>
                  <a:schemeClr val="tx1"/>
                </a:solidFill>
              </a:rPr>
              <a:t>，接收方反馈一个</a:t>
            </a:r>
            <a:r>
              <a:rPr lang="en-US" altLang="zh-CN">
                <a:solidFill>
                  <a:schemeClr val="tx1"/>
                </a:solidFill>
              </a:rPr>
              <a:t>GRANT packet</a:t>
            </a:r>
            <a:r>
              <a:rPr lang="zh-CN" altLang="en-US">
                <a:solidFill>
                  <a:schemeClr val="tx1"/>
                </a:solidFill>
              </a:rPr>
              <a:t>给发送方。</a:t>
            </a:r>
            <a:r>
              <a:rPr lang="en-US" altLang="zh-CN">
                <a:solidFill>
                  <a:schemeClr val="tx1"/>
                </a:solidFill>
              </a:rPr>
              <a:t>GRANT</a:t>
            </a:r>
            <a:r>
              <a:rPr lang="zh-CN" altLang="en-US">
                <a:solidFill>
                  <a:schemeClr val="tx1"/>
                </a:solidFill>
              </a:rPr>
              <a:t>允许发送方发送传输消息中截止指定偏移量的所有字节，从而保证授权但未接收的消息总有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字节数目。</a:t>
            </a:r>
            <a:r>
              <a:rPr lang="zh-CN" altLang="en-US">
                <a:solidFill>
                  <a:schemeClr val="accent6"/>
                </a:solidFill>
              </a:rPr>
              <a:t>因为数据传递延迟，因此每个到达的消息最多占据接收方</a:t>
            </a:r>
            <a:r>
              <a:rPr lang="en-US" altLang="zh-CN">
                <a:solidFill>
                  <a:schemeClr val="accent6"/>
                </a:solidFill>
              </a:rPr>
              <a:t>Tor</a:t>
            </a:r>
            <a:r>
              <a:rPr lang="zh-CN" altLang="en-US">
                <a:solidFill>
                  <a:schemeClr val="accent6"/>
                </a:solidFill>
              </a:rPr>
              <a:t>里面</a:t>
            </a:r>
            <a:r>
              <a:rPr lang="en-US" altLang="zh-CN">
                <a:solidFill>
                  <a:schemeClr val="accent6"/>
                </a:solidFill>
              </a:rPr>
              <a:t>RTT</a:t>
            </a:r>
            <a:r>
              <a:rPr lang="zh-CN" altLang="en-US">
                <a:solidFill>
                  <a:schemeClr val="accent6"/>
                </a:solidFill>
              </a:rPr>
              <a:t>字节缓存大小。</a:t>
            </a:r>
            <a:endParaRPr lang="zh-CN" altLang="en-US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5270" y="144780"/>
            <a:ext cx="310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Homa</a:t>
            </a:r>
            <a:r>
              <a:rPr lang="zh-CN" altLang="en-US" sz="2000"/>
              <a:t>的实现细节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96850" y="649605"/>
            <a:ext cx="4102735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2755" y="821690"/>
            <a:ext cx="10596880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accent1"/>
                </a:solidFill>
              </a:rPr>
              <a:t>4. </a:t>
            </a:r>
            <a:r>
              <a:rPr lang="zh-CN" altLang="en-US" b="1">
                <a:solidFill>
                  <a:schemeClr val="accent1"/>
                </a:solidFill>
              </a:rPr>
              <a:t>包优先级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</a:rPr>
              <a:t>为了接近</a:t>
            </a:r>
            <a:r>
              <a:rPr lang="en-US" altLang="zh-CN">
                <a:solidFill>
                  <a:schemeClr val="tx1"/>
                </a:solidFill>
              </a:rPr>
              <a:t>SRPT</a:t>
            </a:r>
            <a:r>
              <a:rPr lang="zh-CN" altLang="en-US">
                <a:solidFill>
                  <a:schemeClr val="tx1"/>
                </a:solidFill>
              </a:rPr>
              <a:t>，接收方为每一个到达的</a:t>
            </a:r>
            <a:r>
              <a:rPr lang="en-US" altLang="zh-CN">
                <a:solidFill>
                  <a:schemeClr val="tx1"/>
                </a:solidFill>
              </a:rPr>
              <a:t>DATA packet</a:t>
            </a:r>
            <a:r>
              <a:rPr lang="zh-CN" altLang="en-US">
                <a:solidFill>
                  <a:schemeClr val="tx1"/>
                </a:solidFill>
              </a:rPr>
              <a:t>设置优先级，对未调度的数据包和调度的数据包采用不同的策略。</a:t>
            </a:r>
            <a:endParaRPr lang="zh-CN" altLang="en-US">
              <a:solidFill>
                <a:schemeClr val="tx1"/>
              </a:solidFill>
            </a:endParaRPr>
          </a:p>
          <a:p>
            <a:pPr indent="457200">
              <a:lnSpc>
                <a:spcPct val="120000"/>
              </a:lnSpc>
            </a:pP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FF0000"/>
                </a:solidFill>
              </a:rPr>
              <a:t>未调度的数据包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875" y="1523365"/>
            <a:ext cx="4381500" cy="2933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5780" y="2683510"/>
            <a:ext cx="6612255" cy="3689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 indent="457200">
              <a:lnSpc>
                <a:spcPct val="120000"/>
              </a:lnSpc>
            </a:pPr>
            <a:r>
              <a:rPr lang="zh-CN" altLang="en-US">
                <a:sym typeface="+mn-ea"/>
              </a:rPr>
              <a:t>接收方根据当前的传输形式选择优先级分配，并通过其他包携带这个信息给发送方。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每个发送方会为每个接收方保留最新分配的优先级设置</a:t>
            </a:r>
            <a:r>
              <a:rPr lang="zh-CN" altLang="en-US">
                <a:sym typeface="+mn-ea"/>
              </a:rPr>
              <a:t>（每个接收方几十个字节），当传输未调度的数据包时使用他们。如果接收方到达的流量改变，他下一次会给他联系的发送方传播他新的优先级分配。</a:t>
            </a:r>
            <a:endParaRPr lang="zh-CN" altLang="en-US">
              <a:sym typeface="+mn-ea"/>
            </a:endParaRPr>
          </a:p>
          <a:p>
            <a:pPr marL="0" lvl="1" indent="457200">
              <a:lnSpc>
                <a:spcPct val="120000"/>
              </a:lnSpc>
            </a:pPr>
            <a:endParaRPr lang="zh-CN" altLang="en-US">
              <a:sym typeface="+mn-ea"/>
            </a:endParaRPr>
          </a:p>
          <a:p>
            <a:pPr marL="0" lvl="1" indent="457200">
              <a:lnSpc>
                <a:spcPct val="120000"/>
              </a:lnSpc>
            </a:pPr>
            <a:r>
              <a:rPr lang="en-US" altLang="zh-CN">
                <a:sym typeface="+mn-ea"/>
              </a:rPr>
              <a:t>Homa</a:t>
            </a:r>
            <a:r>
              <a:rPr lang="zh-CN" altLang="en-US">
                <a:sym typeface="+mn-ea"/>
              </a:rPr>
              <a:t>给未调度的数据包分配优先级，目的是让不同的优先级可以有相近的字节数。接收方把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高优先级分配给未调度</a:t>
            </a:r>
            <a:r>
              <a:rPr lang="zh-CN" altLang="en-US">
                <a:sym typeface="+mn-ea"/>
              </a:rPr>
              <a:t>的数据包，并在不同的优先级之间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设置截断值</a:t>
            </a:r>
            <a:r>
              <a:rPr lang="zh-CN" altLang="en-US">
                <a:sym typeface="+mn-ea"/>
              </a:rPr>
              <a:t>来保证每个优先级的字节数相似，短的消息有更高的优先级。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56475" y="4573905"/>
            <a:ext cx="4402455" cy="2011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/>
              <a:t>上图未调度的数据包占</a:t>
            </a:r>
            <a:r>
              <a:rPr lang="en-US" altLang="zh-CN" sz="1600"/>
              <a:t>80%</a:t>
            </a:r>
            <a:r>
              <a:rPr lang="zh-CN" altLang="en-US" sz="1600"/>
              <a:t>，一共有</a:t>
            </a:r>
            <a:r>
              <a:rPr lang="en-US" altLang="zh-CN" sz="1600"/>
              <a:t>8</a:t>
            </a:r>
            <a:r>
              <a:rPr lang="zh-CN" altLang="en-US" sz="1600"/>
              <a:t>个优先级，</a:t>
            </a:r>
            <a:r>
              <a:rPr lang="en-US" altLang="zh-CN" sz="1600"/>
              <a:t>0~1</a:t>
            </a:r>
            <a:r>
              <a:rPr lang="zh-CN" altLang="en-US" sz="1600"/>
              <a:t>（低优先级）分配给调度数据包，</a:t>
            </a:r>
            <a:r>
              <a:rPr lang="en-US" altLang="zh-CN" sz="1600"/>
              <a:t>2~7</a:t>
            </a:r>
            <a:r>
              <a:rPr lang="zh-CN" altLang="en-US" sz="1600"/>
              <a:t>（高优先级）分配给未调度数据包。</a:t>
            </a:r>
            <a:endParaRPr lang="zh-CN" altLang="en-US" sz="1600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/>
              <a:t>接收方为保证每个优先级接收字节数相近，根据传输消息的长度设置了截断值供发送方参考。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5270" y="144780"/>
            <a:ext cx="310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Homa</a:t>
            </a:r>
            <a:r>
              <a:rPr lang="zh-CN" altLang="en-US" sz="2000"/>
              <a:t>的实现细节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96850" y="649605"/>
            <a:ext cx="4102735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2755" y="821690"/>
            <a:ext cx="10596880" cy="2084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accent1"/>
                </a:solidFill>
              </a:rPr>
              <a:t>4. </a:t>
            </a:r>
            <a:r>
              <a:rPr lang="zh-CN" altLang="en-US" b="1">
                <a:solidFill>
                  <a:schemeClr val="accent1"/>
                </a:solidFill>
              </a:rPr>
              <a:t>包优先级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</a:rPr>
              <a:t>为了接近</a:t>
            </a:r>
            <a:r>
              <a:rPr lang="en-US" altLang="zh-CN">
                <a:solidFill>
                  <a:schemeClr val="tx1"/>
                </a:solidFill>
              </a:rPr>
              <a:t>SRPT</a:t>
            </a:r>
            <a:r>
              <a:rPr lang="zh-CN" altLang="en-US">
                <a:solidFill>
                  <a:schemeClr val="tx1"/>
                </a:solidFill>
              </a:rPr>
              <a:t>，接收方为每一个到达的</a:t>
            </a:r>
            <a:r>
              <a:rPr lang="en-US" altLang="zh-CN">
                <a:solidFill>
                  <a:schemeClr val="tx1"/>
                </a:solidFill>
              </a:rPr>
              <a:t>DATA packet</a:t>
            </a:r>
            <a:r>
              <a:rPr lang="zh-CN" altLang="en-US">
                <a:solidFill>
                  <a:schemeClr val="tx1"/>
                </a:solidFill>
              </a:rPr>
              <a:t>设置优先级，对未调度的数据包和调度的数据包采用不同的策略。</a:t>
            </a:r>
            <a:endParaRPr lang="zh-CN" altLang="en-US">
              <a:solidFill>
                <a:schemeClr val="tx1"/>
              </a:solidFill>
            </a:endParaRPr>
          </a:p>
          <a:p>
            <a:pPr indent="457200">
              <a:lnSpc>
                <a:spcPct val="120000"/>
              </a:lnSpc>
            </a:pP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FF0000"/>
                </a:solidFill>
              </a:rPr>
              <a:t>调度的数据包</a:t>
            </a:r>
            <a:endParaRPr lang="zh-CN" altLang="en-US" b="1">
              <a:solidFill>
                <a:srgbClr val="FF0000"/>
              </a:solidFill>
            </a:endParaRPr>
          </a:p>
          <a:p>
            <a:pPr indent="45720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7070" y="2726690"/>
            <a:ext cx="6925945" cy="3357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对于调度的数据包，接受放在</a:t>
            </a:r>
            <a:r>
              <a:rPr lang="en-US" altLang="zh-CN">
                <a:sym typeface="+mn-ea"/>
              </a:rPr>
              <a:t>GRANT packet</a:t>
            </a:r>
            <a:r>
              <a:rPr lang="zh-CN" altLang="en-US">
                <a:sym typeface="+mn-ea"/>
              </a:rPr>
              <a:t>里面指定优先级，发送方根据</a:t>
            </a:r>
            <a:r>
              <a:rPr lang="en-US" altLang="zh-CN">
                <a:sym typeface="+mn-ea"/>
              </a:rPr>
              <a:t>GRANT packet</a:t>
            </a:r>
            <a:r>
              <a:rPr lang="zh-CN" altLang="en-US">
                <a:sym typeface="+mn-ea"/>
              </a:rPr>
              <a:t>里面设置的优先级发送数据。这里是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接收方根据接收状态设置优先级</a:t>
            </a:r>
            <a:r>
              <a:rPr lang="zh-CN" altLang="en-US">
                <a:sym typeface="+mn-ea"/>
              </a:rPr>
              <a:t>，比发送方根据历史趋势设置优先级（</a:t>
            </a:r>
            <a:r>
              <a:rPr lang="en-US" altLang="zh-CN">
                <a:sym typeface="+mn-ea"/>
              </a:rPr>
              <a:t>PIAS</a:t>
            </a:r>
            <a:r>
              <a:rPr lang="zh-CN" altLang="en-US">
                <a:sym typeface="+mn-ea"/>
              </a:rPr>
              <a:t>方案）更接近</a:t>
            </a:r>
            <a:r>
              <a:rPr lang="en-US" altLang="zh-CN">
                <a:sym typeface="+mn-ea"/>
              </a:rPr>
              <a:t>SRPT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indent="457200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未授权字节数少的消息有更高的优先级，如果到达的消息数目超过调度的优先级的层级，那只授权前几个优先级最高的消息；如果到达的消息的数目比调度的优先级层级少，那</a:t>
            </a:r>
            <a:r>
              <a:rPr lang="en-US" altLang="zh-CN">
                <a:sym typeface="+mn-ea"/>
              </a:rPr>
              <a:t>Homa</a:t>
            </a:r>
            <a:r>
              <a:rPr lang="zh-CN" altLang="en-US">
                <a:sym typeface="+mn-ea"/>
              </a:rPr>
              <a:t>使用最低的可用优先级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（这样的好处是可以防止优先级滞后，给高优先级的消息让出空间）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730" y="2023110"/>
            <a:ext cx="3667125" cy="2343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263890" y="4531995"/>
            <a:ext cx="34512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m</a:t>
            </a:r>
            <a:r>
              <a:rPr lang="zh-CN" altLang="en-US"/>
              <a:t>：消息</a:t>
            </a:r>
            <a:r>
              <a:rPr lang="en-US" altLang="zh-CN"/>
              <a:t>  p</a:t>
            </a:r>
            <a:r>
              <a:rPr lang="zh-CN" altLang="en-US"/>
              <a:t>：端口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u</a:t>
            </a:r>
            <a:r>
              <a:rPr lang="zh-CN" altLang="en-US"/>
              <a:t>：</a:t>
            </a:r>
            <a:r>
              <a:rPr lang="en-US" altLang="zh-CN"/>
              <a:t>unscheduled</a:t>
            </a:r>
            <a:r>
              <a:rPr lang="zh-CN" altLang="en-US"/>
              <a:t>未调度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S:scheduled</a:t>
            </a:r>
            <a:r>
              <a:rPr lang="zh-CN" altLang="en-US"/>
              <a:t>已调度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m1-S3</a:t>
            </a:r>
            <a:r>
              <a:rPr lang="zh-CN" altLang="en-US"/>
              <a:t>：消息</a:t>
            </a:r>
            <a:r>
              <a:rPr lang="en-US" altLang="zh-CN"/>
              <a:t>1</a:t>
            </a:r>
            <a:r>
              <a:rPr lang="zh-CN" altLang="en-US"/>
              <a:t>，已调度的数据包，优先级</a:t>
            </a:r>
            <a:r>
              <a:rPr lang="en-US" altLang="zh-CN"/>
              <a:t>3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5270" y="144780"/>
            <a:ext cx="310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Homa</a:t>
            </a:r>
            <a:r>
              <a:rPr lang="zh-CN" altLang="en-US" sz="2000"/>
              <a:t>的实现细节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96850" y="649605"/>
            <a:ext cx="4102735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2755" y="821690"/>
            <a:ext cx="10596880" cy="1240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accent1"/>
                </a:solidFill>
              </a:rPr>
              <a:t>5. </a:t>
            </a:r>
            <a:r>
              <a:rPr lang="zh-CN" altLang="en-US" b="1">
                <a:solidFill>
                  <a:schemeClr val="accent1"/>
                </a:solidFill>
              </a:rPr>
              <a:t>超额分配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en-US" altLang="zh-CN">
                <a:solidFill>
                  <a:schemeClr val="tx1"/>
                </a:solidFill>
              </a:rPr>
              <a:t>Homa</a:t>
            </a:r>
            <a:r>
              <a:rPr lang="zh-CN" altLang="en-US">
                <a:solidFill>
                  <a:schemeClr val="tx1"/>
                </a:solidFill>
              </a:rPr>
              <a:t>一个重要的设计师接受放在任何指定时间应该允许多少消息到来，接收方只要不发</a:t>
            </a:r>
            <a:r>
              <a:rPr lang="en-US" altLang="zh-CN">
                <a:solidFill>
                  <a:schemeClr val="tx1"/>
                </a:solidFill>
              </a:rPr>
              <a:t>GRANT</a:t>
            </a:r>
            <a:r>
              <a:rPr lang="zh-CN" altLang="en-US">
                <a:solidFill>
                  <a:schemeClr val="tx1"/>
                </a:solidFill>
              </a:rPr>
              <a:t>，发送方就停止相应消息的传输，我们把接收方想要发送</a:t>
            </a:r>
            <a:r>
              <a:rPr lang="en-US" altLang="zh-CN">
                <a:solidFill>
                  <a:schemeClr val="tx1"/>
                </a:solidFill>
              </a:rPr>
              <a:t>GRANT</a:t>
            </a:r>
            <a:r>
              <a:rPr lang="zh-CN" altLang="en-US">
                <a:solidFill>
                  <a:schemeClr val="tx1"/>
                </a:solidFill>
              </a:rPr>
              <a:t>的流标记为</a:t>
            </a:r>
            <a:r>
              <a:rPr lang="en-US" altLang="zh-CN">
                <a:solidFill>
                  <a:schemeClr val="tx1"/>
                </a:solidFill>
              </a:rPr>
              <a:t>active</a:t>
            </a:r>
            <a:r>
              <a:rPr lang="zh-CN" altLang="en-US">
                <a:solidFill>
                  <a:schemeClr val="tx1"/>
                </a:solidFill>
              </a:rPr>
              <a:t>，其他为</a:t>
            </a:r>
            <a:r>
              <a:rPr lang="en-US" altLang="zh-CN">
                <a:solidFill>
                  <a:schemeClr val="tx1"/>
                </a:solidFill>
              </a:rPr>
              <a:t>inactive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  <a:p>
            <a:pPr indent="45720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755" y="1976755"/>
            <a:ext cx="262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出现问题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8175" y="2400300"/>
            <a:ext cx="10728325" cy="1751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一种方案是所有时候所有到来的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流都是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active</a:t>
            </a:r>
            <a:r>
              <a:rPr lang="zh-CN" altLang="en-US">
                <a:sym typeface="+mn-ea"/>
              </a:rPr>
              <a:t>，这是</a:t>
            </a:r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和很多现存方案使用的，但这导致了高缓存占用和</a:t>
            </a:r>
            <a:r>
              <a:rPr lang="en-US" altLang="zh-CN">
                <a:sym typeface="+mn-ea"/>
              </a:rPr>
              <a:t>message</a:t>
            </a:r>
            <a:r>
              <a:rPr lang="zh-CN" altLang="en-US">
                <a:sym typeface="+mn-ea"/>
              </a:rPr>
              <a:t>的轮询调度，导致了较高尾延迟。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Homa</a:t>
            </a:r>
            <a:r>
              <a:rPr lang="zh-CN" altLang="en-US">
                <a:sym typeface="+mn-ea"/>
              </a:rPr>
              <a:t>开始设计是每次接收方只给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一条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active message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发放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grant</a:t>
            </a:r>
            <a:r>
              <a:rPr lang="zh-CN" altLang="en-US">
                <a:sym typeface="+mn-ea"/>
              </a:rPr>
              <a:t>，如果最高优先级的</a:t>
            </a:r>
            <a:r>
              <a:rPr lang="en-US" altLang="zh-CN">
                <a:sym typeface="+mn-ea"/>
              </a:rPr>
              <a:t>message</a:t>
            </a:r>
            <a:r>
              <a:rPr lang="zh-CN" altLang="en-US">
                <a:sym typeface="+mn-ea"/>
              </a:rPr>
              <a:t>发完再发送次高优先级，这可以让缓存减小，应用</a:t>
            </a:r>
            <a:r>
              <a:rPr lang="en-US" altLang="zh-CN">
                <a:sym typeface="+mn-ea"/>
              </a:rPr>
              <a:t>run-to-completion</a:t>
            </a:r>
            <a:r>
              <a:rPr lang="zh-CN" altLang="en-US">
                <a:sym typeface="+mn-ea"/>
              </a:rPr>
              <a:t>而不是</a:t>
            </a:r>
            <a:r>
              <a:rPr lang="en-US" altLang="zh-CN">
                <a:sym typeface="+mn-ea"/>
              </a:rPr>
              <a:t>round-robin scheduling</a:t>
            </a:r>
            <a:r>
              <a:rPr lang="zh-CN" altLang="en-US">
                <a:sym typeface="+mn-ea"/>
              </a:rPr>
              <a:t>。但是在高网络负载下只允许一条活跃流会导致低链路利用率，特殊情况下只有</a:t>
            </a:r>
            <a:r>
              <a:rPr lang="en-US" altLang="zh-CN">
                <a:sym typeface="+mn-ea"/>
              </a:rPr>
              <a:t>63%</a:t>
            </a:r>
            <a:r>
              <a:rPr lang="zh-CN" altLang="en-US">
                <a:sym typeface="+mn-ea"/>
              </a:rPr>
              <a:t>，因为发送方不及时响应。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655" y="4207510"/>
            <a:ext cx="262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缓解方案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1715" y="4754245"/>
            <a:ext cx="9762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0890" y="4747260"/>
            <a:ext cx="10212070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/>
              <a:t>因为无法判断发送方是否响应</a:t>
            </a:r>
            <a:r>
              <a:rPr lang="en-US" altLang="zh-CN"/>
              <a:t>grants</a:t>
            </a:r>
            <a:r>
              <a:rPr lang="zh-CN" altLang="en-US"/>
              <a:t>，为了让下游链路充分利用需要</a:t>
            </a:r>
            <a:r>
              <a:rPr lang="en-US" altLang="zh-CN" b="1">
                <a:solidFill>
                  <a:srgbClr val="7030A0"/>
                </a:solidFill>
              </a:rPr>
              <a:t>overcommit</a:t>
            </a:r>
            <a:r>
              <a:rPr lang="zh-CN" altLang="en-US" b="1">
                <a:solidFill>
                  <a:srgbClr val="7030A0"/>
                </a:solidFill>
              </a:rPr>
              <a:t>（超额分配）</a:t>
            </a:r>
            <a:r>
              <a:rPr lang="zh-CN" altLang="en-US"/>
              <a:t>：接收方必须同时给多个发送方授权，即使下游链路一次只能支持一个发送方传输。</a:t>
            </a:r>
            <a:endParaRPr lang="zh-CN" altLang="en-US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/>
              <a:t>这样如果一个发送方未响应，那另一个发送方会响应并传输，如果多个发送方同时响应，那优先机制保证小的消息先传输，其他消息缓存在</a:t>
            </a:r>
            <a:r>
              <a:rPr lang="en-US" altLang="zh-CN"/>
              <a:t>Tor</a:t>
            </a:r>
            <a:r>
              <a:rPr lang="zh-CN" altLang="en-US"/>
              <a:t>里。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5270" y="144780"/>
            <a:ext cx="310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Homa</a:t>
            </a:r>
            <a:r>
              <a:rPr lang="zh-CN" altLang="en-US" sz="2000"/>
              <a:t>的实现细节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96850" y="649605"/>
            <a:ext cx="4102735" cy="1460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2755" y="821690"/>
            <a:ext cx="10596880" cy="1240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accent1"/>
                </a:solidFill>
              </a:rPr>
              <a:t>5. </a:t>
            </a:r>
            <a:r>
              <a:rPr lang="zh-CN" altLang="en-US" b="1">
                <a:solidFill>
                  <a:schemeClr val="accent1"/>
                </a:solidFill>
              </a:rPr>
              <a:t>超额分配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>
              <a:lnSpc>
                <a:spcPct val="120000"/>
              </a:lnSpc>
            </a:pPr>
            <a:r>
              <a:rPr lang="zh-CN" altLang="en-US">
                <a:sym typeface="+mn-ea"/>
              </a:rPr>
              <a:t>因为无法判断发送方是否响应</a:t>
            </a:r>
            <a:r>
              <a:rPr lang="en-US" altLang="zh-CN">
                <a:sym typeface="+mn-ea"/>
              </a:rPr>
              <a:t>grants</a:t>
            </a:r>
            <a:r>
              <a:rPr lang="zh-CN" altLang="en-US">
                <a:sym typeface="+mn-ea"/>
              </a:rPr>
              <a:t>，为了让下游链路充分利用需要</a:t>
            </a:r>
            <a:r>
              <a:rPr lang="en-US" altLang="zh-CN" b="1">
                <a:solidFill>
                  <a:srgbClr val="7030A0"/>
                </a:solidFill>
                <a:sym typeface="+mn-ea"/>
              </a:rPr>
              <a:t>overcommit</a:t>
            </a:r>
            <a:r>
              <a:rPr lang="zh-CN" altLang="en-US" b="1">
                <a:solidFill>
                  <a:srgbClr val="7030A0"/>
                </a:solidFill>
                <a:sym typeface="+mn-ea"/>
              </a:rPr>
              <a:t>（超额分配）</a:t>
            </a:r>
            <a:r>
              <a:rPr lang="zh-CN" altLang="en-US">
                <a:sym typeface="+mn-ea"/>
              </a:rPr>
              <a:t>：接收方必须同时给多个发送方授权，即使下游链路一次只能支持一个发送方传输。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  <a:p>
            <a:pPr indent="45720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755" y="2103755"/>
            <a:ext cx="2629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参数设置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8175" y="2590165"/>
            <a:ext cx="10728325" cy="1973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70000"/>
              </a:lnSpc>
              <a:buFont typeface="Wingdings" panose="05000000000000000000" charset="0"/>
              <a:buChar char="l"/>
            </a:pPr>
            <a:r>
              <a:rPr lang="zh-CN" altLang="en-US">
                <a:sym typeface="+mn-ea"/>
              </a:rPr>
              <a:t>我们用</a:t>
            </a:r>
            <a:r>
              <a:rPr lang="zh-CN" altLang="en-US" b="1">
                <a:solidFill>
                  <a:srgbClr val="7030A0"/>
                </a:solidFill>
                <a:sym typeface="+mn-ea"/>
              </a:rPr>
              <a:t>超额程度（</a:t>
            </a:r>
            <a:r>
              <a:rPr lang="en-US" altLang="zh-CN" b="1">
                <a:solidFill>
                  <a:srgbClr val="7030A0"/>
                </a:solidFill>
                <a:sym typeface="+mn-ea"/>
              </a:rPr>
              <a:t>degree of overcommit</a:t>
            </a:r>
            <a:r>
              <a:rPr lang="zh-CN" altLang="en-US" b="1">
                <a:solidFill>
                  <a:srgbClr val="7030A0"/>
                </a:solidFill>
                <a:sym typeface="+mn-ea"/>
              </a:rPr>
              <a:t>）</a:t>
            </a:r>
            <a:r>
              <a:rPr lang="zh-CN" altLang="en-US">
                <a:sym typeface="+mn-ea"/>
              </a:rPr>
              <a:t>来表示同时可以存在几条</a:t>
            </a:r>
            <a:r>
              <a:rPr lang="en-US" altLang="zh-CN">
                <a:sym typeface="+mn-ea"/>
              </a:rPr>
              <a:t>active</a:t>
            </a:r>
            <a:r>
              <a:rPr lang="zh-CN" altLang="en-US">
                <a:sym typeface="+mn-ea"/>
              </a:rPr>
              <a:t>流，</a:t>
            </a:r>
            <a:r>
              <a:rPr lang="en-US" altLang="zh-CN">
                <a:sym typeface="+mn-ea"/>
              </a:rPr>
              <a:t>active</a:t>
            </a:r>
            <a:r>
              <a:rPr lang="zh-CN" altLang="en-US">
                <a:sym typeface="+mn-ea"/>
              </a:rPr>
              <a:t>流越多，下游链路的利用率越高，但是</a:t>
            </a:r>
            <a:r>
              <a:rPr lang="en-US" altLang="zh-CN">
                <a:sym typeface="+mn-ea"/>
              </a:rPr>
              <a:t>Tor</a:t>
            </a:r>
            <a:r>
              <a:rPr lang="zh-CN" altLang="en-US">
                <a:sym typeface="+mn-ea"/>
              </a:rPr>
              <a:t>交换机的缓存占用增多，且消息轮询，增加了平均完成时间。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70000"/>
              </a:lnSpc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Homa</a:t>
            </a:r>
            <a:r>
              <a:rPr lang="zh-CN" altLang="en-US">
                <a:sym typeface="+mn-ea"/>
              </a:rPr>
              <a:t>设置</a:t>
            </a:r>
            <a:r>
              <a:rPr lang="zh-CN" altLang="en-US" b="1">
                <a:solidFill>
                  <a:srgbClr val="7030A0"/>
                </a:solidFill>
                <a:sym typeface="+mn-ea"/>
              </a:rPr>
              <a:t>超额程度</a:t>
            </a:r>
            <a:r>
              <a:rPr lang="en-US" altLang="zh-CN" b="1">
                <a:solidFill>
                  <a:srgbClr val="7030A0"/>
                </a:solidFill>
                <a:sym typeface="+mn-ea"/>
              </a:rPr>
              <a:t>=</a:t>
            </a:r>
            <a:r>
              <a:rPr lang="zh-CN" altLang="en-US" b="1">
                <a:solidFill>
                  <a:srgbClr val="7030A0"/>
                </a:solidFill>
                <a:sym typeface="+mn-ea"/>
              </a:rPr>
              <a:t>调度的优先级层数</a:t>
            </a:r>
            <a:r>
              <a:rPr lang="zh-CN" altLang="en-US">
                <a:sym typeface="+mn-ea"/>
              </a:rPr>
              <a:t>，接收方对每个可用的优先级层级最多授权一个消息，这取得了良好的效果。</a:t>
            </a:r>
            <a:r>
              <a:rPr lang="en-US" altLang="zh-CN">
                <a:sym typeface="+mn-ea"/>
              </a:rPr>
              <a:t>Homa</a:t>
            </a:r>
            <a:r>
              <a:rPr lang="zh-CN" altLang="en-US">
                <a:sym typeface="+mn-ea"/>
              </a:rPr>
              <a:t>适度引入了缓冲区，并通过优先机制取得良好效果。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1715" y="4754245"/>
            <a:ext cx="9762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3065</Words>
  <Application>WPS 演示</Application>
  <PresentationFormat>宽屏</PresentationFormat>
  <Paragraphs>116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perseverejia</cp:lastModifiedBy>
  <cp:revision>12</cp:revision>
  <dcterms:created xsi:type="dcterms:W3CDTF">2023-08-09T12:44:00Z</dcterms:created>
  <dcterms:modified xsi:type="dcterms:W3CDTF">2026-02-04T08:44:58Z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A59A80C53B024B428F112902523F6411_12</vt:lpwstr>
  </property>
</Properties>
</file>