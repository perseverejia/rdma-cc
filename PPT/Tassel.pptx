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95" y="654685"/>
            <a:ext cx="9241790" cy="2253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75355" y="3147060"/>
            <a:ext cx="5240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Tassel  :  </a:t>
            </a:r>
            <a:r>
              <a:rPr lang="zh-CN" altLang="en-US" sz="2400" b="1"/>
              <a:t>在</a:t>
            </a:r>
            <a:r>
              <a:rPr lang="en-US" altLang="zh-CN" sz="2400" b="1"/>
              <a:t>RNIC</a:t>
            </a:r>
            <a:r>
              <a:rPr lang="zh-CN" altLang="en-US" sz="2400" b="1"/>
              <a:t>上实现的速率控制器</a:t>
            </a:r>
            <a:endParaRPr lang="zh-CN" altLang="en-US" sz="2400" b="1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699135" y="4109720"/>
            <a:ext cx="3539490" cy="121856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为了提高</a:t>
            </a:r>
            <a:r>
              <a:rPr lang="en-US" altLang="zh-CN"/>
              <a:t>QoS</a:t>
            </a:r>
            <a:r>
              <a:rPr lang="zh-CN" altLang="en-US"/>
              <a:t>（服务质量），需要网卡对需要发送的包进行排序，优先发送高优先级的包。</a:t>
            </a:r>
            <a:endParaRPr lang="zh-CN" altLang="en-US"/>
          </a:p>
        </p:txBody>
      </p: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4747260" y="4142105"/>
            <a:ext cx="3114040" cy="11537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现有的方案可以保证正确性和可扩展性，但是速度慢。</a:t>
            </a:r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4"/>
            </p:custDataLst>
          </p:nvPr>
        </p:nvSpPr>
        <p:spPr>
          <a:xfrm>
            <a:off x="8369935" y="4141788"/>
            <a:ext cx="3107690" cy="11544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Tassel</a:t>
            </a:r>
            <a:r>
              <a:rPr lang="zh-CN" altLang="en-US"/>
              <a:t>实现了层次化的速率控制器，减少排序时延对传输性能造成的损失。</a:t>
            </a:r>
            <a:endParaRPr lang="zh-CN" altLang="en-US"/>
          </a:p>
        </p:txBody>
      </p:sp>
      <p:sp>
        <p:nvSpPr>
          <p:cNvPr id="6" name="右箭头 5"/>
          <p:cNvSpPr/>
          <p:nvPr>
            <p:custDataLst>
              <p:tags r:id="rId5"/>
            </p:custDataLst>
          </p:nvPr>
        </p:nvSpPr>
        <p:spPr>
          <a:xfrm>
            <a:off x="4318000" y="4613910"/>
            <a:ext cx="382270" cy="1949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7924800" y="4613910"/>
            <a:ext cx="382270" cy="1949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045970" y="5554980"/>
            <a:ext cx="757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场景</a:t>
            </a:r>
            <a:endParaRPr lang="zh-CN" altLang="en-US" b="1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5925820" y="5554980"/>
            <a:ext cx="757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9711690" y="5554980"/>
            <a:ext cx="915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方案</a:t>
            </a:r>
            <a:endParaRPr lang="zh-CN" altLang="en-US" b="1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29540" y="152400"/>
            <a:ext cx="4927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架构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76200" y="588645"/>
            <a:ext cx="4260850" cy="311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400" y="328930"/>
            <a:ext cx="5559425" cy="61442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9540" y="753745"/>
            <a:ext cx="123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应对场景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1005" y="1256030"/>
            <a:ext cx="56743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主机内有多个流等待发送，</a:t>
            </a:r>
            <a:r>
              <a:rPr lang="en-US" altLang="zh-CN"/>
              <a:t>RDMA</a:t>
            </a:r>
            <a:r>
              <a:rPr lang="zh-CN" altLang="en-US"/>
              <a:t>网卡要</a:t>
            </a:r>
            <a:r>
              <a:rPr lang="zh-CN" altLang="en-US">
                <a:solidFill>
                  <a:schemeClr val="accent6"/>
                </a:solidFill>
              </a:rPr>
              <a:t>优先调度高优先级的流</a:t>
            </a:r>
            <a:r>
              <a:rPr lang="zh-CN" altLang="en-US"/>
              <a:t>，而不单纯调度需要发送的数据流。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58800" y="2275205"/>
            <a:ext cx="50196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RNIC</a:t>
            </a:r>
            <a:r>
              <a:rPr lang="zh-CN" altLang="en-US"/>
              <a:t>需要根据流权重计算每个流</a:t>
            </a:r>
            <a:r>
              <a:rPr lang="zh-CN" altLang="en-US">
                <a:solidFill>
                  <a:schemeClr val="accent6"/>
                </a:solidFill>
              </a:rPr>
              <a:t>头部数据包</a:t>
            </a:r>
            <a:r>
              <a:rPr lang="zh-CN" altLang="en-US"/>
              <a:t>理论传输时间，</a:t>
            </a:r>
            <a:r>
              <a:rPr lang="zh-CN" altLang="en-US">
                <a:sym typeface="+mn-ea"/>
              </a:rPr>
              <a:t>对头部数据包发送时间进行排序，</a:t>
            </a:r>
            <a:r>
              <a:rPr lang="zh-CN" altLang="en-US"/>
              <a:t>找到有最近传输时间的流。</a:t>
            </a:r>
            <a:endParaRPr lang="en-US" altLang="zh-CN"/>
          </a:p>
        </p:txBody>
      </p:sp>
      <p:sp>
        <p:nvSpPr>
          <p:cNvPr id="18" name="下箭头 17"/>
          <p:cNvSpPr/>
          <p:nvPr/>
        </p:nvSpPr>
        <p:spPr>
          <a:xfrm>
            <a:off x="2880995" y="1953895"/>
            <a:ext cx="199390" cy="2679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2880995" y="3299460"/>
            <a:ext cx="199390" cy="2679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58800" y="3669665"/>
            <a:ext cx="5065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现有的方案获取的调度流后，只发送该流的头部数据包，因此将流排序一次</a:t>
            </a:r>
            <a:r>
              <a:rPr lang="zh-CN" altLang="en-US">
                <a:solidFill>
                  <a:schemeClr val="accent6"/>
                </a:solidFill>
              </a:rPr>
              <a:t>只发送一个数据包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58800" y="4852670"/>
            <a:ext cx="5778500" cy="125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/>
              <a:t>本文在流调度之后抓取</a:t>
            </a:r>
            <a:r>
              <a:rPr lang="zh-CN" altLang="en-US">
                <a:solidFill>
                  <a:srgbClr val="00B050"/>
                </a:solidFill>
              </a:rPr>
              <a:t>多个数据包</a:t>
            </a:r>
            <a:r>
              <a:rPr lang="zh-CN" altLang="en-US"/>
              <a:t>，流排序一次后可以发送多个数据包。因此分为</a:t>
            </a:r>
            <a:r>
              <a:rPr lang="zh-CN" altLang="en-US">
                <a:solidFill>
                  <a:srgbClr val="00B050"/>
                </a:solidFill>
              </a:rPr>
              <a:t>两层结构</a:t>
            </a:r>
            <a:r>
              <a:rPr lang="zh-CN" altLang="en-US"/>
              <a:t>，一层是流层速率控制；一层是包层速率控制。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29540" y="152400"/>
            <a:ext cx="4927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架构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76200" y="588645"/>
            <a:ext cx="4260850" cy="311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400" y="328930"/>
            <a:ext cx="5559425" cy="614426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9540" y="753745"/>
            <a:ext cx="123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实现介绍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36245" y="1122045"/>
                <a:ext cx="5854700" cy="568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/>
                  <a:t>根据流头部数据包传输时间给流排序。</a:t>
                </a:r>
                <a:endParaRPr lang="zh-CN" altLang="en-US"/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/>
                  <a:t>监控当前时间，调度流。</a:t>
                </a:r>
                <a:endParaRPr lang="zh-CN" altLang="en-US"/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/>
                  <a:t>抓取调度流的多个数据包。</a:t>
                </a:r>
                <a:endParaRPr lang="zh-CN" altLang="en-US"/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/>
                  <a:t>根据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𝑊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算法计算包传输时间。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只选传输时间落在即时窗口（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imminent window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）里的数据包，其他数据包丢弃，下次再抓取。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对于丢弃的数据包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package schedule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确定</a:t>
                </a:r>
                <a:r>
                  <a:rPr lang="zh-CN" altLang="en-US"/>
                  <a:t>这些丢弃的数据包中最近需要传输的包，告知</a:t>
                </a:r>
                <a:r>
                  <a:rPr lang="en-US" altLang="zh-CN"/>
                  <a:t>flow schedule</a:t>
                </a:r>
                <a:r>
                  <a:rPr lang="zh-CN" altLang="en-US"/>
                  <a:t>：</a:t>
                </a:r>
                <a:r>
                  <a:rPr lang="en-US" altLang="zh-CN">
                    <a:solidFill>
                      <a:schemeClr val="accent6"/>
                    </a:solidFill>
                  </a:rPr>
                  <a:t>1</a:t>
                </a:r>
                <a:r>
                  <a:rPr lang="zh-CN" altLang="en-US">
                    <a:solidFill>
                      <a:schemeClr val="accent6"/>
                    </a:solidFill>
                  </a:rPr>
                  <a:t>）将这个包作为相应流的包头</a:t>
                </a:r>
                <a:r>
                  <a:rPr lang="en-US" altLang="zh-CN">
                    <a:solidFill>
                      <a:schemeClr val="accent6"/>
                    </a:solidFill>
                  </a:rPr>
                  <a:t> 2</a:t>
                </a:r>
                <a:r>
                  <a:rPr lang="zh-CN" altLang="en-US">
                    <a:solidFill>
                      <a:schemeClr val="accent6"/>
                    </a:solidFill>
                  </a:rPr>
                  <a:t>）使用他的传输时间来更新流的调度时间</a:t>
                </a:r>
                <a:r>
                  <a:rPr lang="en-US" altLang="zh-CN">
                    <a:solidFill>
                      <a:schemeClr val="accent6"/>
                    </a:solidFill>
                  </a:rPr>
                  <a:t> 3</a:t>
                </a:r>
                <a:r>
                  <a:rPr lang="zh-CN" altLang="en-US">
                    <a:solidFill>
                      <a:schemeClr val="accent6"/>
                    </a:solidFill>
                  </a:rPr>
                  <a:t>）重新调度该流。</a:t>
                </a:r>
                <a:endParaRPr lang="zh-CN" altLang="en-US">
                  <a:solidFill>
                    <a:schemeClr val="accent6"/>
                  </a:solidFill>
                </a:endParaRPr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>
                    <a:solidFill>
                      <a:schemeClr val="tx1"/>
                    </a:solidFill>
                  </a:rPr>
                  <a:t>将数据包按传输时间排序</a:t>
                </a:r>
                <a:endParaRPr lang="zh-CN" altLang="en-US">
                  <a:solidFill>
                    <a:schemeClr val="tx1"/>
                  </a:solidFill>
                </a:endParaRPr>
              </a:p>
              <a:p>
                <a:pPr marL="342900" indent="-342900">
                  <a:lnSpc>
                    <a:spcPct val="140000"/>
                  </a:lnSpc>
                  <a:buFont typeface="+mj-ea"/>
                  <a:buAutoNum type="circleNumDbPlain"/>
                </a:pPr>
                <a:r>
                  <a:rPr lang="zh-CN" altLang="en-US">
                    <a:solidFill>
                      <a:schemeClr val="tx1"/>
                    </a:solidFill>
                  </a:rPr>
                  <a:t>按顺序发送数据包，如果有多个数据包发送时间相同，根据优先级，先发送结束时间早的数据包。</a:t>
                </a:r>
                <a:endParaRPr lang="zh-CN" altLang="en-US">
                  <a:solidFill>
                    <a:schemeClr val="tx1"/>
                  </a:solidFill>
                </a:endParaRPr>
              </a:p>
              <a:p>
                <a:pPr marL="342900" indent="-342900">
                  <a:buFont typeface="+mj-ea"/>
                  <a:buAutoNum type="circleNumDbPlain"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buFont typeface="+mj-ea"/>
                  <a:buAutoNum type="circleNumDbPlain"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45" y="1122045"/>
                <a:ext cx="5854700" cy="5682615"/>
              </a:xfrm>
              <a:prstGeom prst="rect">
                <a:avLst/>
              </a:prstGeom>
              <a:blipFill rotWithShape="1">
                <a:blip r:embed="rId2"/>
                <a:stretch>
                  <a:fillRect r="-1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29540" y="152400"/>
            <a:ext cx="4927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可扩展的流层速率控制器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76200" y="588645"/>
            <a:ext cx="4260850" cy="311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04825" y="856615"/>
            <a:ext cx="123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流调度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2950" y="1224915"/>
            <a:ext cx="10421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Tassel</a:t>
            </a:r>
            <a:r>
              <a:rPr lang="zh-CN" altLang="en-US"/>
              <a:t>维护一个全局时钟记录当前系统时间。到了有流要调度的时间时，</a:t>
            </a:r>
            <a:r>
              <a:rPr lang="en-US" altLang="zh-CN"/>
              <a:t>Tassel</a:t>
            </a:r>
            <a:r>
              <a:rPr lang="zh-CN" altLang="en-US"/>
              <a:t>会调度流并抓取多个数据包，数据包根据自适应批处理计算。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4825" y="2033270"/>
            <a:ext cx="123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调度时延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2950" y="2481580"/>
            <a:ext cx="107969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调度时延是执行一次调度决策花费的时间，包括调度流和从主机里抓取数据包。该过程涉及</a:t>
            </a:r>
            <a:r>
              <a:rPr lang="en-US" altLang="zh-CN"/>
              <a:t>PCIe</a:t>
            </a:r>
            <a:r>
              <a:rPr lang="zh-CN" altLang="en-US"/>
              <a:t>在</a:t>
            </a:r>
            <a:r>
              <a:rPr lang="en-US" altLang="zh-CN"/>
              <a:t>RNIC</a:t>
            </a:r>
            <a:r>
              <a:rPr lang="zh-CN" altLang="en-US"/>
              <a:t>和主机之间传输数据，传输时延会影响速率控制器的准确性。因此当系统时间和流调度时间进行比较时，需要在计时器的系统时间里加上调度时延。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4825" y="3612515"/>
            <a:ext cx="2512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自适应批处理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2950" y="4060190"/>
            <a:ext cx="10551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流排序后要从调度的流里抓取多个数据包，让链路尽可能繁忙。抓包太少，下游包发完之后等待；抓包太多，消耗较多时间抓包，阻塞下游包调度。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183130" y="4840605"/>
            <a:ext cx="672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7030A0"/>
                </a:solidFill>
              </a:rPr>
              <a:t>抓包的最好数目是在调度的时延内流被允许发送的包的数目</a:t>
            </a:r>
            <a:endParaRPr lang="zh-CN" altLang="en-US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2489200" y="5501005"/>
                <a:ext cx="6360795" cy="723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𝑁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𝑟𝑎𝑡𝑒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𝑙𝑖𝑚𝑖𝑡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𝑡𝑦𝑝𝑖𝑐𝑎𝑙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𝑝𝑘𝑡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_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𝑠𝑖𝑧𝑒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∗𝑠𝑐ℎ𝑒𝑑𝑢𝑙𝑖𝑛𝑔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𝑙𝑎𝑡𝑒𝑛𝑐𝑦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0" y="5501005"/>
                <a:ext cx="6360795" cy="7232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  <p:bldLst>
      <p:bldP spid="4" grpId="0"/>
      <p:bldP spid="5" grpId="0"/>
      <p:bldP spid="4" grpId="1"/>
      <p:bldP spid="5" grpId="1"/>
      <p:bldP spid="7" grpId="0"/>
      <p:bldP spid="8" grpId="0"/>
      <p:bldP spid="9" grpId="0"/>
      <p:bldP spid="10" grpId="0"/>
      <p:bldP spid="7" grpId="1"/>
      <p:bldP spid="8" grpId="1"/>
      <p:bldP spid="9" grpId="1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29540" y="152400"/>
            <a:ext cx="4927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快速准确的包层速率控制器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76200" y="588645"/>
            <a:ext cx="4260850" cy="311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44475" y="855980"/>
            <a:ext cx="123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时间计算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41020" y="1224280"/>
                <a:ext cx="10957560" cy="809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20000"/>
                  </a:lnSpc>
                </a:pPr>
                <a:r>
                  <a:rPr lang="en-US" altLang="zh-CN"/>
                  <a:t>Tassel</a:t>
                </a:r>
                <a:r>
                  <a:rPr lang="zh-CN" altLang="en-US"/>
                  <a:t>为每一个流维护一个调度时间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𝑓𝑙𝑜𝑤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，这是该流的头部包希望被传输的时间。当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𝑓𝑙𝑜𝑤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被调度，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Tassel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抓取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个包，并计算它们的开始传输时间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𝑝𝑘𝑡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和结束传输时间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𝑝𝑘𝑡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" y="1224280"/>
                <a:ext cx="10957560" cy="8096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10" y="2179320"/>
            <a:ext cx="5324475" cy="781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4475" y="3162300"/>
            <a:ext cx="123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包过滤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41020" y="3583305"/>
                <a:ext cx="10958830" cy="760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20000"/>
                  </a:lnSpc>
                </a:pPr>
                <a:r>
                  <a:rPr lang="zh-CN" altLang="en-US"/>
                  <a:t>保证包层速率控制器处理的包的数目在一定范围内。定义了即时窗口（</a:t>
                </a:r>
                <a:r>
                  <a:rPr lang="en-US" altLang="zh-CN"/>
                  <a:t>imminet window</a:t>
                </a:r>
                <a:r>
                  <a:rPr lang="zh-CN" altLang="en-US"/>
                  <a:t>），为从当前系统时间</a:t>
                </a:r>
                <a:r>
                  <a:rPr lang="en-US" altLang="zh-CN"/>
                  <a:t>T</a:t>
                </a:r>
                <a:r>
                  <a:rPr lang="zh-CN" altLang="en-US"/>
                  <a:t>开始，持续一个调度时延。符合条件的数据包（即时数据包）为开始时间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𝑝𝑘𝑡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落在</a:t>
                </a:r>
                <a:r>
                  <a:rPr lang="zh-CN" altLang="en-US">
                    <a:sym typeface="+mn-ea"/>
                  </a:rPr>
                  <a:t>即时窗口里的数据包。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" y="3583305"/>
                <a:ext cx="10958830" cy="7600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272540" y="4561205"/>
                <a:ext cx="77012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𝑊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𝑠𝑦𝑠𝑡𝑒𝑚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𝑝𝑎𝑐𝑘𝑒𝑡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𝑟𝑎𝑡𝑒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𝑠𝑐ℎ𝑑𝑢𝑙𝑖𝑛𝑔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𝑙𝑎𝑡𝑒𝑛𝑐𝑦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540" y="4561205"/>
                <a:ext cx="7701280" cy="3683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07060" y="5210810"/>
            <a:ext cx="1080325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在包速率为</a:t>
            </a:r>
            <a:r>
              <a:rPr lang="en-US" altLang="zh-CN"/>
              <a:t>110Mpps</a:t>
            </a:r>
            <a:r>
              <a:rPr lang="zh-CN" altLang="en-US"/>
              <a:t>，调度时延为</a:t>
            </a:r>
            <a:r>
              <a:rPr lang="en-US" altLang="zh-CN"/>
              <a:t>1μs</a:t>
            </a:r>
            <a:r>
              <a:rPr lang="zh-CN" altLang="en-US"/>
              <a:t>的</a:t>
            </a:r>
            <a:r>
              <a:rPr lang="en-US" altLang="zh-CN"/>
              <a:t>RNIC</a:t>
            </a:r>
            <a:r>
              <a:rPr lang="zh-CN" altLang="en-US"/>
              <a:t>中，即时数据包的总数目通常只有几百个。因此包层速率控制器只需要处理几百个包就可以。</a:t>
            </a:r>
            <a:r>
              <a:rPr lang="zh-CN" altLang="en-US">
                <a:solidFill>
                  <a:srgbClr val="7030A0"/>
                </a:solidFill>
              </a:rPr>
              <a:t>进行包过滤后，包过滤器给包调度器重新传递调度该流的信息，如果没有数据包丢弃，那流的调度时间根据当前系统时间更新。</a:t>
            </a:r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990205" y="4368165"/>
            <a:ext cx="2586355" cy="7067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RNIC</a:t>
            </a:r>
            <a:r>
              <a:rPr lang="zh-CN" altLang="en-US"/>
              <a:t>中即时数据包的最大值是有界的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1" grpId="0"/>
      <p:bldP spid="18" grpId="1" animBg="1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29540" y="152400"/>
            <a:ext cx="4927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快速准确的包层速率控制器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76200" y="588645"/>
            <a:ext cx="4260850" cy="311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44475" y="855980"/>
            <a:ext cx="1233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包调度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5305" y="1281430"/>
            <a:ext cx="969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包调度是指给多个数据包进行排序，监控全局计时器，在规定时间发送数据包。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35305" y="1755140"/>
            <a:ext cx="983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+mj-lt"/>
              <a:buNone/>
            </a:pPr>
            <a:r>
              <a:rPr lang="zh-CN" altLang="en-US"/>
              <a:t>包调度的实现需维护两个队列：</a:t>
            </a:r>
            <a:r>
              <a:rPr lang="en-US" altLang="zh-CN">
                <a:latin typeface="Calibri" panose="020F0502020204030204" charset="0"/>
              </a:rPr>
              <a:t>①</a:t>
            </a:r>
            <a:r>
              <a:rPr lang="zh-CN" altLang="en-US"/>
              <a:t>按包传输开始时间排序的队列</a:t>
            </a:r>
            <a:r>
              <a:rPr lang="en-US" altLang="zh-CN"/>
              <a:t>     </a:t>
            </a:r>
            <a:r>
              <a:rPr lang="en-US" altLang="zh-CN">
                <a:latin typeface="Calibri" panose="020F0502020204030204" charset="0"/>
              </a:rPr>
              <a:t>②</a:t>
            </a:r>
            <a:r>
              <a:rPr lang="zh-CN" altLang="en-US"/>
              <a:t>按包结束时间排序的队列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6120" y="2197735"/>
            <a:ext cx="983107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/>
              <a:t>资格评估：当前包的开始时间小于系统时间，从</a:t>
            </a:r>
            <a:r>
              <a:rPr lang="en-US" altLang="zh-CN">
                <a:latin typeface="Calibri" panose="020F0502020204030204" charset="0"/>
                <a:sym typeface="+mn-ea"/>
              </a:rPr>
              <a:t>①</a:t>
            </a:r>
            <a:r>
              <a:rPr lang="zh-CN" altLang="en-US">
                <a:latin typeface="Calibri" panose="020F0502020204030204" charset="0"/>
                <a:sym typeface="+mn-ea"/>
              </a:rPr>
              <a:t>中出队，进入</a:t>
            </a:r>
            <a:r>
              <a:rPr lang="en-US" altLang="zh-CN">
                <a:latin typeface="Calibri" panose="020F0502020204030204" charset="0"/>
                <a:sym typeface="+mn-ea"/>
              </a:rPr>
              <a:t>②</a:t>
            </a:r>
            <a:r>
              <a:rPr lang="zh-CN" altLang="en-US">
                <a:latin typeface="Calibri" panose="020F0502020204030204" charset="0"/>
                <a:sym typeface="+mn-ea"/>
              </a:rPr>
              <a:t>。</a:t>
            </a:r>
            <a:endParaRPr lang="en-US" altLang="zh-CN">
              <a:latin typeface="Calibri" panose="020F0502020204030204" charset="0"/>
              <a:sym typeface="+mn-ea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Calibri" panose="020F0502020204030204" charset="0"/>
                <a:sym typeface="+mn-ea"/>
              </a:rPr>
              <a:t>排名排序：当链路空闲时，</a:t>
            </a:r>
            <a:r>
              <a:rPr lang="en-US" altLang="zh-CN">
                <a:latin typeface="Calibri" panose="020F0502020204030204" charset="0"/>
                <a:sym typeface="+mn-ea"/>
              </a:rPr>
              <a:t>②</a:t>
            </a:r>
            <a:r>
              <a:rPr lang="zh-CN" altLang="en-US">
                <a:latin typeface="Calibri" panose="020F0502020204030204" charset="0"/>
                <a:sym typeface="+mn-ea"/>
              </a:rPr>
              <a:t>将头部结束时间早的数据包发送到链路上。</a:t>
            </a:r>
            <a:endParaRPr lang="zh-CN" altLang="en-US">
              <a:latin typeface="Calibri" panose="020F0502020204030204" charset="0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439795" y="3258820"/>
            <a:ext cx="7625715" cy="6686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包调度器通过计算包传输的时间</a:t>
            </a:r>
            <a:r>
              <a:rPr lang="en-US" altLang="zh-CN"/>
              <a:t>pkt_length/line_rate</a:t>
            </a:r>
            <a:r>
              <a:rPr lang="zh-CN" altLang="en-US"/>
              <a:t>来判断链路是否空闲</a:t>
            </a:r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35305" y="5062855"/>
            <a:ext cx="6605270" cy="1217930"/>
            <a:chOff x="954" y="6319"/>
            <a:chExt cx="10402" cy="1918"/>
          </a:xfrm>
        </p:grpSpPr>
        <p:grpSp>
          <p:nvGrpSpPr>
            <p:cNvPr id="46" name="组合 45"/>
            <p:cNvGrpSpPr/>
            <p:nvPr/>
          </p:nvGrpSpPr>
          <p:grpSpPr>
            <a:xfrm>
              <a:off x="954" y="6768"/>
              <a:ext cx="5460" cy="635"/>
              <a:chOff x="1359" y="8031"/>
              <a:chExt cx="5460" cy="635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59" y="8031"/>
                <a:ext cx="5460" cy="63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>
                <a:off x="5343" y="8162"/>
                <a:ext cx="1071" cy="380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3934" y="8162"/>
                <a:ext cx="1071" cy="380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2525" y="8162"/>
                <a:ext cx="1071" cy="380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359" y="8086"/>
                <a:ext cx="115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flow1</a:t>
                </a:r>
                <a:endParaRPr lang="en-US" altLang="zh-CN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954" y="7603"/>
              <a:ext cx="5460" cy="635"/>
              <a:chOff x="1359" y="8031"/>
              <a:chExt cx="5460" cy="635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1359" y="8031"/>
                <a:ext cx="5460" cy="63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>
                <a:off x="5343" y="8162"/>
                <a:ext cx="1071" cy="380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3934" y="8162"/>
                <a:ext cx="1071" cy="380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" name="圆角矩形 56"/>
              <p:cNvSpPr/>
              <p:nvPr/>
            </p:nvSpPr>
            <p:spPr>
              <a:xfrm>
                <a:off x="2525" y="8162"/>
                <a:ext cx="1071" cy="380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1359" y="8086"/>
                <a:ext cx="115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flow2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本框 58"/>
                <p:cNvSpPr txBox="1"/>
                <p:nvPr/>
              </p:nvSpPr>
              <p:spPr>
                <a:xfrm>
                  <a:off x="1756" y="6319"/>
                  <a:ext cx="9600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oMath>
                    </m:oMathPara>
                  </a14:m>
                  <a:endParaRPr lang="en-US" altLang="zh-CN" i="1">
                    <a:highlight>
                      <a:srgbClr val="FFFF00"/>
                    </a:highlight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9" name="文本框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" y="6319"/>
                  <a:ext cx="9600" cy="580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/>
                <p:cNvSpPr txBox="1"/>
                <p:nvPr/>
              </p:nvSpPr>
              <p:spPr>
                <a:xfrm>
                  <a:off x="4152" y="7279"/>
                  <a:ext cx="4807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oMath>
                    </m:oMathPara>
                  </a14:m>
                  <a:endParaRPr lang="en-US" altLang="zh-CN" i="1">
                    <a:highlight>
                      <a:srgbClr val="FFFF00"/>
                    </a:highlight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60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" y="7279"/>
                  <a:ext cx="4807" cy="58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文本框 60"/>
          <p:cNvSpPr txBox="1"/>
          <p:nvPr/>
        </p:nvSpPr>
        <p:spPr>
          <a:xfrm>
            <a:off x="5295900" y="5919470"/>
            <a:ext cx="582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根据上面的两个特征，</a:t>
            </a:r>
            <a:r>
              <a:rPr lang="en-US" altLang="zh-CN"/>
              <a:t>flow1</a:t>
            </a:r>
            <a:r>
              <a:rPr lang="zh-CN" altLang="en-US"/>
              <a:t>的发送速率要小于</a:t>
            </a:r>
            <a:r>
              <a:rPr lang="en-US" altLang="zh-CN"/>
              <a:t>flow2</a:t>
            </a:r>
            <a:r>
              <a:rPr lang="zh-CN" altLang="en-US"/>
              <a:t>的发送速率，因此</a:t>
            </a:r>
            <a:r>
              <a:rPr lang="en-US" altLang="zh-CN"/>
              <a:t>flow2</a:t>
            </a:r>
            <a:r>
              <a:rPr lang="zh-CN" altLang="en-US"/>
              <a:t>的</a:t>
            </a:r>
            <a:r>
              <a:rPr lang="en-US" altLang="zh-CN"/>
              <a:t>VFT</a:t>
            </a:r>
            <a:r>
              <a:rPr lang="zh-CN" altLang="en-US"/>
              <a:t>小，优先传递</a:t>
            </a:r>
            <a:r>
              <a:rPr lang="en-US" altLang="zh-CN"/>
              <a:t>flow2</a:t>
            </a:r>
            <a:r>
              <a:rPr lang="zh-CN" altLang="en-US"/>
              <a:t>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4485640" y="4004310"/>
                <a:ext cx="7554595" cy="1835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/>
                  <a:t>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𝜖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𝐵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  <m:r>
                      <a:rPr lang="en-US" altLang="zh-CN" sz="24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        </a:t>
                </a:r>
                <a:r>
                  <a:rPr lang="en-US" altLang="zh-CN" sz="24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     packet.virFinish = virStart + packet.size / Ri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640" y="4004310"/>
                <a:ext cx="7554595" cy="18357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550545" y="4449445"/>
            <a:ext cx="3370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7030A0"/>
                </a:solidFill>
              </a:rPr>
              <a:t>为什么根据结束时间排序？</a:t>
            </a:r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9" grpId="0"/>
      <p:bldP spid="19" grpId="1"/>
      <p:bldP spid="45" grpId="0"/>
      <p:bldP spid="61" grpId="0"/>
      <p:bldP spid="45" grpId="1"/>
      <p:bldP spid="6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29540" y="152400"/>
            <a:ext cx="49276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硬件架构</a:t>
            </a:r>
            <a:endParaRPr lang="zh-CN" altLang="en-US" sz="200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76200" y="588645"/>
            <a:ext cx="4260850" cy="3111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" y="965835"/>
            <a:ext cx="6986905" cy="35458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058025" y="1358900"/>
            <a:ext cx="5133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流的排序需要高扩展性，但对性能不敏感；</a:t>
            </a:r>
            <a:endParaRPr lang="zh-CN" altLang="en-US"/>
          </a:p>
          <a:p>
            <a:r>
              <a:rPr lang="zh-CN" altLang="en-US"/>
              <a:t>数据包的排序要有高准确性，但不需要高扩展性。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80555" y="885190"/>
            <a:ext cx="1009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需求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07555" y="2161540"/>
            <a:ext cx="1009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实现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28840" y="2655570"/>
            <a:ext cx="4488180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使用改进的</a:t>
            </a:r>
            <a:r>
              <a:rPr lang="en-US" altLang="zh-CN"/>
              <a:t>P-heap</a:t>
            </a:r>
            <a:r>
              <a:rPr lang="zh-CN" altLang="en-US"/>
              <a:t>结构来实现</a:t>
            </a:r>
            <a:r>
              <a:rPr lang="en-US" altLang="zh-CN"/>
              <a:t>QP</a:t>
            </a:r>
            <a:r>
              <a:rPr lang="zh-CN" altLang="en-US"/>
              <a:t>调度的可扩展性。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使用一个快速，高精度的时序轮实现包的资格评估。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使用独立的寄存器来实现包的等级排序。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50545" y="4558030"/>
            <a:ext cx="2392045" cy="10172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使用小顶堆，支持进队和出队流水线化。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139440" y="4558030"/>
            <a:ext cx="1918335" cy="14674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有插槽的循环队列，根据包时间戳计算插槽偏移量。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5254625" y="4558030"/>
            <a:ext cx="1746250" cy="1149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存储和排序即时包的传输结束时间。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6" grpId="0" animBg="1"/>
      <p:bldP spid="16" grpId="1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ags/tag2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ags/tag3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ags/tag4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ags/tag5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ags/tag6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ags/tag7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ags/tag8.xml><?xml version="1.0" encoding="utf-8"?>
<p:tagLst xmlns:p="http://schemas.openxmlformats.org/presentationml/2006/main">
  <p:tag name="KSO_WM_DIAGRAM_VIRTUALLY_FRAME" val="{&quot;height&quot;:180.55,&quot;left&quot;:55.05,&quot;top&quot;:323.6,&quot;width&quot;:848.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2111</Words>
  <Application>WPS 演示</Application>
  <PresentationFormat>宽屏</PresentationFormat>
  <Paragraphs>123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Cambria Math</vt:lpstr>
      <vt:lpstr>Wingdings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6</cp:revision>
  <dcterms:created xsi:type="dcterms:W3CDTF">2023-08-09T12:44:00Z</dcterms:created>
  <dcterms:modified xsi:type="dcterms:W3CDTF">2025-08-05T12:01:01Z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67F2D913D4E5436DAC4A389299F7609E_12</vt:lpwstr>
  </property>
</Properties>
</file>