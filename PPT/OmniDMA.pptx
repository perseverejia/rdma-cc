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16633"/>
          <a:stretch>
            <a:fillRect/>
          </a:stretch>
        </p:blipFill>
        <p:spPr>
          <a:xfrm>
            <a:off x="838200" y="477520"/>
            <a:ext cx="10514965" cy="24231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25850" y="3296285"/>
            <a:ext cx="44704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位图压缩实现的有损</a:t>
            </a:r>
            <a:r>
              <a:rPr lang="en-US" altLang="zh-CN" sz="2400" b="1"/>
              <a:t>RDMA</a:t>
            </a:r>
            <a:r>
              <a:rPr lang="zh-CN" altLang="en-US" sz="2400" b="1"/>
              <a:t>传输</a:t>
            </a:r>
            <a:endParaRPr lang="zh-CN" altLang="en-US" sz="2400" b="1"/>
          </a:p>
        </p:txBody>
      </p:sp>
      <p:sp>
        <p:nvSpPr>
          <p:cNvPr id="7" name="圆角矩形 6"/>
          <p:cNvSpPr/>
          <p:nvPr/>
        </p:nvSpPr>
        <p:spPr>
          <a:xfrm>
            <a:off x="838835" y="4211955"/>
            <a:ext cx="3075305" cy="13906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广域网（</a:t>
            </a:r>
            <a:r>
              <a:rPr lang="en-US" altLang="zh-CN"/>
              <a:t>WAN</a:t>
            </a:r>
            <a:r>
              <a:rPr lang="zh-CN" altLang="en-US"/>
              <a:t>）里</a:t>
            </a:r>
            <a:r>
              <a:rPr lang="en-US" altLang="zh-CN"/>
              <a:t>RTT</a:t>
            </a:r>
            <a:r>
              <a:rPr lang="zh-CN" altLang="en-US"/>
              <a:t>大，导致</a:t>
            </a:r>
            <a:r>
              <a:rPr lang="en-US" altLang="zh-CN"/>
              <a:t>BDP</a:t>
            </a:r>
            <a:r>
              <a:rPr lang="zh-CN" altLang="en-US"/>
              <a:t>大，交换机没有足够的缓存来建立位图追踪链路上数据包。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544060" y="4211955"/>
            <a:ext cx="3034665" cy="13906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r>
              <a:rPr lang="zh-CN" altLang="en-US"/>
              <a:t>）只利用有限的位图会降低吞吐量</a:t>
            </a:r>
            <a:r>
              <a:rPr lang="en-US" altLang="zh-CN"/>
              <a:t> 2</a:t>
            </a:r>
            <a:r>
              <a:rPr lang="zh-CN" altLang="en-US"/>
              <a:t>）把位图上载到</a:t>
            </a:r>
            <a:r>
              <a:rPr lang="en-US" altLang="zh-CN"/>
              <a:t>CPU</a:t>
            </a:r>
            <a:r>
              <a:rPr lang="zh-CN" altLang="en-US"/>
              <a:t>，引入数据传输时延</a:t>
            </a:r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8208645" y="4288790"/>
            <a:ext cx="3006725" cy="13138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设计新的结构</a:t>
            </a:r>
            <a:r>
              <a:rPr lang="en-US" altLang="zh-CN"/>
              <a:t>Adamap</a:t>
            </a:r>
            <a:r>
              <a:rPr lang="zh-CN" altLang="en-US"/>
              <a:t>来进行位图压缩，并使用三级控制结构来提高重传效率。</a:t>
            </a:r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063365" y="4702175"/>
            <a:ext cx="332105" cy="2165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7727950" y="4798695"/>
            <a:ext cx="332105" cy="2165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030095" y="5855970"/>
            <a:ext cx="69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49925" y="5855970"/>
            <a:ext cx="69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69755" y="5855970"/>
            <a:ext cx="692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改进</a:t>
            </a:r>
            <a:endParaRPr lang="zh-CN" altLang="en-US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有损</a:t>
            </a:r>
            <a:r>
              <a:rPr lang="en-US" altLang="zh-CN" sz="2400"/>
              <a:t>RDMA</a:t>
            </a:r>
            <a:r>
              <a:rPr lang="zh-CN" altLang="en-US" sz="2400"/>
              <a:t>存在的问题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77495" y="854075"/>
            <a:ext cx="458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长链路的大</a:t>
            </a:r>
            <a:r>
              <a:rPr lang="en-US" altLang="zh-CN" b="1">
                <a:solidFill>
                  <a:schemeClr val="accent1"/>
                </a:solidFill>
              </a:rPr>
              <a:t>BDP</a:t>
            </a:r>
            <a:r>
              <a:rPr lang="zh-CN" altLang="en-US" b="1">
                <a:solidFill>
                  <a:schemeClr val="accent1"/>
                </a:solidFill>
              </a:rPr>
              <a:t>需要更大的位图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764540" y="1424940"/>
                <a:ext cx="10662920" cy="186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考虑</a:t>
                </a:r>
                <a:r>
                  <a:rPr lang="en-US" altLang="zh-CN"/>
                  <a:t>IRN</a:t>
                </a:r>
                <a:r>
                  <a:rPr lang="zh-CN" altLang="en-US"/>
                  <a:t>机制，每个</a:t>
                </a:r>
                <a:r>
                  <a:rPr lang="en-US" altLang="zh-CN"/>
                  <a:t>QP</a:t>
                </a:r>
                <a:r>
                  <a:rPr lang="zh-CN" altLang="en-US"/>
                  <a:t>需要</a:t>
                </a:r>
                <a:r>
                  <a:rPr lang="en-US" altLang="zh-CN"/>
                  <a:t>5</a:t>
                </a:r>
                <a:r>
                  <a:rPr lang="zh-CN" altLang="en-US"/>
                  <a:t>个</a:t>
                </a:r>
                <a:r>
                  <a:rPr lang="en-US" altLang="zh-CN"/>
                  <a:t>BDP</a:t>
                </a:r>
                <a:r>
                  <a:rPr lang="zh-CN" altLang="en-US"/>
                  <a:t>大小的位图，如果</a:t>
                </a:r>
                <a:r>
                  <a:rPr lang="en-US" altLang="zh-CN"/>
                  <a:t>1000</a:t>
                </a:r>
                <a:r>
                  <a:rPr lang="zh-CN" altLang="en-US"/>
                  <a:t>个</a:t>
                </a:r>
                <a:r>
                  <a:rPr lang="en-US" altLang="zh-CN"/>
                  <a:t>QP</a:t>
                </a:r>
                <a:r>
                  <a:rPr lang="zh-CN" altLang="en-US"/>
                  <a:t>以</a:t>
                </a:r>
                <a:r>
                  <a:rPr lang="en-US" altLang="zh-CN"/>
                  <a:t>100Gbps</a:t>
                </a:r>
                <a:r>
                  <a:rPr lang="zh-CN" altLang="en-US"/>
                  <a:t>速率传输，</a:t>
                </a:r>
                <a:r>
                  <a:rPr lang="en-US" altLang="zh-CN"/>
                  <a:t>RTT=10ms</a:t>
                </a:r>
                <a:r>
                  <a:rPr lang="zh-CN" altLang="en-US"/>
                  <a:t>，那么需要的位图大小为</a:t>
                </a:r>
                <a:r>
                  <a:rPr lang="en-US" altLang="zh-CN"/>
                  <a:t>78MB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r>
                  <a:rPr lang="zh-CN" altLang="en-US" b="1">
                    <a:solidFill>
                      <a:schemeClr val="accent4"/>
                    </a:solidFill>
                  </a:rPr>
                  <a:t>计算：</a:t>
                </a:r>
                <a:r>
                  <a:rPr lang="en-US" altLang="zh-CN" b="1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solidFill>
                          <a:schemeClr val="tx1"/>
                        </a:solidFill>
                        <a:latin typeface="Cambria Math" panose="02040503050406030204" charset="0"/>
                        <a:sym typeface="+mn-ea"/>
                      </a:rPr>
                      <m:t>BDP</m:t>
                    </m:r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charset="0"/>
                        <a:sym typeface="+mn-ea"/>
                      </a:rPr>
                      <m:t> 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100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10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−3</m:t>
                        </m:r>
                      </m:sup>
                    </m:sSup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125𝑀𝐵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，设数据包的大小为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1000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字节（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MTU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1500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字节），那个每个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BDP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含有的数据包的数目为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125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𝑀𝐵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1000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125000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个包，每个包在位图中用一个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bit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表示，所以每个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QP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需要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125000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8</m:t>
                        </m:r>
                      </m:den>
                    </m:f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≈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78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𝐾𝐵</m:t>
                    </m:r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，那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1000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个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QP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需要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78MB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（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Mellanox 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 CX-5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只有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~2MB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SRAM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，还要维护其他资源）</a:t>
                </a:r>
                <a:endParaRPr lang="zh-CN" altLang="en-US">
                  <a:solidFill>
                    <a:schemeClr val="accent6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40" y="1424940"/>
                <a:ext cx="10662920" cy="18662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圆角矩形 9"/>
          <p:cNvSpPr/>
          <p:nvPr/>
        </p:nvSpPr>
        <p:spPr>
          <a:xfrm>
            <a:off x="4182745" y="941705"/>
            <a:ext cx="3532505" cy="4318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应对网络抖动（</a:t>
            </a:r>
            <a:r>
              <a:rPr lang="en-US" altLang="zh-CN"/>
              <a:t>Jitter</a:t>
            </a:r>
            <a:r>
              <a:rPr lang="zh-CN" altLang="en-US"/>
              <a:t>）和丢包</a:t>
            </a:r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721735" y="1212215"/>
            <a:ext cx="387985" cy="212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77495" y="3422015"/>
            <a:ext cx="4585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只用有限的位图会显著降低吞吐量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9950" y="3889375"/>
            <a:ext cx="10640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位图的本质是一个滑动窗口，首位为</a:t>
            </a:r>
            <a:r>
              <a:rPr lang="en-US" altLang="zh-CN"/>
              <a:t>1</a:t>
            </a:r>
            <a:r>
              <a:rPr lang="zh-CN" altLang="en-US"/>
              <a:t>就往后滑一个，首位为</a:t>
            </a:r>
            <a:r>
              <a:rPr lang="en-US" altLang="zh-CN"/>
              <a:t>0</a:t>
            </a:r>
            <a:r>
              <a:rPr lang="zh-CN" altLang="en-US"/>
              <a:t>就卡住。会导致（</a:t>
            </a:r>
            <a:r>
              <a:rPr lang="en-US" altLang="zh-CN"/>
              <a:t>i</a:t>
            </a:r>
            <a:r>
              <a:rPr lang="zh-CN" altLang="en-US"/>
              <a:t>）超出位图范围的数据包状态不能被记录</a:t>
            </a: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ii</a:t>
            </a:r>
            <a:r>
              <a:rPr lang="zh-CN" altLang="en-US"/>
              <a:t>）重传的数据包被限制为位图中</a:t>
            </a:r>
            <a:r>
              <a:rPr lang="en-US" altLang="zh-CN"/>
              <a:t>0</a:t>
            </a:r>
            <a:r>
              <a:rPr lang="zh-CN" altLang="en-US"/>
              <a:t>的数目，导致资源浪费。</a:t>
            </a: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4495800" y="3352165"/>
            <a:ext cx="7014845" cy="4756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实验表明，即使没有丢包，</a:t>
            </a:r>
            <a:r>
              <a:rPr lang="en-US" altLang="zh-CN"/>
              <a:t>BDP</a:t>
            </a:r>
            <a:r>
              <a:rPr lang="zh-CN" altLang="en-US"/>
              <a:t>较大时，有限窗口显著降低吞吐量。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77495" y="4689475"/>
            <a:ext cx="7752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3. </a:t>
            </a:r>
            <a:r>
              <a:rPr lang="zh-CN" altLang="en-US" b="1">
                <a:solidFill>
                  <a:schemeClr val="accent1"/>
                </a:solidFill>
              </a:rPr>
              <a:t>将位图一部分上下文放到额外内存（如主机）有效但增加延迟开销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9160" y="5147310"/>
            <a:ext cx="9646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RNIC</a:t>
            </a:r>
            <a:r>
              <a:rPr lang="zh-CN" altLang="en-US"/>
              <a:t>从主机里获取相应上下文增加延迟开销，而且</a:t>
            </a:r>
            <a:r>
              <a:rPr lang="en-US" altLang="zh-CN"/>
              <a:t>WAN</a:t>
            </a:r>
            <a:r>
              <a:rPr lang="zh-CN" altLang="en-US"/>
              <a:t>里有不同的丢包场景和重传机制，导致</a:t>
            </a:r>
            <a:r>
              <a:rPr lang="zh-CN" altLang="en-US" b="1"/>
              <a:t>丢包上下文不连续</a:t>
            </a:r>
            <a:r>
              <a:rPr lang="zh-CN" altLang="en-US"/>
              <a:t>。</a:t>
            </a:r>
            <a:r>
              <a:rPr lang="en-US" altLang="zh-CN"/>
              <a:t>RNIC</a:t>
            </a:r>
            <a:r>
              <a:rPr lang="zh-CN" altLang="en-US"/>
              <a:t>上直接映射数据包和他映射的上下文占用过多空间，查询的成本和次数不恒定，导致上下文检索成本存在显著波动。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2" grpId="0"/>
      <p:bldP spid="13" grpId="0"/>
      <p:bldP spid="12" grpId="1"/>
      <p:bldP spid="13" grpId="1"/>
      <p:bldP spid="14" grpId="0" animBg="1"/>
      <p:bldP spid="14" grpId="1" animBg="1"/>
      <p:bldP spid="15" grpId="0"/>
      <p:bldP spid="16" grpId="0"/>
      <p:bldP spid="15" grpId="1"/>
      <p:bldP spid="1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问题机遇</a:t>
            </a:r>
            <a:r>
              <a:rPr lang="en-US" altLang="zh-CN" sz="2400"/>
              <a:t>&amp;</a:t>
            </a:r>
            <a:r>
              <a:rPr lang="zh-CN" altLang="en-US" sz="2400"/>
              <a:t>方案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5770" y="854075"/>
            <a:ext cx="6231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网卡缓存不足限制了位图的可扩展性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2195" y="1332230"/>
            <a:ext cx="987996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传统位图需要很多空间，但是放大来看，位图中</a:t>
            </a:r>
            <a:r>
              <a:rPr lang="zh-CN" altLang="en-US" b="1"/>
              <a:t>信息密度较低</a:t>
            </a:r>
            <a:r>
              <a:rPr lang="zh-CN" altLang="en-US"/>
              <a:t>，</a:t>
            </a:r>
            <a:r>
              <a:rPr lang="en-US" altLang="zh-CN"/>
              <a:t>0</a:t>
            </a:r>
            <a:r>
              <a:rPr lang="zh-CN" altLang="en-US"/>
              <a:t>和</a:t>
            </a:r>
            <a:r>
              <a:rPr lang="en-US" altLang="zh-CN"/>
              <a:t>1</a:t>
            </a:r>
            <a:r>
              <a:rPr lang="zh-CN" altLang="en-US"/>
              <a:t>分布不均。这是因为典型的</a:t>
            </a:r>
            <a:r>
              <a:rPr lang="en-US" altLang="zh-CN"/>
              <a:t>AIMD</a:t>
            </a:r>
            <a:r>
              <a:rPr lang="zh-CN" altLang="en-US"/>
              <a:t>政策，发送方经历一系列尾部丢失（连续</a:t>
            </a:r>
            <a:r>
              <a:rPr lang="en-US" altLang="zh-CN"/>
              <a:t>0</a:t>
            </a:r>
            <a:r>
              <a:rPr lang="zh-CN" altLang="en-US"/>
              <a:t>），然后降速，导致一段时间相对无损（连续</a:t>
            </a:r>
            <a:r>
              <a:rPr lang="en-US" altLang="zh-CN"/>
              <a:t>1</a:t>
            </a:r>
            <a:r>
              <a:rPr lang="zh-CN" altLang="en-US"/>
              <a:t>）。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521325" y="2177415"/>
            <a:ext cx="5177790" cy="562610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）使用数据结构</a:t>
            </a:r>
            <a:r>
              <a:rPr lang="en-US" altLang="zh-CN"/>
              <a:t>Adamap</a:t>
            </a:r>
            <a:r>
              <a:rPr lang="zh-CN" altLang="en-US"/>
              <a:t>进行位图上下文</a:t>
            </a:r>
            <a:r>
              <a:rPr lang="zh-CN" altLang="en-US" b="1"/>
              <a:t>压缩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5770" y="2969895"/>
            <a:ext cx="9054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如果将位图一部分存入主机，复杂的上下文访问限制了</a:t>
            </a:r>
            <a:r>
              <a:rPr lang="en-US" altLang="zh-CN" b="1">
                <a:solidFill>
                  <a:schemeClr val="accent1"/>
                </a:solidFill>
              </a:rPr>
              <a:t>RNIC</a:t>
            </a:r>
            <a:r>
              <a:rPr lang="zh-CN" altLang="en-US" b="1">
                <a:solidFill>
                  <a:schemeClr val="accent1"/>
                </a:solidFill>
              </a:rPr>
              <a:t>效率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55700" y="3542030"/>
            <a:ext cx="9879965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i</a:t>
            </a:r>
            <a:r>
              <a:rPr lang="zh-CN" altLang="en-US"/>
              <a:t>）在</a:t>
            </a:r>
            <a:r>
              <a:rPr lang="en-US" altLang="zh-CN"/>
              <a:t>WAN</a:t>
            </a:r>
            <a:r>
              <a:rPr lang="zh-CN" altLang="en-US"/>
              <a:t>环境中，数据包可能被</a:t>
            </a:r>
            <a:r>
              <a:rPr lang="zh-CN" altLang="en-US" b="1"/>
              <a:t>重传多次</a:t>
            </a:r>
            <a:r>
              <a:rPr lang="zh-CN" altLang="en-US"/>
              <a:t>，</a:t>
            </a:r>
            <a:r>
              <a:rPr lang="en-US" altLang="zh-CN"/>
              <a:t>RNIC</a:t>
            </a:r>
            <a:r>
              <a:rPr lang="zh-CN" altLang="en-US"/>
              <a:t>要维护乱序窗口的完整上下文来避免包处理性能降低，这限制了丢包上下文向外部存储器扩展。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（</a:t>
            </a:r>
            <a:r>
              <a:rPr lang="en-US" altLang="zh-CN"/>
              <a:t>ii</a:t>
            </a:r>
            <a:r>
              <a:rPr lang="zh-CN" altLang="en-US"/>
              <a:t>）要处理丢包，</a:t>
            </a:r>
            <a:r>
              <a:rPr lang="en-US" altLang="zh-CN"/>
              <a:t>RNIC</a:t>
            </a:r>
            <a:r>
              <a:rPr lang="zh-CN" altLang="en-US"/>
              <a:t>需要知道从外部内存哪个位置检索相应上下文。为每个包建一个上下文位置的映射表占内存过多，只能</a:t>
            </a:r>
            <a:r>
              <a:rPr lang="zh-CN" altLang="en-US" b="1"/>
              <a:t>按需查询</a:t>
            </a:r>
            <a:r>
              <a:rPr lang="zh-CN" altLang="en-US"/>
              <a:t>（只保存</a:t>
            </a:r>
            <a:r>
              <a:rPr lang="en-US" altLang="zh-CN"/>
              <a:t>base</a:t>
            </a:r>
            <a:r>
              <a:rPr lang="zh-CN" altLang="en-US"/>
              <a:t>和</a:t>
            </a:r>
            <a:r>
              <a:rPr lang="en-US" altLang="zh-CN"/>
              <a:t>offset</a:t>
            </a:r>
            <a:r>
              <a:rPr lang="zh-CN" altLang="en-US"/>
              <a:t>），但是复杂性不是定值，检索成本不稳定。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5382260" y="5431790"/>
            <a:ext cx="5909310" cy="78295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）因为接收数据包的</a:t>
            </a:r>
            <a:r>
              <a:rPr lang="en-US" altLang="zh-CN"/>
              <a:t>PSN</a:t>
            </a:r>
            <a:r>
              <a:rPr lang="zh-CN" altLang="en-US"/>
              <a:t>单调递增，通过</a:t>
            </a:r>
            <a:r>
              <a:rPr lang="zh-CN" altLang="en-US" b="1"/>
              <a:t>解耦</a:t>
            </a:r>
            <a:r>
              <a:rPr lang="zh-CN" altLang="en-US"/>
              <a:t>传输和重传，基于当前接受包的序列号预取丢失包的上下文。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8" grpId="0"/>
      <p:bldP spid="7" grpId="1"/>
      <p:bldP spid="8" grpId="1"/>
      <p:bldP spid="9" grpId="0" animBg="1"/>
      <p:bldP spid="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OmniDMA——</a:t>
            </a:r>
            <a:r>
              <a:rPr lang="zh-CN" altLang="en-US" sz="2400"/>
              <a:t>位图压缩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77215" y="846455"/>
            <a:ext cx="1035558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en-US" altLang="zh-CN"/>
              <a:t>OmniDMA</a:t>
            </a:r>
            <a:r>
              <a:rPr lang="zh-CN" altLang="en-US"/>
              <a:t>核心的数据结构</a:t>
            </a:r>
            <a:r>
              <a:rPr lang="en-US" altLang="zh-CN"/>
              <a:t>Adamap</a:t>
            </a:r>
            <a:r>
              <a:rPr lang="zh-CN" altLang="en-US"/>
              <a:t>（</a:t>
            </a:r>
            <a:r>
              <a:rPr lang="en-US" altLang="zh-CN"/>
              <a:t>Adaptive-bitmap</a:t>
            </a:r>
            <a:r>
              <a:rPr lang="zh-CN" altLang="en-US"/>
              <a:t>）</a:t>
            </a:r>
            <a:r>
              <a:rPr lang="en-US" altLang="zh-CN"/>
              <a:t>,</a:t>
            </a:r>
            <a:r>
              <a:rPr lang="zh-CN" altLang="en-US"/>
              <a:t>他是记录数据包丢失的核心单元。</a:t>
            </a:r>
            <a:r>
              <a:rPr lang="en-US" altLang="zh-CN">
                <a:sym typeface="+mn-ea"/>
              </a:rPr>
              <a:t>Adamap</a:t>
            </a:r>
            <a:r>
              <a:rPr lang="zh-CN" altLang="en-US">
                <a:sym typeface="+mn-ea"/>
              </a:rPr>
              <a:t>可以在主机中被进一步连接成一个链表来支持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无界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上下文窗口。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5770" y="1810385"/>
            <a:ext cx="6365240" cy="18853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1810" y="1810385"/>
            <a:ext cx="2150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1</a:t>
            </a:r>
            <a:r>
              <a:rPr lang="zh-CN" altLang="en-US" b="1">
                <a:solidFill>
                  <a:schemeClr val="accent1"/>
                </a:solidFill>
              </a:rPr>
              <a:t>）</a:t>
            </a:r>
            <a:r>
              <a:rPr lang="en-US" altLang="zh-CN" b="1">
                <a:solidFill>
                  <a:schemeClr val="accent1"/>
                </a:solidFill>
              </a:rPr>
              <a:t>Adamap</a:t>
            </a:r>
            <a:r>
              <a:rPr lang="zh-CN" altLang="en-US" b="1">
                <a:solidFill>
                  <a:schemeClr val="accent1"/>
                </a:solidFill>
              </a:rPr>
              <a:t>格式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7070" y="2380615"/>
            <a:ext cx="4263390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b="1"/>
              <a:t>组成：</a:t>
            </a:r>
            <a:r>
              <a:rPr lang="zh-CN" altLang="en-US"/>
              <a:t>固定长度位图（</a:t>
            </a:r>
            <a:r>
              <a:rPr lang="en-US" altLang="zh-CN"/>
              <a:t>16,32</a:t>
            </a:r>
            <a:r>
              <a:rPr lang="zh-CN" altLang="en-US"/>
              <a:t>或</a:t>
            </a:r>
            <a:r>
              <a:rPr lang="en-US" altLang="zh-CN"/>
              <a:t>64</a:t>
            </a:r>
            <a:r>
              <a:rPr lang="zh-CN" altLang="en-US"/>
              <a:t>）来进行精确丢包记录</a:t>
            </a:r>
            <a:r>
              <a:rPr lang="en-US" altLang="zh-CN"/>
              <a:t>+</a:t>
            </a:r>
            <a:r>
              <a:rPr lang="zh-CN" altLang="en-US"/>
              <a:t>其他元数据。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Wingdings" panose="05000000000000000000" charset="0"/>
              <a:buChar char="Ø"/>
            </a:pPr>
            <a:r>
              <a:rPr lang="zh-CN" altLang="en-US" b="1"/>
              <a:t>元数据：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807085" y="3429000"/>
            <a:ext cx="96615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i</a:t>
            </a:r>
            <a:r>
              <a:rPr lang="zh-CN" altLang="en-US"/>
              <a:t>）</a:t>
            </a:r>
            <a:r>
              <a:rPr lang="en-US" altLang="zh-CN">
                <a:solidFill>
                  <a:srgbClr val="FF0000"/>
                </a:solidFill>
              </a:rPr>
              <a:t>mapid</a:t>
            </a:r>
            <a:r>
              <a:rPr lang="zh-CN" altLang="en-US"/>
              <a:t>：用于自身上下文维护的</a:t>
            </a:r>
            <a:r>
              <a:rPr lang="en-US" altLang="zh-CN"/>
              <a:t>id</a:t>
            </a:r>
            <a:r>
              <a:rPr lang="en-US" altLang="zh-CN">
                <a:solidFill>
                  <a:schemeClr val="tx1"/>
                </a:solidFill>
              </a:rPr>
              <a:t>[4B]</a:t>
            </a:r>
            <a:r>
              <a:rPr lang="en-US" altLang="zh-CN"/>
              <a:t> 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ii</a:t>
            </a:r>
            <a:r>
              <a:rPr lang="zh-CN" altLang="en-US"/>
              <a:t>）</a:t>
            </a:r>
            <a:r>
              <a:rPr lang="en-US" altLang="zh-CN">
                <a:solidFill>
                  <a:srgbClr val="FF0000"/>
                </a:solidFill>
              </a:rPr>
              <a:t>wqeid</a:t>
            </a:r>
            <a:r>
              <a:rPr lang="zh-CN" altLang="en-US"/>
              <a:t>：</a:t>
            </a:r>
            <a:r>
              <a:rPr lang="en-US" altLang="zh-CN"/>
              <a:t>WQE ID</a:t>
            </a:r>
            <a:r>
              <a:rPr lang="zh-CN" altLang="en-US"/>
              <a:t>的左界</a:t>
            </a:r>
            <a:r>
              <a:rPr lang="en-US" altLang="zh-CN">
                <a:solidFill>
                  <a:schemeClr val="tx1"/>
                </a:solidFill>
              </a:rPr>
              <a:t>[4B] </a:t>
            </a:r>
            <a:r>
              <a:rPr lang="en-US" altLang="zh-CN"/>
              <a:t> 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zh-CN" altLang="en-US"/>
              <a:t>（</a:t>
            </a:r>
            <a:r>
              <a:rPr lang="en-US" altLang="zh-CN"/>
              <a:t>iii</a:t>
            </a:r>
            <a:r>
              <a:rPr lang="zh-CN" altLang="en-US"/>
              <a:t>）</a:t>
            </a:r>
            <a:r>
              <a:rPr lang="en-US" altLang="zh-CN">
                <a:solidFill>
                  <a:srgbClr val="FF0000"/>
                </a:solidFill>
              </a:rPr>
              <a:t>weqoffset</a:t>
            </a:r>
            <a:r>
              <a:rPr lang="zh-CN" altLang="en-US"/>
              <a:t>：</a:t>
            </a:r>
            <a:r>
              <a:rPr lang="en-US" altLang="zh-CN"/>
              <a:t>WQE</a:t>
            </a:r>
            <a:r>
              <a:rPr lang="zh-CN" altLang="en-US"/>
              <a:t>内</a:t>
            </a:r>
            <a:r>
              <a:rPr lang="en-US" altLang="zh-CN"/>
              <a:t>PSN</a:t>
            </a:r>
            <a:r>
              <a:rPr lang="zh-CN" altLang="en-US"/>
              <a:t>的偏移量，即当前记录的开头数据包在</a:t>
            </a:r>
            <a:r>
              <a:rPr lang="en-US" altLang="zh-CN"/>
              <a:t>WQE</a:t>
            </a:r>
            <a:r>
              <a:rPr lang="zh-CN" altLang="en-US"/>
              <a:t>里的偏移量</a:t>
            </a:r>
            <a:r>
              <a:rPr lang="en-US" altLang="zh-CN">
                <a:solidFill>
                  <a:schemeClr val="tx1"/>
                </a:solidFill>
              </a:rPr>
              <a:t>[4B] </a:t>
            </a:r>
            <a:endParaRPr lang="en-US" altLang="zh-CN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</a:rPr>
              <a:t>  (iv) </a:t>
            </a:r>
            <a:r>
              <a:rPr lang="en-US" altLang="zh-CN">
                <a:solidFill>
                  <a:srgbClr val="FF0000"/>
                </a:solidFill>
              </a:rPr>
              <a:t>range</a:t>
            </a:r>
            <a:r>
              <a:rPr lang="zh-CN" altLang="en-US">
                <a:solidFill>
                  <a:schemeClr val="tx1"/>
                </a:solidFill>
              </a:rPr>
              <a:t>：该</a:t>
            </a:r>
            <a:r>
              <a:rPr lang="en-US" altLang="zh-CN">
                <a:solidFill>
                  <a:schemeClr val="tx1"/>
                </a:solidFill>
              </a:rPr>
              <a:t>Adamap</a:t>
            </a:r>
            <a:r>
              <a:rPr lang="zh-CN" altLang="en-US">
                <a:solidFill>
                  <a:schemeClr val="tx1"/>
                </a:solidFill>
              </a:rPr>
              <a:t>可表示的总数据包数量，用于指示超过位图容量的连续丢包情况</a:t>
            </a:r>
            <a:r>
              <a:rPr lang="en-US" altLang="zh-CN">
                <a:solidFill>
                  <a:schemeClr val="tx1"/>
                </a:solidFill>
              </a:rPr>
              <a:t>[2B]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517265" y="5431155"/>
            <a:ext cx="8169275" cy="82042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可以理解成为每个</a:t>
            </a:r>
            <a:r>
              <a:rPr lang="en-US" altLang="zh-CN"/>
              <a:t>QP</a:t>
            </a:r>
            <a:r>
              <a:rPr lang="zh-CN" altLang="en-US"/>
              <a:t>设置一个</a:t>
            </a:r>
            <a:r>
              <a:rPr lang="en-US" altLang="zh-CN"/>
              <a:t>mapid</a:t>
            </a:r>
            <a:r>
              <a:rPr lang="zh-CN" altLang="en-US"/>
              <a:t>作为</a:t>
            </a:r>
            <a:r>
              <a:rPr lang="zh-CN" altLang="en-US" b="1"/>
              <a:t>第一级索引</a:t>
            </a:r>
            <a:r>
              <a:rPr lang="zh-CN" altLang="en-US"/>
              <a:t>，每个</a:t>
            </a:r>
            <a:r>
              <a:rPr lang="en-US" altLang="zh-CN"/>
              <a:t>QP</a:t>
            </a:r>
            <a:r>
              <a:rPr lang="zh-CN" altLang="en-US"/>
              <a:t>里面有多个</a:t>
            </a:r>
            <a:r>
              <a:rPr lang="en-US" altLang="zh-CN"/>
              <a:t>WQE</a:t>
            </a:r>
            <a:r>
              <a:rPr lang="zh-CN" altLang="en-US"/>
              <a:t>，那</a:t>
            </a:r>
            <a:r>
              <a:rPr lang="en-US" altLang="zh-CN"/>
              <a:t>wqeid</a:t>
            </a:r>
            <a:r>
              <a:rPr lang="zh-CN" altLang="en-US"/>
              <a:t>是</a:t>
            </a:r>
            <a:r>
              <a:rPr lang="zh-CN" altLang="en-US" b="1"/>
              <a:t>二级索引</a:t>
            </a:r>
            <a:r>
              <a:rPr lang="zh-CN" altLang="en-US"/>
              <a:t>，最后的</a:t>
            </a:r>
            <a:r>
              <a:rPr lang="en-US" altLang="zh-CN"/>
              <a:t>wqeoffset</a:t>
            </a:r>
            <a:r>
              <a:rPr lang="zh-CN" altLang="en-US"/>
              <a:t>就对应着相应包在的</a:t>
            </a:r>
            <a:r>
              <a:rPr lang="en-US" altLang="zh-CN" b="1">
                <a:sym typeface="+mn-ea"/>
              </a:rPr>
              <a:t>Bitmap</a:t>
            </a:r>
            <a:r>
              <a:rPr lang="zh-CN" altLang="en-US" b="1"/>
              <a:t>那一位。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OmniDMA——</a:t>
            </a:r>
            <a:r>
              <a:rPr lang="zh-CN" altLang="en-US" sz="2400"/>
              <a:t>位图压缩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7715" y="519430"/>
            <a:ext cx="6095365" cy="18389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7995" y="984250"/>
            <a:ext cx="3876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2</a:t>
            </a:r>
            <a:r>
              <a:rPr lang="zh-CN" altLang="en-US" b="1">
                <a:solidFill>
                  <a:schemeClr val="accent1"/>
                </a:solidFill>
              </a:rPr>
              <a:t>）</a:t>
            </a:r>
            <a:r>
              <a:rPr lang="en-US" altLang="zh-CN" b="1">
                <a:solidFill>
                  <a:schemeClr val="accent1"/>
                </a:solidFill>
              </a:rPr>
              <a:t>Adamap</a:t>
            </a:r>
            <a:r>
              <a:rPr lang="zh-CN" altLang="en-US" b="1">
                <a:solidFill>
                  <a:schemeClr val="accent1"/>
                </a:solidFill>
              </a:rPr>
              <a:t>丢包记录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0240" y="1475740"/>
            <a:ext cx="2259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包顺序到达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935355" y="1892300"/>
            <a:ext cx="5551170" cy="1364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接收方用到来包的</a:t>
            </a:r>
            <a:r>
              <a:rPr lang="en-US" altLang="zh-CN"/>
              <a:t>PSN</a:t>
            </a:r>
            <a:r>
              <a:rPr lang="zh-CN" altLang="en-US"/>
              <a:t>更新</a:t>
            </a:r>
            <a:r>
              <a:rPr lang="en-US" altLang="zh-CN"/>
              <a:t>ePSN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更新</a:t>
            </a:r>
            <a:r>
              <a:rPr lang="en-US" altLang="zh-CN"/>
              <a:t>Adamap</a:t>
            </a:r>
            <a:r>
              <a:rPr lang="zh-CN" altLang="en-US"/>
              <a:t>左界，接收方用</a:t>
            </a:r>
            <a:r>
              <a:rPr lang="en-US" altLang="zh-CN"/>
              <a:t>WQE ID</a:t>
            </a:r>
            <a:r>
              <a:rPr lang="zh-CN" altLang="en-US"/>
              <a:t>和包自己携带的偏移量来更新</a:t>
            </a:r>
            <a:r>
              <a:rPr lang="en-US" altLang="zh-CN"/>
              <a:t>wqeid</a:t>
            </a:r>
            <a:r>
              <a:rPr lang="zh-CN" altLang="en-US"/>
              <a:t>和</a:t>
            </a:r>
            <a:r>
              <a:rPr lang="en-US" altLang="zh-CN"/>
              <a:t>wqeoffset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650240" y="3244850"/>
            <a:ext cx="2259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包乱序到达</a:t>
            </a:r>
            <a:endParaRPr lang="zh-CN" altLang="en-US" b="1"/>
          </a:p>
        </p:txBody>
      </p:sp>
      <p:sp>
        <p:nvSpPr>
          <p:cNvPr id="13" name="文本框 12"/>
          <p:cNvSpPr txBox="1"/>
          <p:nvPr/>
        </p:nvSpPr>
        <p:spPr>
          <a:xfrm>
            <a:off x="935355" y="3663315"/>
            <a:ext cx="9755505" cy="2581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en-US" altLang="zh-CN"/>
              <a:t>Adamap</a:t>
            </a:r>
            <a:r>
              <a:rPr lang="zh-CN" altLang="en-US"/>
              <a:t>左界固定，</a:t>
            </a:r>
            <a:r>
              <a:rPr lang="en-US" altLang="zh-CN"/>
              <a:t>QP</a:t>
            </a:r>
            <a:r>
              <a:rPr lang="zh-CN" altLang="en-US"/>
              <a:t>进入丢包记录模式。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接收方先获取收到包的偏移量：</a:t>
            </a:r>
            <a:r>
              <a:rPr lang="en-US" altLang="zh-CN"/>
              <a:t>PSN - ePSN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如果偏移量在位图可表示范围内，位图相应位置设为</a:t>
            </a:r>
            <a:r>
              <a:rPr lang="en-US" altLang="zh-CN"/>
              <a:t>1</a:t>
            </a:r>
            <a:r>
              <a:rPr lang="zh-CN" altLang="en-US"/>
              <a:t>，返回</a:t>
            </a:r>
            <a:r>
              <a:rPr lang="zh-CN" altLang="en-US">
                <a:latin typeface="Calibri" panose="020F0502020204030204" charset="0"/>
              </a:rPr>
              <a:t>①</a:t>
            </a:r>
            <a:r>
              <a:rPr lang="zh-CN" altLang="en-US"/>
              <a:t>；如果偏移量大于</a:t>
            </a:r>
            <a:r>
              <a:rPr lang="en-US" altLang="zh-CN"/>
              <a:t>Adamap</a:t>
            </a:r>
            <a:r>
              <a:rPr lang="zh-CN" altLang="en-US"/>
              <a:t>可表示范围，将</a:t>
            </a:r>
            <a:r>
              <a:rPr lang="en-US" altLang="zh-CN"/>
              <a:t>range</a:t>
            </a:r>
            <a:r>
              <a:rPr lang="zh-CN" altLang="en-US"/>
              <a:t>设为偏移量大小，并认为</a:t>
            </a:r>
            <a:r>
              <a:rPr lang="en-US" altLang="zh-CN"/>
              <a:t>Adamap</a:t>
            </a:r>
            <a:r>
              <a:rPr lang="zh-CN" altLang="en-US"/>
              <a:t>已满，执行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④⑤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en-US" altLang="zh-CN"/>
              <a:t>Adamap</a:t>
            </a:r>
            <a:r>
              <a:rPr lang="zh-CN" altLang="en-US"/>
              <a:t>通过</a:t>
            </a:r>
            <a:r>
              <a:rPr lang="en-US" altLang="zh-CN"/>
              <a:t>FIFO</a:t>
            </a:r>
            <a:r>
              <a:rPr lang="zh-CN" altLang="en-US"/>
              <a:t>队列发送给接收方主机，并通过</a:t>
            </a:r>
            <a:r>
              <a:rPr lang="en-US" altLang="zh-CN"/>
              <a:t>NACK</a:t>
            </a:r>
            <a:r>
              <a:rPr lang="zh-CN" altLang="en-US"/>
              <a:t>捎带（</a:t>
            </a:r>
            <a:r>
              <a:rPr lang="en-US" altLang="zh-CN"/>
              <a:t>piggyback</a:t>
            </a:r>
            <a:r>
              <a:rPr lang="zh-CN" altLang="en-US"/>
              <a:t>）</a:t>
            </a:r>
            <a:r>
              <a:rPr lang="en-US" altLang="zh-CN"/>
              <a:t>Adamap</a:t>
            </a:r>
            <a:r>
              <a:rPr lang="zh-CN" altLang="en-US"/>
              <a:t>给发送方。</a:t>
            </a:r>
            <a:endParaRPr lang="zh-CN" altLang="en-US"/>
          </a:p>
          <a:p>
            <a:pPr marL="342900" indent="-3429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/>
              <a:t>接收方重新设置</a:t>
            </a:r>
            <a:r>
              <a:rPr lang="en-US" altLang="zh-CN"/>
              <a:t>Adamap</a:t>
            </a:r>
            <a:r>
              <a:rPr lang="zh-CN" altLang="en-US"/>
              <a:t>，</a:t>
            </a:r>
            <a:r>
              <a:rPr lang="en-US" altLang="zh-CN"/>
              <a:t>range=0</a:t>
            </a:r>
            <a:r>
              <a:rPr lang="zh-CN" altLang="en-US"/>
              <a:t>，</a:t>
            </a:r>
            <a:r>
              <a:rPr lang="en-US" altLang="zh-CN"/>
              <a:t>wqeid</a:t>
            </a:r>
            <a:r>
              <a:rPr lang="zh-CN" altLang="en-US"/>
              <a:t>和</a:t>
            </a:r>
            <a:r>
              <a:rPr lang="en-US" altLang="zh-CN"/>
              <a:t>wqeoffset</a:t>
            </a:r>
            <a:r>
              <a:rPr lang="zh-CN" altLang="en-US"/>
              <a:t>根据新来包元数据更新。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890" y="3232785"/>
            <a:ext cx="6395720" cy="26625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OmniDMA——</a:t>
            </a:r>
            <a:r>
              <a:rPr lang="zh-CN" altLang="en-US" sz="2400"/>
              <a:t>位图压缩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85" y="535305"/>
            <a:ext cx="6043295" cy="1823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7995" y="984250"/>
            <a:ext cx="3876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3</a:t>
            </a:r>
            <a:r>
              <a:rPr lang="zh-CN" altLang="en-US" b="1">
                <a:solidFill>
                  <a:schemeClr val="accent1"/>
                </a:solidFill>
              </a:rPr>
              <a:t>）使用</a:t>
            </a:r>
            <a:r>
              <a:rPr lang="en-US" altLang="zh-CN" b="1">
                <a:solidFill>
                  <a:schemeClr val="accent1"/>
                </a:solidFill>
              </a:rPr>
              <a:t>Adamap</a:t>
            </a:r>
            <a:r>
              <a:rPr lang="zh-CN" altLang="en-US" b="1">
                <a:solidFill>
                  <a:schemeClr val="accent1"/>
                </a:solidFill>
              </a:rPr>
              <a:t>重传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3400" y="1534160"/>
            <a:ext cx="5255260" cy="3080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发送方收到携带</a:t>
            </a:r>
            <a:r>
              <a:rPr lang="en-US" altLang="zh-CN"/>
              <a:t>Adamap</a:t>
            </a:r>
            <a:r>
              <a:rPr lang="zh-CN" altLang="en-US"/>
              <a:t>的</a:t>
            </a:r>
            <a:r>
              <a:rPr lang="en-US" altLang="zh-CN"/>
              <a:t>NACK</a:t>
            </a:r>
            <a:r>
              <a:rPr lang="zh-CN" altLang="en-US"/>
              <a:t>，发送方通过</a:t>
            </a:r>
            <a:r>
              <a:rPr lang="en-US" altLang="zh-CN"/>
              <a:t>wqeid</a:t>
            </a:r>
            <a:r>
              <a:rPr lang="zh-CN" altLang="en-US"/>
              <a:t>定位到对应的</a:t>
            </a:r>
            <a:r>
              <a:rPr lang="en-US" altLang="zh-CN"/>
              <a:t>WQE</a:t>
            </a:r>
            <a:r>
              <a:rPr lang="zh-CN" altLang="en-US"/>
              <a:t>，通过</a:t>
            </a:r>
            <a:r>
              <a:rPr lang="en-US" altLang="zh-CN"/>
              <a:t>wqeoffset</a:t>
            </a:r>
            <a:r>
              <a:rPr lang="zh-CN" altLang="en-US"/>
              <a:t>定位到对应的数据段</a:t>
            </a:r>
            <a:r>
              <a:rPr lang="zh-CN" altLang="en-US" b="1"/>
              <a:t>起始位置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发送方内部维护一个</a:t>
            </a:r>
            <a:r>
              <a:rPr lang="en-US" altLang="zh-CN"/>
              <a:t>mapoffset</a:t>
            </a:r>
            <a:r>
              <a:rPr lang="zh-CN" altLang="en-US"/>
              <a:t>，值初始为</a:t>
            </a:r>
            <a:r>
              <a:rPr lang="en-US" altLang="zh-CN"/>
              <a:t>0</a:t>
            </a:r>
            <a:r>
              <a:rPr lang="zh-CN" altLang="en-US"/>
              <a:t>，下一个包即将生成时</a:t>
            </a:r>
            <a:r>
              <a:rPr lang="en-US" altLang="zh-CN"/>
              <a:t>+1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用</a:t>
            </a:r>
            <a:r>
              <a:rPr lang="en-US" altLang="zh-CN"/>
              <a:t>mapoffset</a:t>
            </a:r>
            <a:r>
              <a:rPr lang="zh-CN" altLang="en-US"/>
              <a:t>作为索引（</a:t>
            </a:r>
            <a:r>
              <a:rPr lang="en-US" altLang="zh-CN"/>
              <a:t>a</a:t>
            </a:r>
            <a:r>
              <a:rPr lang="zh-CN" altLang="en-US"/>
              <a:t>）检查位图相应位为</a:t>
            </a:r>
            <a:r>
              <a:rPr lang="en-US" altLang="zh-CN"/>
              <a:t>0</a:t>
            </a:r>
            <a:r>
              <a:rPr lang="zh-CN" altLang="en-US"/>
              <a:t>就重传该包，相应位为</a:t>
            </a:r>
            <a:r>
              <a:rPr lang="en-US" altLang="zh-CN"/>
              <a:t>1</a:t>
            </a:r>
            <a:r>
              <a:rPr lang="zh-CN" altLang="en-US"/>
              <a:t>就跳过（</a:t>
            </a:r>
            <a:r>
              <a:rPr lang="en-US" altLang="zh-CN"/>
              <a:t>b</a:t>
            </a:r>
            <a:r>
              <a:rPr lang="zh-CN" altLang="en-US"/>
              <a:t>）如果查找范围超过位图表示，但在</a:t>
            </a:r>
            <a:r>
              <a:rPr lang="en-US" altLang="zh-CN"/>
              <a:t>range</a:t>
            </a:r>
            <a:r>
              <a:rPr lang="zh-CN" altLang="en-US"/>
              <a:t>里面，重传该包（</a:t>
            </a:r>
            <a:r>
              <a:rPr lang="en-US" altLang="zh-CN"/>
              <a:t>c</a:t>
            </a:r>
            <a:r>
              <a:rPr lang="zh-CN" altLang="en-US"/>
              <a:t>）查找范围超过</a:t>
            </a:r>
            <a:r>
              <a:rPr lang="en-US" altLang="zh-CN"/>
              <a:t>range</a:t>
            </a:r>
            <a:r>
              <a:rPr lang="zh-CN" altLang="en-US"/>
              <a:t>则重传结束。</a:t>
            </a:r>
            <a:endParaRPr lang="en-US" altLang="zh-CN"/>
          </a:p>
        </p:txBody>
      </p:sp>
      <p:sp>
        <p:nvSpPr>
          <p:cNvPr id="16" name="圆角矩形 15"/>
          <p:cNvSpPr/>
          <p:nvPr/>
        </p:nvSpPr>
        <p:spPr>
          <a:xfrm>
            <a:off x="891540" y="4841240"/>
            <a:ext cx="4439285" cy="8756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重传包发送给接收方时，头部携带</a:t>
            </a:r>
            <a:r>
              <a:rPr lang="en-US" altLang="zh-CN"/>
              <a:t>mapid</a:t>
            </a:r>
            <a:r>
              <a:rPr lang="zh-CN" altLang="en-US"/>
              <a:t>，</a:t>
            </a:r>
            <a:r>
              <a:rPr lang="en-US" altLang="zh-CN"/>
              <a:t>mapoffset</a:t>
            </a:r>
            <a:r>
              <a:rPr lang="zh-CN" altLang="en-US"/>
              <a:t>，</a:t>
            </a:r>
            <a:r>
              <a:rPr lang="en-US" altLang="zh-CN"/>
              <a:t>weqid</a:t>
            </a:r>
            <a:r>
              <a:rPr lang="zh-CN" altLang="en-US"/>
              <a:t>和</a:t>
            </a:r>
            <a:r>
              <a:rPr lang="en-US" altLang="zh-CN"/>
              <a:t>wqeoffset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OmniDMA——</a:t>
            </a:r>
            <a:r>
              <a:rPr lang="zh-CN" altLang="en-US" sz="2400"/>
              <a:t>三级控制路径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67995" y="1317625"/>
                <a:ext cx="10868025" cy="1681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solidFill>
                      <a:schemeClr val="tx1"/>
                    </a:solidFill>
                  </a:rPr>
                  <a:t>一般的传输和重传之间无明显区分，他们共享一个统一控制路径，但是发生</a:t>
                </a:r>
                <a:r>
                  <a:rPr lang="zh-CN" altLang="en-US">
                    <a:solidFill>
                      <a:schemeClr val="accent6"/>
                    </a:solidFill>
                  </a:rPr>
                  <a:t>频率不同。</a:t>
                </a:r>
                <a:endParaRPr lang="zh-CN" altLang="en-US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solidFill>
                      <a:schemeClr val="accent6"/>
                    </a:solidFill>
                  </a:rPr>
                  <a:t>普通数据包</a:t>
                </a:r>
                <a:r>
                  <a:rPr lang="zh-CN" altLang="en-US">
                    <a:solidFill>
                      <a:schemeClr val="tx1"/>
                    </a:solidFill>
                  </a:rPr>
                  <a:t>处理发生速率与</a:t>
                </a:r>
                <a:r>
                  <a:rPr lang="en-US" altLang="zh-CN">
                    <a:solidFill>
                      <a:schemeClr val="tx1"/>
                    </a:solidFill>
                  </a:rPr>
                  <a:t>brandwidth</a:t>
                </a:r>
                <a:r>
                  <a:rPr lang="zh-CN" altLang="en-US">
                    <a:solidFill>
                      <a:schemeClr val="tx1"/>
                    </a:solidFill>
                  </a:rPr>
                  <a:t>成正比；</a:t>
                </a:r>
                <a:r>
                  <a:rPr lang="zh-CN" altLang="en-US">
                    <a:solidFill>
                      <a:schemeClr val="accent6"/>
                    </a:solidFill>
                  </a:rPr>
                  <a:t>第一次重传</a:t>
                </a:r>
                <a:r>
                  <a:rPr lang="zh-CN" altLang="en-US">
                    <a:solidFill>
                      <a:schemeClr val="tx1"/>
                    </a:solidFill>
                  </a:rPr>
                  <a:t>发生速率与</a:t>
                </a:r>
                <a:r>
                  <a:rPr lang="en-US" altLang="zh-CN">
                    <a:sym typeface="+mn-ea"/>
                  </a:rPr>
                  <a:t>brandwidth*lossrate</a:t>
                </a:r>
                <a:r>
                  <a:rPr lang="zh-CN" altLang="en-US">
                    <a:sym typeface="+mn-ea"/>
                  </a:rPr>
                  <a:t>成正比；</a:t>
                </a:r>
                <a:r>
                  <a:rPr lang="zh-CN" altLang="en-US">
                    <a:solidFill>
                      <a:schemeClr val="accent6"/>
                    </a:solidFill>
                    <a:sym typeface="+mn-ea"/>
                  </a:rPr>
                  <a:t>多次重传</a:t>
                </a:r>
                <a:r>
                  <a:rPr lang="zh-CN" altLang="en-US">
                    <a:sym typeface="+mn-ea"/>
                  </a:rPr>
                  <a:t>频率与</a:t>
                </a:r>
                <a14:m>
                  <m:oMath xmlns:m="http://schemas.openxmlformats.org/officeDocument/2006/math">
                    <m:r>
                      <a:rPr lang="en-US" altLang="zh-CN">
                        <a:sym typeface="+mn-ea"/>
                      </a:rPr>
                      <m:t>brandwidth</m:t>
                    </m:r>
                    <m:r>
                      <a:rPr lang="en-US" altLang="zh-CN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>
                            <a:sym typeface="+mn-ea"/>
                          </a:rPr>
                          <m:t>lossrate</m:t>
                        </m:r>
                        <m:r>
                          <a:rPr lang="zh-CN" altLang="en-US">
                            <a:solidFill>
                              <a:schemeClr val="tx1"/>
                            </a:solidFill>
                            <a:sym typeface="+mn-ea"/>
                          </a:rPr>
                          <m:t> 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成正比。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用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RDMA BTH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头部的保留区域的最低两位来区分是上面哪一种，接收方根据这个分类选择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第一级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/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二级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/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三级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的控制路径。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95" y="1317625"/>
                <a:ext cx="10868025" cy="168148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273685" y="924560"/>
            <a:ext cx="3051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区分包重传的三种状态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6860" y="3155315"/>
            <a:ext cx="4970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1</a:t>
            </a:r>
            <a:r>
              <a:rPr lang="zh-CN" altLang="en-US" b="1">
                <a:solidFill>
                  <a:schemeClr val="accent1"/>
                </a:solidFill>
              </a:rPr>
              <a:t>）第一级控制路径（普通数据包）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5020" y="3747135"/>
            <a:ext cx="9073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OmniDMA</a:t>
            </a:r>
            <a:r>
              <a:rPr lang="zh-CN" altLang="en-US"/>
              <a:t>在这一层记录普通包的丢失，发送方顺序发送数据包并维护未完成的</a:t>
            </a:r>
            <a:r>
              <a:rPr lang="en-US" altLang="zh-CN"/>
              <a:t>WQE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接收方的</a:t>
            </a:r>
            <a:r>
              <a:rPr lang="en-US" altLang="zh-CN"/>
              <a:t>RNIC</a:t>
            </a:r>
            <a:r>
              <a:rPr lang="zh-CN" altLang="en-US"/>
              <a:t>为每个</a:t>
            </a:r>
            <a:r>
              <a:rPr lang="en-US" altLang="zh-CN"/>
              <a:t>QP</a:t>
            </a:r>
            <a:r>
              <a:rPr lang="zh-CN" altLang="en-US"/>
              <a:t>维护一个</a:t>
            </a:r>
            <a:r>
              <a:rPr lang="en-US" altLang="zh-CN"/>
              <a:t>Adamap</a:t>
            </a:r>
            <a:r>
              <a:rPr lang="zh-CN" altLang="en-US"/>
              <a:t>，</a:t>
            </a:r>
            <a:r>
              <a:rPr lang="en-US" altLang="zh-CN"/>
              <a:t>Adamap</a:t>
            </a:r>
            <a:r>
              <a:rPr lang="zh-CN" altLang="en-US"/>
              <a:t>大小是固定的，消耗</a:t>
            </a:r>
            <a:r>
              <a:rPr lang="en-US" altLang="zh-CN"/>
              <a:t>SRAM</a:t>
            </a:r>
            <a:r>
              <a:rPr lang="zh-CN" altLang="en-US"/>
              <a:t>是固定的。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95985" y="4465320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7030A0"/>
                </a:solidFill>
              </a:rPr>
              <a:t>过程：</a:t>
            </a:r>
            <a:endParaRPr lang="zh-CN" altLang="en-US" b="1">
              <a:solidFill>
                <a:srgbClr val="7030A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8235" y="4968875"/>
            <a:ext cx="965898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接收方检查</a:t>
            </a:r>
            <a:r>
              <a:rPr lang="en-US" altLang="zh-CN"/>
              <a:t>PSN</a:t>
            </a:r>
            <a:r>
              <a:rPr lang="zh-CN" altLang="en-US"/>
              <a:t>，使用丢包记录算法来记录丢失的数据包片段，当</a:t>
            </a:r>
            <a:r>
              <a:rPr lang="en-US" altLang="zh-CN"/>
              <a:t>Adamap</a:t>
            </a:r>
            <a:r>
              <a:rPr lang="zh-CN" altLang="en-US"/>
              <a:t>满之后，</a:t>
            </a:r>
            <a:r>
              <a:rPr lang="en-US" altLang="zh-CN"/>
              <a:t>Adamap</a:t>
            </a:r>
            <a:r>
              <a:rPr lang="zh-CN" altLang="en-US"/>
              <a:t>被上载到主机，并通过</a:t>
            </a:r>
            <a:r>
              <a:rPr lang="en-US" altLang="zh-CN"/>
              <a:t>NACK</a:t>
            </a:r>
            <a:r>
              <a:rPr lang="zh-CN" altLang="en-US"/>
              <a:t>附带</a:t>
            </a:r>
            <a:r>
              <a:rPr lang="en-US" altLang="zh-CN"/>
              <a:t>Adamap</a:t>
            </a:r>
            <a:r>
              <a:rPr lang="zh-CN" altLang="en-US"/>
              <a:t>传回发送方。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en-US" altLang="zh-CN"/>
              <a:t>Adamap</a:t>
            </a:r>
            <a:r>
              <a:rPr lang="zh-CN" altLang="en-US"/>
              <a:t>之后被重置，继续记录丢包。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6" grpId="1"/>
      <p:bldP spid="8" grpId="1"/>
      <p:bldP spid="9" grpId="1"/>
      <p:bldP spid="1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OmniDMA——</a:t>
            </a:r>
            <a:r>
              <a:rPr lang="zh-CN" altLang="en-US" sz="2400"/>
              <a:t>三层控制路径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76860" y="800100"/>
            <a:ext cx="5243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2</a:t>
            </a:r>
            <a:r>
              <a:rPr lang="zh-CN" altLang="en-US" b="1">
                <a:solidFill>
                  <a:schemeClr val="accent1"/>
                </a:solidFill>
              </a:rPr>
              <a:t>）第二级控制路径（第一次重传包）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3405" y="255905"/>
            <a:ext cx="4795520" cy="48501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92430" y="1296670"/>
            <a:ext cx="1259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数据结构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452120" y="1664970"/>
            <a:ext cx="5280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OmniDMA</a:t>
            </a:r>
            <a:r>
              <a:rPr lang="zh-CN" altLang="en-US"/>
              <a:t>给主机内存发送</a:t>
            </a:r>
            <a:r>
              <a:rPr lang="en-US" altLang="zh-CN"/>
              <a:t>Adamap</a:t>
            </a:r>
            <a:r>
              <a:rPr lang="zh-CN" altLang="en-US"/>
              <a:t>，并把相同</a:t>
            </a:r>
            <a:r>
              <a:rPr lang="en-US" altLang="zh-CN"/>
              <a:t>QP</a:t>
            </a:r>
            <a:r>
              <a:rPr lang="zh-CN" altLang="en-US"/>
              <a:t>的多个</a:t>
            </a:r>
            <a:r>
              <a:rPr lang="en-US" altLang="zh-CN"/>
              <a:t>Adamap</a:t>
            </a:r>
            <a:r>
              <a:rPr lang="zh-CN" altLang="en-US"/>
              <a:t>组织到一个</a:t>
            </a:r>
            <a:r>
              <a:rPr lang="en-US" altLang="zh-CN"/>
              <a:t>Host</a:t>
            </a:r>
            <a:r>
              <a:rPr lang="zh-CN" altLang="en-US"/>
              <a:t>里的链表中。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95935" y="2310130"/>
            <a:ext cx="5599430" cy="83883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r>
              <a:rPr lang="zh-CN" altLang="en-US"/>
              <a:t>优势：（</a:t>
            </a:r>
            <a:r>
              <a:rPr lang="en-US" altLang="zh-CN"/>
              <a:t>1</a:t>
            </a:r>
            <a:r>
              <a:rPr lang="zh-CN" altLang="en-US"/>
              <a:t>）链表的可扩展性与</a:t>
            </a:r>
            <a:r>
              <a:rPr lang="en-US" altLang="zh-CN"/>
              <a:t>“</a:t>
            </a:r>
            <a:r>
              <a:rPr lang="zh-CN" altLang="en-US"/>
              <a:t>无界窗口</a:t>
            </a:r>
            <a:r>
              <a:rPr lang="en-US" altLang="zh-CN"/>
              <a:t>”</a:t>
            </a:r>
            <a:r>
              <a:rPr lang="zh-CN" altLang="en-US"/>
              <a:t>相吻合</a:t>
            </a:r>
            <a:endParaRPr lang="zh-CN" altLang="en-US"/>
          </a:p>
          <a:p>
            <a:pPr algn="ctr">
              <a:lnSpc>
                <a:spcPct val="120000"/>
              </a:lnSpc>
            </a:pPr>
            <a:r>
              <a:rPr lang="en-US" altLang="zh-CN"/>
              <a:t>     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）链表的顺序特征与重传包到达的顺序匹配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1485" y="3307080"/>
            <a:ext cx="5266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为了最小化上下文开销，</a:t>
            </a:r>
            <a:r>
              <a:rPr lang="en-US" altLang="zh-CN"/>
              <a:t>RNIC</a:t>
            </a:r>
            <a:r>
              <a:rPr lang="zh-CN" altLang="en-US"/>
              <a:t>暂存链表的头部和尾部，其他节点在主机中。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95935" y="3991610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7030A0"/>
                </a:solidFill>
              </a:rPr>
              <a:t>过程：</a:t>
            </a:r>
            <a:endParaRPr lang="zh-CN" altLang="en-US" b="1">
              <a:solidFill>
                <a:srgbClr val="7030A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8315" y="4399280"/>
            <a:ext cx="55848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altLang="en-US"/>
              <a:t>发送方收到有</a:t>
            </a:r>
            <a:r>
              <a:rPr lang="en-US" altLang="zh-CN"/>
              <a:t>Adamap</a:t>
            </a:r>
            <a:r>
              <a:rPr lang="zh-CN" altLang="en-US"/>
              <a:t>的</a:t>
            </a:r>
            <a:r>
              <a:rPr lang="en-US" altLang="zh-CN"/>
              <a:t>NACK</a:t>
            </a:r>
            <a:r>
              <a:rPr lang="zh-CN" altLang="en-US"/>
              <a:t>，执行第一次重传并把</a:t>
            </a:r>
            <a:r>
              <a:rPr lang="en-US" altLang="zh-CN"/>
              <a:t>mapid</a:t>
            </a:r>
            <a:r>
              <a:rPr lang="zh-CN" altLang="en-US"/>
              <a:t>和</a:t>
            </a:r>
            <a:r>
              <a:rPr lang="en-US" altLang="zh-CN"/>
              <a:t>mapoffset</a:t>
            </a:r>
            <a:r>
              <a:rPr lang="zh-CN" altLang="en-US"/>
              <a:t>嵌入到重传包中。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接收方通过</a:t>
            </a:r>
            <a:r>
              <a:rPr lang="en-US" altLang="zh-CN"/>
              <a:t>mapid</a:t>
            </a:r>
            <a:r>
              <a:rPr lang="zh-CN" altLang="en-US"/>
              <a:t>找到对应的链表，用</a:t>
            </a:r>
            <a:r>
              <a:rPr lang="en-US" altLang="zh-CN"/>
              <a:t>mapoffset</a:t>
            </a:r>
            <a:r>
              <a:rPr lang="zh-CN" altLang="en-US"/>
              <a:t>找到对应的索引。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99415" y="5676900"/>
            <a:ext cx="5786120" cy="9188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收到的数据包：（</a:t>
            </a:r>
            <a:r>
              <a:rPr lang="en-US" altLang="zh-CN"/>
              <a:t>1</a:t>
            </a:r>
            <a:r>
              <a:rPr lang="zh-CN" altLang="en-US"/>
              <a:t>）在位图可表示的范围内，将相应位置</a:t>
            </a:r>
            <a:r>
              <a:rPr lang="en-US" altLang="zh-CN"/>
              <a:t>1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）超过了可表示范围，但在</a:t>
            </a:r>
            <a:r>
              <a:rPr lang="en-US" altLang="zh-CN"/>
              <a:t>range</a:t>
            </a:r>
            <a:r>
              <a:rPr lang="zh-CN" altLang="en-US"/>
              <a:t>里，将基于范围的丢包改为精确逐包表示。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791960" y="5184140"/>
            <a:ext cx="50590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一个</a:t>
            </a:r>
            <a:r>
              <a:rPr lang="en-US" altLang="zh-CN"/>
              <a:t>Adamap</a:t>
            </a:r>
            <a:r>
              <a:rPr lang="zh-CN" altLang="en-US"/>
              <a:t>副本上传主机，存入</a:t>
            </a:r>
            <a:r>
              <a:rPr lang="en-US" altLang="zh-CN"/>
              <a:t>lookup</a:t>
            </a:r>
            <a:r>
              <a:rPr lang="zh-CN" altLang="en-US"/>
              <a:t>表中。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当前的</a:t>
            </a:r>
            <a:r>
              <a:rPr lang="en-US" altLang="zh-CN"/>
              <a:t>Adamap</a:t>
            </a:r>
            <a:r>
              <a:rPr lang="zh-CN" altLang="en-US"/>
              <a:t>根据收到包的</a:t>
            </a:r>
            <a:r>
              <a:rPr lang="en-US" altLang="zh-CN"/>
              <a:t>PSN</a:t>
            </a:r>
            <a:r>
              <a:rPr lang="zh-CN" altLang="en-US"/>
              <a:t>修改他的</a:t>
            </a:r>
            <a:r>
              <a:rPr lang="en-US" altLang="zh-CN"/>
              <a:t>range</a:t>
            </a:r>
            <a:r>
              <a:rPr lang="zh-CN" altLang="en-US"/>
              <a:t>范围，</a:t>
            </a:r>
            <a:r>
              <a:rPr lang="en-US" altLang="zh-CN"/>
              <a:t>range=</a:t>
            </a:r>
            <a:r>
              <a:rPr lang="zh-CN" altLang="en-US"/>
              <a:t>当前包偏移量</a:t>
            </a:r>
            <a:r>
              <a:rPr lang="en-US" altLang="zh-CN"/>
              <a:t>-</a:t>
            </a:r>
            <a:r>
              <a:rPr lang="zh-CN" altLang="en-US"/>
              <a:t>头部偏移量。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副本的</a:t>
            </a:r>
            <a:r>
              <a:rPr lang="en-US" altLang="zh-CN"/>
              <a:t>wqeid</a:t>
            </a:r>
            <a:r>
              <a:rPr lang="zh-CN" altLang="en-US"/>
              <a:t>和</a:t>
            </a:r>
            <a:r>
              <a:rPr lang="en-US" altLang="zh-CN"/>
              <a:t>wqeoffset</a:t>
            </a:r>
            <a:r>
              <a:rPr lang="zh-CN" altLang="en-US"/>
              <a:t>会设为当前包的值，除了当前包，其他全是</a:t>
            </a:r>
            <a:r>
              <a:rPr lang="en-US" altLang="zh-CN"/>
              <a:t>0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 animBg="1"/>
      <p:bldP spid="13" grpId="1"/>
      <p:bldP spid="14" grpId="1"/>
      <p:bldP spid="16" grpId="1" animBg="1"/>
      <p:bldP spid="17" grpId="0"/>
      <p:bldP spid="1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76860" y="122555"/>
            <a:ext cx="4219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OmniDMA——</a:t>
            </a:r>
            <a:r>
              <a:rPr lang="zh-CN" altLang="en-US" sz="2400"/>
              <a:t>三层控制路径</a:t>
            </a:r>
            <a:endParaRPr lang="zh-CN" altLang="en-US" sz="2400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72390" y="648970"/>
            <a:ext cx="5258435" cy="2222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76860" y="834390"/>
            <a:ext cx="5243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2</a:t>
            </a:r>
            <a:r>
              <a:rPr lang="zh-CN" altLang="en-US" b="1">
                <a:solidFill>
                  <a:schemeClr val="accent1"/>
                </a:solidFill>
              </a:rPr>
              <a:t>）第三级控制路径（多次重传包）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3405" y="255905"/>
            <a:ext cx="4795520" cy="48501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6245" y="2350770"/>
            <a:ext cx="1259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数据结构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495935" y="2773680"/>
            <a:ext cx="52806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采用共享的</a:t>
            </a:r>
            <a:r>
              <a:rPr lang="en-US" altLang="zh-CN"/>
              <a:t>lookup table</a:t>
            </a:r>
            <a:r>
              <a:rPr lang="zh-CN" altLang="en-US"/>
              <a:t>来管理高阶丢失上下文，</a:t>
            </a:r>
            <a:r>
              <a:rPr lang="en-US" altLang="zh-CN"/>
              <a:t>lookup table</a:t>
            </a:r>
            <a:r>
              <a:rPr lang="zh-CN" altLang="en-US"/>
              <a:t>在</a:t>
            </a:r>
            <a:r>
              <a:rPr lang="zh-CN" altLang="en-US">
                <a:solidFill>
                  <a:schemeClr val="accent1"/>
                </a:solidFill>
              </a:rPr>
              <a:t>主机内存中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有</a:t>
            </a:r>
            <a:r>
              <a:rPr lang="en-US" altLang="zh-CN"/>
              <a:t>RNIC</a:t>
            </a:r>
            <a:r>
              <a:rPr lang="zh-CN" altLang="en-US"/>
              <a:t>维护其基地址，在二级控制路径里未被填满的</a:t>
            </a:r>
            <a:r>
              <a:rPr lang="en-US" altLang="zh-CN">
                <a:solidFill>
                  <a:schemeClr val="accent1"/>
                </a:solidFill>
              </a:rPr>
              <a:t>Adamap</a:t>
            </a:r>
            <a:r>
              <a:rPr lang="zh-CN" altLang="en-US">
                <a:solidFill>
                  <a:schemeClr val="accent1"/>
                </a:solidFill>
              </a:rPr>
              <a:t>不会被释放，存入</a:t>
            </a:r>
            <a:r>
              <a:rPr lang="en-US" altLang="zh-CN">
                <a:solidFill>
                  <a:schemeClr val="accent1"/>
                </a:solidFill>
                <a:sym typeface="+mn-ea"/>
              </a:rPr>
              <a:t>lookup table</a:t>
            </a:r>
            <a:r>
              <a:rPr lang="zh-CN" altLang="en-US">
                <a:sym typeface="+mn-ea"/>
              </a:rPr>
              <a:t>中。</a:t>
            </a:r>
            <a:endParaRPr lang="zh-CN" altLang="en-US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对应的</a:t>
            </a:r>
            <a:r>
              <a:rPr lang="zh-CN" altLang="en-US">
                <a:solidFill>
                  <a:schemeClr val="accent1"/>
                </a:solidFill>
              </a:rPr>
              <a:t>表键值</a:t>
            </a:r>
            <a:r>
              <a:rPr lang="zh-CN" altLang="en-US"/>
              <a:t>由</a:t>
            </a:r>
            <a:r>
              <a:rPr lang="en-US" altLang="zh-CN"/>
              <a:t>Adamap</a:t>
            </a:r>
            <a:r>
              <a:rPr lang="zh-CN" altLang="en-US"/>
              <a:t>相对于起始偏移量得出。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95935" y="4460875"/>
            <a:ext cx="1081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7030A0"/>
                </a:solidFill>
              </a:rPr>
              <a:t>过程</a:t>
            </a:r>
            <a:endParaRPr lang="zh-CN" altLang="en-US" b="1">
              <a:solidFill>
                <a:srgbClr val="7030A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935" y="1342390"/>
            <a:ext cx="5280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问题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5235" y="1376680"/>
            <a:ext cx="6019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单独追踪每个层级，无限层级调度，复杂度高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混合层级，访问链表找重传包时间不确定，延迟不可控。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2765" y="5001895"/>
            <a:ext cx="79330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ea"/>
              <a:buAutoNum type="circleNumDbPlain"/>
            </a:pPr>
            <a:r>
              <a:rPr lang="zh-CN" altLang="en-US"/>
              <a:t>如果第一次重传包丢失，他的</a:t>
            </a:r>
            <a:r>
              <a:rPr lang="en-US" altLang="zh-CN"/>
              <a:t>Adamap</a:t>
            </a:r>
            <a:r>
              <a:rPr lang="zh-CN" altLang="en-US"/>
              <a:t>被存在</a:t>
            </a:r>
            <a:r>
              <a:rPr lang="en-US" altLang="zh-CN"/>
              <a:t>lookup</a:t>
            </a:r>
            <a:r>
              <a:rPr lang="zh-CN" altLang="en-US"/>
              <a:t>表中并向发送方返回带有</a:t>
            </a:r>
            <a:r>
              <a:rPr lang="en-US" altLang="zh-CN"/>
              <a:t>lookup</a:t>
            </a:r>
            <a:r>
              <a:rPr lang="zh-CN" altLang="en-US"/>
              <a:t>表键值的</a:t>
            </a:r>
            <a:r>
              <a:rPr lang="en-US" altLang="zh-CN"/>
              <a:t>NACK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zh-CN" altLang="en-US"/>
              <a:t>接收方收到高阶数据包，利用索引找相应的</a:t>
            </a:r>
            <a:r>
              <a:rPr lang="en-US" altLang="zh-CN"/>
              <a:t>Adamap</a:t>
            </a:r>
            <a:r>
              <a:rPr lang="zh-CN" altLang="en-US"/>
              <a:t>，如果不在</a:t>
            </a:r>
            <a:r>
              <a:rPr lang="en-US" altLang="zh-CN"/>
              <a:t>RNIC</a:t>
            </a:r>
            <a:r>
              <a:rPr lang="zh-CN" altLang="en-US"/>
              <a:t>上，需要从主机里</a:t>
            </a:r>
            <a:r>
              <a:rPr lang="en-US" altLang="zh-CN"/>
              <a:t>DMA</a:t>
            </a:r>
            <a:r>
              <a:rPr lang="zh-CN" altLang="en-US"/>
              <a:t>相应的</a:t>
            </a:r>
            <a:r>
              <a:rPr lang="en-US" altLang="zh-CN"/>
              <a:t>Adamap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r>
              <a:rPr lang="en-US" altLang="zh-CN"/>
              <a:t>OmniDMA</a:t>
            </a:r>
            <a:r>
              <a:rPr lang="zh-CN" altLang="en-US"/>
              <a:t>会定期查询</a:t>
            </a:r>
            <a:r>
              <a:rPr lang="en-US" altLang="zh-CN"/>
              <a:t>lookup table</a:t>
            </a:r>
            <a:r>
              <a:rPr lang="zh-CN" altLang="en-US"/>
              <a:t>，在超时重传情况下生成</a:t>
            </a:r>
            <a:r>
              <a:rPr lang="en-US" altLang="zh-CN"/>
              <a:t>NACK</a:t>
            </a:r>
            <a:r>
              <a:rPr lang="zh-CN" altLang="en-US"/>
              <a:t>响应。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9" grpId="1"/>
      <p:bldP spid="10" grpId="1"/>
      <p:bldP spid="13" grpId="0"/>
      <p:bldP spid="7" grpId="0"/>
      <p:bldP spid="13" grpId="1"/>
      <p:bldP spid="7" grpId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3332</Words>
  <Application>WPS 演示</Application>
  <PresentationFormat>宽屏</PresentationFormat>
  <Paragraphs>156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Cambria Math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10</cp:revision>
  <dcterms:created xsi:type="dcterms:W3CDTF">2023-08-09T12:44:00Z</dcterms:created>
  <dcterms:modified xsi:type="dcterms:W3CDTF">2025-09-19T11:40:47Z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